
<file path=[Content_Types].xml><?xml version="1.0" encoding="utf-8"?>
<Types xmlns="http://schemas.openxmlformats.org/package/2006/content-types">
  <Default ContentType="application/xml" Extension="xml"/>
  <Default ContentType="image/png" Extension="png"/>
  <Default ContentType="application/vnd.openxmlformats-package.relationships+xml" Extension="rels"/>
  <Override ContentType="application/vnd.openxmlformats-officedocument.presentationml.notesSlide+xml" PartName="/ppt/notesSlides/notesSlide37.xml"/>
  <Override ContentType="application/vnd.openxmlformats-officedocument.presentationml.notesSlide+xml" PartName="/ppt/notesSlides/notesSlide29.xml"/>
  <Override ContentType="application/vnd.openxmlformats-officedocument.presentationml.notesSlide+xml" PartName="/ppt/notesSlides/notesSlide32.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28.xml"/>
  <Override ContentType="application/vnd.openxmlformats-officedocument.presentationml.notesSlide+xml" PartName="/ppt/notesSlides/notesSlide33.xml"/>
  <Override ContentType="application/vnd.openxmlformats-officedocument.presentationml.notesSlide+xml" PartName="/ppt/notesSlides/notesSlide15.xml"/>
  <Override ContentType="application/vnd.openxmlformats-officedocument.presentationml.notesSlide+xml" PartName="/ppt/notesSlides/notesSlide11.xml"/>
  <Override ContentType="application/vnd.openxmlformats-officedocument.presentationml.notesSlide+xml" PartName="/ppt/notesSlides/notesSlide24.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17.xml"/>
  <Override ContentType="application/vnd.openxmlformats-officedocument.presentationml.notesSlide+xml" PartName="/ppt/notesSlides/notesSlide16.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34.xml"/>
  <Override ContentType="application/vnd.openxmlformats-officedocument.presentationml.notesSlide+xml" PartName="/ppt/notesSlides/notesSlide38.xml"/>
  <Override ContentType="application/vnd.openxmlformats-officedocument.presentationml.notesSlide+xml" PartName="/ppt/notesSlides/notesSlide4.xml"/>
  <Override ContentType="application/vnd.openxmlformats-officedocument.presentationml.notesSlide+xml" PartName="/ppt/notesSlides/notesSlide25.xml"/>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0.xml"/>
  <Override ContentType="application/vnd.openxmlformats-officedocument.presentationml.notesSlide+xml" PartName="/ppt/notesSlides/notesSlide22.xml"/>
  <Override ContentType="application/vnd.openxmlformats-officedocument.presentationml.notesSlide+xml" PartName="/ppt/notesSlides/notesSlide7.xml"/>
  <Override ContentType="application/vnd.openxmlformats-officedocument.presentationml.notesSlide+xml" PartName="/ppt/notesSlides/notesSlide26.xml"/>
  <Override ContentType="application/vnd.openxmlformats-officedocument.presentationml.notesSlide+xml" PartName="/ppt/notesSlides/notesSlide35.xml"/>
  <Override ContentType="application/vnd.openxmlformats-officedocument.presentationml.notesSlide+xml" PartName="/ppt/notesSlides/notesSlide5.xml"/>
  <Override ContentType="application/vnd.openxmlformats-officedocument.presentationml.notesSlide+xml" PartName="/ppt/notesSlides/notesSlide39.xml"/>
  <Override ContentType="application/vnd.openxmlformats-officedocument.presentationml.notesSlide+xml" PartName="/ppt/notesSlides/notesSlide31.xml"/>
  <Override ContentType="application/vnd.openxmlformats-officedocument.presentationml.notesSlide+xml" PartName="/ppt/notesSlides/notesSlide36.xml"/>
  <Override ContentType="application/vnd.openxmlformats-officedocument.presentationml.notesSlide+xml" PartName="/ppt/notesSlides/notesSlide19.xml"/>
  <Override ContentType="application/vnd.openxmlformats-officedocument.presentationml.notesSlide+xml" PartName="/ppt/notesSlides/notesSlide27.xml"/>
  <Override ContentType="application/vnd.openxmlformats-officedocument.presentationml.notesSlide+xml" PartName="/ppt/notesSlides/notesSlide40.xml"/>
  <Override ContentType="application/vnd.openxmlformats-officedocument.presentationml.notesSlide+xml" PartName="/ppt/notesSlides/notesSlide14.xml"/>
  <Override ContentType="application/vnd.openxmlformats-officedocument.presentationml.notesSlide+xml" PartName="/ppt/notesSlides/notesSlide23.xml"/>
  <Override ContentType="application/vnd.openxmlformats-officedocument.presentationml.notesSlide+xml" PartName="/ppt/notesSlides/notesSlide2.xml"/>
  <Override ContentType="application/vnd.openxmlformats-officedocument.presentationml.notesSlide+xml" PartName="/ppt/notesSlides/notesSlide10.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30.xml"/>
  <Override ContentType="application/vnd.openxmlformats-officedocument.presentationml.slide+xml" PartName="/ppt/slides/slide22.xml"/>
  <Override ContentType="application/vnd.openxmlformats-officedocument.presentationml.slide+xml" PartName="/ppt/slides/slide35.xml"/>
  <Override ContentType="application/vnd.openxmlformats-officedocument.presentationml.slide+xml" PartName="/ppt/slides/slide26.xml"/>
  <Override ContentType="application/vnd.openxmlformats-officedocument.presentationml.slide+xml" PartName="/ppt/slides/slide19.xml"/>
  <Override ContentType="application/vnd.openxmlformats-officedocument.presentationml.slide+xml" PartName="/ppt/slides/slide39.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25.xml"/>
  <Override ContentType="application/vnd.openxmlformats-officedocument.presentationml.slide+xml" PartName="/ppt/slides/slide34.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33.xml"/>
  <Override ContentType="application/vnd.openxmlformats-officedocument.presentationml.slide+xml" PartName="/ppt/slides/slide38.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29.xml"/>
  <Override ContentType="application/vnd.openxmlformats-officedocument.presentationml.slide+xml" PartName="/ppt/slides/slide24.xml"/>
  <Override ContentType="application/vnd.openxmlformats-officedocument.presentationml.slide+xml" PartName="/ppt/slides/slide11.xml"/>
  <Override ContentType="application/vnd.openxmlformats-officedocument.presentationml.slide+xml" PartName="/ppt/slides/slide32.xml"/>
  <Override ContentType="application/vnd.openxmlformats-officedocument.presentationml.slide+xml" PartName="/ppt/slides/slide37.xml"/>
  <Override ContentType="application/vnd.openxmlformats-officedocument.presentationml.slide+xml" PartName="/ppt/slides/slide1.xml"/>
  <Override ContentType="application/vnd.openxmlformats-officedocument.presentationml.slide+xml" PartName="/ppt/slides/slide28.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36.xml"/>
  <Override ContentType="application/vnd.openxmlformats-officedocument.presentationml.slide+xml" PartName="/ppt/slides/slide31.xml"/>
  <Override ContentType="application/vnd.openxmlformats-officedocument.presentationml.slide+xml" PartName="/ppt/slides/slide23.xml"/>
  <Override ContentType="application/vnd.openxmlformats-officedocument.presentationml.slide+xml" PartName="/ppt/slides/slide27.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4.xml"/>
  <Override ContentType="application/vnd.openxmlformats-officedocument.presentationml.slide+xml" PartName="/ppt/slides/slide40.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strictFirstAndLastChars="0" saveSubsetFonts="1">
  <p:sldMasterIdLst>
    <p:sldMasterId id="2147483659" r:id="rId4"/>
  </p:sldMasterIdLst>
  <p:notesMasterIdLst>
    <p:notesMasterId r:id="rId5"/>
  </p:notes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 id="270" r:id="rId20"/>
    <p:sldId id="271" r:id="rId21"/>
    <p:sldId id="272" r:id="rId22"/>
    <p:sldId id="273" r:id="rId23"/>
    <p:sldId id="274" r:id="rId24"/>
    <p:sldId id="275" r:id="rId25"/>
    <p:sldId id="276" r:id="rId26"/>
    <p:sldId id="277" r:id="rId27"/>
    <p:sldId id="278" r:id="rId28"/>
    <p:sldId id="279" r:id="rId29"/>
    <p:sldId id="280" r:id="rId30"/>
    <p:sldId id="281" r:id="rId31"/>
    <p:sldId id="282" r:id="rId32"/>
    <p:sldId id="283" r:id="rId33"/>
    <p:sldId id="284" r:id="rId34"/>
    <p:sldId id="285" r:id="rId35"/>
    <p:sldId id="286" r:id="rId36"/>
    <p:sldId id="287" r:id="rId37"/>
    <p:sldId id="288" r:id="rId38"/>
    <p:sldId id="289" r:id="rId39"/>
    <p:sldId id="290" r:id="rId40"/>
    <p:sldId id="291" r:id="rId41"/>
    <p:sldId id="292" r:id="rId42"/>
    <p:sldId id="293" r:id="rId43"/>
    <p:sldId id="294" r:id="rId44"/>
    <p:sldId id="295" r:id="rId45"/>
  </p:sldIdLst>
  <p:sldSz cy="5143500" cx="9144000"/>
  <p:notesSz cx="6858000" cy="9144000"/>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standalone="yes"?><Relationships xmlns="http://schemas.openxmlformats.org/package/2006/relationships"><Relationship Id="rId40" Type="http://schemas.openxmlformats.org/officeDocument/2006/relationships/slide" Target="slides/slide35.xml"/><Relationship Id="rId20" Type="http://schemas.openxmlformats.org/officeDocument/2006/relationships/slide" Target="slides/slide15.xml"/><Relationship Id="rId42" Type="http://schemas.openxmlformats.org/officeDocument/2006/relationships/slide" Target="slides/slide37.xml"/><Relationship Id="rId41" Type="http://schemas.openxmlformats.org/officeDocument/2006/relationships/slide" Target="slides/slide36.xml"/><Relationship Id="rId22" Type="http://schemas.openxmlformats.org/officeDocument/2006/relationships/slide" Target="slides/slide17.xml"/><Relationship Id="rId44" Type="http://schemas.openxmlformats.org/officeDocument/2006/relationships/slide" Target="slides/slide39.xml"/><Relationship Id="rId21" Type="http://schemas.openxmlformats.org/officeDocument/2006/relationships/slide" Target="slides/slide16.xml"/><Relationship Id="rId43" Type="http://schemas.openxmlformats.org/officeDocument/2006/relationships/slide" Target="slides/slide38.xml"/><Relationship Id="rId24" Type="http://schemas.openxmlformats.org/officeDocument/2006/relationships/slide" Target="slides/slide19.xml"/><Relationship Id="rId23" Type="http://schemas.openxmlformats.org/officeDocument/2006/relationships/slide" Target="slides/slide18.xml"/><Relationship Id="rId45" Type="http://schemas.openxmlformats.org/officeDocument/2006/relationships/slide" Target="slides/slide40.xml"/><Relationship Id="rId1" Type="http://schemas.openxmlformats.org/officeDocument/2006/relationships/theme" Target="theme/theme1.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4.xml"/><Relationship Id="rId26" Type="http://schemas.openxmlformats.org/officeDocument/2006/relationships/slide" Target="slides/slide21.xml"/><Relationship Id="rId25" Type="http://schemas.openxmlformats.org/officeDocument/2006/relationships/slide" Target="slides/slide20.xml"/><Relationship Id="rId28" Type="http://schemas.openxmlformats.org/officeDocument/2006/relationships/slide" Target="slides/slide23.xml"/><Relationship Id="rId27" Type="http://schemas.openxmlformats.org/officeDocument/2006/relationships/slide" Target="slides/slide22.xml"/><Relationship Id="rId5" Type="http://schemas.openxmlformats.org/officeDocument/2006/relationships/notesMaster" Target="notesMasters/notesMaster1.xml"/><Relationship Id="rId6" Type="http://schemas.openxmlformats.org/officeDocument/2006/relationships/slide" Target="slides/slide1.xml"/><Relationship Id="rId29" Type="http://schemas.openxmlformats.org/officeDocument/2006/relationships/slide" Target="slides/slide24.xml"/><Relationship Id="rId7" Type="http://schemas.openxmlformats.org/officeDocument/2006/relationships/slide" Target="slides/slide2.xml"/><Relationship Id="rId8" Type="http://schemas.openxmlformats.org/officeDocument/2006/relationships/slide" Target="slides/slide3.xml"/><Relationship Id="rId31" Type="http://schemas.openxmlformats.org/officeDocument/2006/relationships/slide" Target="slides/slide26.xml"/><Relationship Id="rId30" Type="http://schemas.openxmlformats.org/officeDocument/2006/relationships/slide" Target="slides/slide25.xml"/><Relationship Id="rId11" Type="http://schemas.openxmlformats.org/officeDocument/2006/relationships/slide" Target="slides/slide6.xml"/><Relationship Id="rId33" Type="http://schemas.openxmlformats.org/officeDocument/2006/relationships/slide" Target="slides/slide28.xml"/><Relationship Id="rId10" Type="http://schemas.openxmlformats.org/officeDocument/2006/relationships/slide" Target="slides/slide5.xml"/><Relationship Id="rId32" Type="http://schemas.openxmlformats.org/officeDocument/2006/relationships/slide" Target="slides/slide27.xml"/><Relationship Id="rId13" Type="http://schemas.openxmlformats.org/officeDocument/2006/relationships/slide" Target="slides/slide8.xml"/><Relationship Id="rId35" Type="http://schemas.openxmlformats.org/officeDocument/2006/relationships/slide" Target="slides/slide30.xml"/><Relationship Id="rId12" Type="http://schemas.openxmlformats.org/officeDocument/2006/relationships/slide" Target="slides/slide7.xml"/><Relationship Id="rId34" Type="http://schemas.openxmlformats.org/officeDocument/2006/relationships/slide" Target="slides/slide29.xml"/><Relationship Id="rId15" Type="http://schemas.openxmlformats.org/officeDocument/2006/relationships/slide" Target="slides/slide10.xml"/><Relationship Id="rId37" Type="http://schemas.openxmlformats.org/officeDocument/2006/relationships/slide" Target="slides/slide32.xml"/><Relationship Id="rId14" Type="http://schemas.openxmlformats.org/officeDocument/2006/relationships/slide" Target="slides/slide9.xml"/><Relationship Id="rId36" Type="http://schemas.openxmlformats.org/officeDocument/2006/relationships/slide" Target="slides/slide31.xml"/><Relationship Id="rId17" Type="http://schemas.openxmlformats.org/officeDocument/2006/relationships/slide" Target="slides/slide12.xml"/><Relationship Id="rId39" Type="http://schemas.openxmlformats.org/officeDocument/2006/relationships/slide" Target="slides/slide34.xml"/><Relationship Id="rId16" Type="http://schemas.openxmlformats.org/officeDocument/2006/relationships/slide" Target="slides/slide11.xml"/><Relationship Id="rId38" Type="http://schemas.openxmlformats.org/officeDocument/2006/relationships/slide" Target="slides/slide33.xml"/><Relationship Id="rId19" Type="http://schemas.openxmlformats.org/officeDocument/2006/relationships/slide" Target="slides/slide14.xml"/><Relationship Id="rId18"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0" name="Shape 50"/>
        <p:cNvGrpSpPr/>
        <p:nvPr/>
      </p:nvGrpSpPr>
      <p:grpSpPr>
        <a:xfrm>
          <a:off x="0" y="0"/>
          <a:ext cx="0" cy="0"/>
          <a:chOff x="0" y="0"/>
          <a:chExt cx="0" cy="0"/>
        </a:xfrm>
      </p:grpSpPr>
      <p:sp>
        <p:nvSpPr>
          <p:cNvPr id="51" name="Google Shape;51;p:notes"/>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p:spPr>
      </p:sp>
      <p:sp>
        <p:nvSpPr>
          <p:cNvPr id="52" name="Google Shape;52;p: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6" name="Shape 56"/>
        <p:cNvGrpSpPr/>
        <p:nvPr/>
      </p:nvGrpSpPr>
      <p:grpSpPr>
        <a:xfrm>
          <a:off x="0" y="0"/>
          <a:ext cx="0" cy="0"/>
          <a:chOff x="0" y="0"/>
          <a:chExt cx="0" cy="0"/>
        </a:xfrm>
      </p:grpSpPr>
      <p:sp>
        <p:nvSpPr>
          <p:cNvPr id="57" name="Google Shape;57;gd959be4f4d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8" name="Google Shape;58;gd959be4f4d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3" name="Shape 63"/>
        <p:cNvGrpSpPr/>
        <p:nvPr/>
      </p:nvGrpSpPr>
      <p:grpSpPr>
        <a:xfrm>
          <a:off x="0" y="0"/>
          <a:ext cx="0" cy="0"/>
          <a:chOff x="0" y="0"/>
          <a:chExt cx="0" cy="0"/>
        </a:xfrm>
      </p:grpSpPr>
      <p:sp>
        <p:nvSpPr>
          <p:cNvPr id="64" name="Google Shape;64;gd959be4f4d_0_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5" name="Google Shape;65;gd959be4f4d_0_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0" name="Shape 70"/>
        <p:cNvGrpSpPr/>
        <p:nvPr/>
      </p:nvGrpSpPr>
      <p:grpSpPr>
        <a:xfrm>
          <a:off x="0" y="0"/>
          <a:ext cx="0" cy="0"/>
          <a:chOff x="0" y="0"/>
          <a:chExt cx="0" cy="0"/>
        </a:xfrm>
      </p:grpSpPr>
      <p:sp>
        <p:nvSpPr>
          <p:cNvPr id="71" name="Google Shape;71;gd7ffd9f587_0_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2" name="Google Shape;72;gd7ffd9f587_0_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7" name="Shape 77"/>
        <p:cNvGrpSpPr/>
        <p:nvPr/>
      </p:nvGrpSpPr>
      <p:grpSpPr>
        <a:xfrm>
          <a:off x="0" y="0"/>
          <a:ext cx="0" cy="0"/>
          <a:chOff x="0" y="0"/>
          <a:chExt cx="0" cy="0"/>
        </a:xfrm>
      </p:grpSpPr>
      <p:sp>
        <p:nvSpPr>
          <p:cNvPr id="78" name="Google Shape;78;gd959be4f4d_0_1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9" name="Google Shape;79;gd959be4f4d_0_1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4" name="Shape 84"/>
        <p:cNvGrpSpPr/>
        <p:nvPr/>
      </p:nvGrpSpPr>
      <p:grpSpPr>
        <a:xfrm>
          <a:off x="0" y="0"/>
          <a:ext cx="0" cy="0"/>
          <a:chOff x="0" y="0"/>
          <a:chExt cx="0" cy="0"/>
        </a:xfrm>
      </p:grpSpPr>
      <p:sp>
        <p:nvSpPr>
          <p:cNvPr id="85" name="Google Shape;85;gdc4ecd6124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6" name="Google Shape;86;gdc4ecd6124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1" name="Shape 91"/>
        <p:cNvGrpSpPr/>
        <p:nvPr/>
      </p:nvGrpSpPr>
      <p:grpSpPr>
        <a:xfrm>
          <a:off x="0" y="0"/>
          <a:ext cx="0" cy="0"/>
          <a:chOff x="0" y="0"/>
          <a:chExt cx="0" cy="0"/>
        </a:xfrm>
      </p:grpSpPr>
      <p:sp>
        <p:nvSpPr>
          <p:cNvPr id="92" name="Google Shape;92;gdc4ecd6124_1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3" name="Google Shape;93;gdc4ecd6124_1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8" name="Shape 98"/>
        <p:cNvGrpSpPr/>
        <p:nvPr/>
      </p:nvGrpSpPr>
      <p:grpSpPr>
        <a:xfrm>
          <a:off x="0" y="0"/>
          <a:ext cx="0" cy="0"/>
          <a:chOff x="0" y="0"/>
          <a:chExt cx="0" cy="0"/>
        </a:xfrm>
      </p:grpSpPr>
      <p:sp>
        <p:nvSpPr>
          <p:cNvPr id="99" name="Google Shape;99;gd7ffd9f587_0_1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00" name="Google Shape;100;gd7ffd9f587_0_1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5" name="Shape 105"/>
        <p:cNvGrpSpPr/>
        <p:nvPr/>
      </p:nvGrpSpPr>
      <p:grpSpPr>
        <a:xfrm>
          <a:off x="0" y="0"/>
          <a:ext cx="0" cy="0"/>
          <a:chOff x="0" y="0"/>
          <a:chExt cx="0" cy="0"/>
        </a:xfrm>
      </p:grpSpPr>
      <p:sp>
        <p:nvSpPr>
          <p:cNvPr id="106" name="Google Shape;106;gd7ffd9f587_0_2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07" name="Google Shape;107;gd7ffd9f587_0_2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2" name="Shape 112"/>
        <p:cNvGrpSpPr/>
        <p:nvPr/>
      </p:nvGrpSpPr>
      <p:grpSpPr>
        <a:xfrm>
          <a:off x="0" y="0"/>
          <a:ext cx="0" cy="0"/>
          <a:chOff x="0" y="0"/>
          <a:chExt cx="0" cy="0"/>
        </a:xfrm>
      </p:grpSpPr>
      <p:sp>
        <p:nvSpPr>
          <p:cNvPr id="113" name="Google Shape;113;gdd366969f1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14" name="Google Shape;114;gdd366969f1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9" name="Shape 119"/>
        <p:cNvGrpSpPr/>
        <p:nvPr/>
      </p:nvGrpSpPr>
      <p:grpSpPr>
        <a:xfrm>
          <a:off x="0" y="0"/>
          <a:ext cx="0" cy="0"/>
          <a:chOff x="0" y="0"/>
          <a:chExt cx="0" cy="0"/>
        </a:xfrm>
      </p:grpSpPr>
      <p:sp>
        <p:nvSpPr>
          <p:cNvPr id="120" name="Google Shape;120;gdc4ecd6124_0_1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21" name="Google Shape;121;gdc4ecd6124_0_1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6" name="Shape 126"/>
        <p:cNvGrpSpPr/>
        <p:nvPr/>
      </p:nvGrpSpPr>
      <p:grpSpPr>
        <a:xfrm>
          <a:off x="0" y="0"/>
          <a:ext cx="0" cy="0"/>
          <a:chOff x="0" y="0"/>
          <a:chExt cx="0" cy="0"/>
        </a:xfrm>
      </p:grpSpPr>
      <p:sp>
        <p:nvSpPr>
          <p:cNvPr id="127" name="Google Shape;127;gdc4ecd6124_0_1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28" name="Google Shape;128;gdc4ecd6124_0_1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3" name="Shape 133"/>
        <p:cNvGrpSpPr/>
        <p:nvPr/>
      </p:nvGrpSpPr>
      <p:grpSpPr>
        <a:xfrm>
          <a:off x="0" y="0"/>
          <a:ext cx="0" cy="0"/>
          <a:chOff x="0" y="0"/>
          <a:chExt cx="0" cy="0"/>
        </a:xfrm>
      </p:grpSpPr>
      <p:sp>
        <p:nvSpPr>
          <p:cNvPr id="134" name="Google Shape;134;gdc4ecd6124_0_2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35" name="Google Shape;135;gdc4ecd6124_0_2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0" name="Shape 140"/>
        <p:cNvGrpSpPr/>
        <p:nvPr/>
      </p:nvGrpSpPr>
      <p:grpSpPr>
        <a:xfrm>
          <a:off x="0" y="0"/>
          <a:ext cx="0" cy="0"/>
          <a:chOff x="0" y="0"/>
          <a:chExt cx="0" cy="0"/>
        </a:xfrm>
      </p:grpSpPr>
      <p:sp>
        <p:nvSpPr>
          <p:cNvPr id="141" name="Google Shape;141;gd9711389fb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42" name="Google Shape;142;gd9711389fb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7" name="Shape 147"/>
        <p:cNvGrpSpPr/>
        <p:nvPr/>
      </p:nvGrpSpPr>
      <p:grpSpPr>
        <a:xfrm>
          <a:off x="0" y="0"/>
          <a:ext cx="0" cy="0"/>
          <a:chOff x="0" y="0"/>
          <a:chExt cx="0" cy="0"/>
        </a:xfrm>
      </p:grpSpPr>
      <p:sp>
        <p:nvSpPr>
          <p:cNvPr id="148" name="Google Shape;148;gdc603653bb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49" name="Google Shape;149;gdc603653bb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4" name="Shape 154"/>
        <p:cNvGrpSpPr/>
        <p:nvPr/>
      </p:nvGrpSpPr>
      <p:grpSpPr>
        <a:xfrm>
          <a:off x="0" y="0"/>
          <a:ext cx="0" cy="0"/>
          <a:chOff x="0" y="0"/>
          <a:chExt cx="0" cy="0"/>
        </a:xfrm>
      </p:grpSpPr>
      <p:sp>
        <p:nvSpPr>
          <p:cNvPr id="155" name="Google Shape;155;gdc603653bb_0_8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56" name="Google Shape;156;gdc603653bb_0_8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1" name="Shape 161"/>
        <p:cNvGrpSpPr/>
        <p:nvPr/>
      </p:nvGrpSpPr>
      <p:grpSpPr>
        <a:xfrm>
          <a:off x="0" y="0"/>
          <a:ext cx="0" cy="0"/>
          <a:chOff x="0" y="0"/>
          <a:chExt cx="0" cy="0"/>
        </a:xfrm>
      </p:grpSpPr>
      <p:sp>
        <p:nvSpPr>
          <p:cNvPr id="162" name="Google Shape;162;gdc603653bb_0_8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63" name="Google Shape;163;gdc603653bb_0_8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8" name="Shape 168"/>
        <p:cNvGrpSpPr/>
        <p:nvPr/>
      </p:nvGrpSpPr>
      <p:grpSpPr>
        <a:xfrm>
          <a:off x="0" y="0"/>
          <a:ext cx="0" cy="0"/>
          <a:chOff x="0" y="0"/>
          <a:chExt cx="0" cy="0"/>
        </a:xfrm>
      </p:grpSpPr>
      <p:sp>
        <p:nvSpPr>
          <p:cNvPr id="169" name="Google Shape;169;gdc8ecac877_0_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70" name="Google Shape;170;gdc8ecac877_0_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6" name="Shape 176"/>
        <p:cNvGrpSpPr/>
        <p:nvPr/>
      </p:nvGrpSpPr>
      <p:grpSpPr>
        <a:xfrm>
          <a:off x="0" y="0"/>
          <a:ext cx="0" cy="0"/>
          <a:chOff x="0" y="0"/>
          <a:chExt cx="0" cy="0"/>
        </a:xfrm>
      </p:grpSpPr>
      <p:sp>
        <p:nvSpPr>
          <p:cNvPr id="177" name="Google Shape;177;gdc603653bb_0_9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78" name="Google Shape;178;gdc603653bb_0_9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3" name="Shape 183"/>
        <p:cNvGrpSpPr/>
        <p:nvPr/>
      </p:nvGrpSpPr>
      <p:grpSpPr>
        <a:xfrm>
          <a:off x="0" y="0"/>
          <a:ext cx="0" cy="0"/>
          <a:chOff x="0" y="0"/>
          <a:chExt cx="0" cy="0"/>
        </a:xfrm>
      </p:grpSpPr>
      <p:sp>
        <p:nvSpPr>
          <p:cNvPr id="184" name="Google Shape;184;gdc603653bb_0_10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85" name="Google Shape;185;gdc603653bb_0_10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0" name="Shape 190"/>
        <p:cNvGrpSpPr/>
        <p:nvPr/>
      </p:nvGrpSpPr>
      <p:grpSpPr>
        <a:xfrm>
          <a:off x="0" y="0"/>
          <a:ext cx="0" cy="0"/>
          <a:chOff x="0" y="0"/>
          <a:chExt cx="0" cy="0"/>
        </a:xfrm>
      </p:grpSpPr>
      <p:sp>
        <p:nvSpPr>
          <p:cNvPr id="191" name="Google Shape;191;gdc603653bb_0_11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92" name="Google Shape;192;gdc603653bb_0_11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7" name="Shape 197"/>
        <p:cNvGrpSpPr/>
        <p:nvPr/>
      </p:nvGrpSpPr>
      <p:grpSpPr>
        <a:xfrm>
          <a:off x="0" y="0"/>
          <a:ext cx="0" cy="0"/>
          <a:chOff x="0" y="0"/>
          <a:chExt cx="0" cy="0"/>
        </a:xfrm>
      </p:grpSpPr>
      <p:sp>
        <p:nvSpPr>
          <p:cNvPr id="198" name="Google Shape;198;gdc603653bb_0_11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99" name="Google Shape;199;gdc603653bb_0_11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4" name="Shape 204"/>
        <p:cNvGrpSpPr/>
        <p:nvPr/>
      </p:nvGrpSpPr>
      <p:grpSpPr>
        <a:xfrm>
          <a:off x="0" y="0"/>
          <a:ext cx="0" cy="0"/>
          <a:chOff x="0" y="0"/>
          <a:chExt cx="0" cy="0"/>
        </a:xfrm>
      </p:grpSpPr>
      <p:sp>
        <p:nvSpPr>
          <p:cNvPr id="205" name="Google Shape;205;gdc8ecac877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06" name="Google Shape;206;gdc8ecac877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1" name="Shape 211"/>
        <p:cNvGrpSpPr/>
        <p:nvPr/>
      </p:nvGrpSpPr>
      <p:grpSpPr>
        <a:xfrm>
          <a:off x="0" y="0"/>
          <a:ext cx="0" cy="0"/>
          <a:chOff x="0" y="0"/>
          <a:chExt cx="0" cy="0"/>
        </a:xfrm>
      </p:grpSpPr>
      <p:sp>
        <p:nvSpPr>
          <p:cNvPr id="212" name="Google Shape;212;gdc8ecac877_0_1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13" name="Google Shape;213;gdc8ecac877_0_1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8" name="Shape 218"/>
        <p:cNvGrpSpPr/>
        <p:nvPr/>
      </p:nvGrpSpPr>
      <p:grpSpPr>
        <a:xfrm>
          <a:off x="0" y="0"/>
          <a:ext cx="0" cy="0"/>
          <a:chOff x="0" y="0"/>
          <a:chExt cx="0" cy="0"/>
        </a:xfrm>
      </p:grpSpPr>
      <p:sp>
        <p:nvSpPr>
          <p:cNvPr id="219" name="Google Shape;219;gdc8ecac877_0_1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20" name="Google Shape;220;gdc8ecac877_0_1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5" name="Shape 225"/>
        <p:cNvGrpSpPr/>
        <p:nvPr/>
      </p:nvGrpSpPr>
      <p:grpSpPr>
        <a:xfrm>
          <a:off x="0" y="0"/>
          <a:ext cx="0" cy="0"/>
          <a:chOff x="0" y="0"/>
          <a:chExt cx="0" cy="0"/>
        </a:xfrm>
      </p:grpSpPr>
      <p:sp>
        <p:nvSpPr>
          <p:cNvPr id="226" name="Google Shape;226;gdc8ecac877_0_2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27" name="Google Shape;227;gdc8ecac877_0_2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3" name="Shape 233"/>
        <p:cNvGrpSpPr/>
        <p:nvPr/>
      </p:nvGrpSpPr>
      <p:grpSpPr>
        <a:xfrm>
          <a:off x="0" y="0"/>
          <a:ext cx="0" cy="0"/>
          <a:chOff x="0" y="0"/>
          <a:chExt cx="0" cy="0"/>
        </a:xfrm>
      </p:grpSpPr>
      <p:sp>
        <p:nvSpPr>
          <p:cNvPr id="234" name="Google Shape;234;gd7ffd9f587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35" name="Google Shape;235;gd7ffd9f587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0" name="Shape 240"/>
        <p:cNvGrpSpPr/>
        <p:nvPr/>
      </p:nvGrpSpPr>
      <p:grpSpPr>
        <a:xfrm>
          <a:off x="0" y="0"/>
          <a:ext cx="0" cy="0"/>
          <a:chOff x="0" y="0"/>
          <a:chExt cx="0" cy="0"/>
        </a:xfrm>
      </p:grpSpPr>
      <p:sp>
        <p:nvSpPr>
          <p:cNvPr id="241" name="Google Shape;241;gdd366969f1_0_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42" name="Google Shape;242;gdd366969f1_0_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7" name="Shape 247"/>
        <p:cNvGrpSpPr/>
        <p:nvPr/>
      </p:nvGrpSpPr>
      <p:grpSpPr>
        <a:xfrm>
          <a:off x="0" y="0"/>
          <a:ext cx="0" cy="0"/>
          <a:chOff x="0" y="0"/>
          <a:chExt cx="0" cy="0"/>
        </a:xfrm>
      </p:grpSpPr>
      <p:sp>
        <p:nvSpPr>
          <p:cNvPr id="248" name="Google Shape;248;gdd366969f1_0_1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49" name="Google Shape;249;gdd366969f1_0_1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4" name="Shape 254"/>
        <p:cNvGrpSpPr/>
        <p:nvPr/>
      </p:nvGrpSpPr>
      <p:grpSpPr>
        <a:xfrm>
          <a:off x="0" y="0"/>
          <a:ext cx="0" cy="0"/>
          <a:chOff x="0" y="0"/>
          <a:chExt cx="0" cy="0"/>
        </a:xfrm>
      </p:grpSpPr>
      <p:sp>
        <p:nvSpPr>
          <p:cNvPr id="255" name="Google Shape;255;gdd366969f1_0_1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56" name="Google Shape;256;gdd366969f1_0_1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1" name="Shape 261"/>
        <p:cNvGrpSpPr/>
        <p:nvPr/>
      </p:nvGrpSpPr>
      <p:grpSpPr>
        <a:xfrm>
          <a:off x="0" y="0"/>
          <a:ext cx="0" cy="0"/>
          <a:chOff x="0" y="0"/>
          <a:chExt cx="0" cy="0"/>
        </a:xfrm>
      </p:grpSpPr>
      <p:sp>
        <p:nvSpPr>
          <p:cNvPr id="262" name="Google Shape;262;gdd366969f1_0_2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63" name="Google Shape;263;gdd366969f1_0_2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8" name="Shape 268"/>
        <p:cNvGrpSpPr/>
        <p:nvPr/>
      </p:nvGrpSpPr>
      <p:grpSpPr>
        <a:xfrm>
          <a:off x="0" y="0"/>
          <a:ext cx="0" cy="0"/>
          <a:chOff x="0" y="0"/>
          <a:chExt cx="0" cy="0"/>
        </a:xfrm>
      </p:grpSpPr>
      <p:sp>
        <p:nvSpPr>
          <p:cNvPr id="269" name="Google Shape;269;gdd366969f1_0_2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70" name="Google Shape;270;gdd366969f1_0_2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5" name="Shape 275"/>
        <p:cNvGrpSpPr/>
        <p:nvPr/>
      </p:nvGrpSpPr>
      <p:grpSpPr>
        <a:xfrm>
          <a:off x="0" y="0"/>
          <a:ext cx="0" cy="0"/>
          <a:chOff x="0" y="0"/>
          <a:chExt cx="0" cy="0"/>
        </a:xfrm>
      </p:grpSpPr>
      <p:sp>
        <p:nvSpPr>
          <p:cNvPr id="276" name="Google Shape;276;gdd366969f1_0_3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77" name="Google Shape;277;gdd366969f1_0_3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2" name="Shape 282"/>
        <p:cNvGrpSpPr/>
        <p:nvPr/>
      </p:nvGrpSpPr>
      <p:grpSpPr>
        <a:xfrm>
          <a:off x="0" y="0"/>
          <a:ext cx="0" cy="0"/>
          <a:chOff x="0" y="0"/>
          <a:chExt cx="0" cy="0"/>
        </a:xfrm>
      </p:grpSpPr>
      <p:sp>
        <p:nvSpPr>
          <p:cNvPr id="283" name="Google Shape;283;gdd366969f1_0_3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84" name="Google Shape;284;gdd366969f1_0_3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9" name="Shape 289"/>
        <p:cNvGrpSpPr/>
        <p:nvPr/>
      </p:nvGrpSpPr>
      <p:grpSpPr>
        <a:xfrm>
          <a:off x="0" y="0"/>
          <a:ext cx="0" cy="0"/>
          <a:chOff x="0" y="0"/>
          <a:chExt cx="0" cy="0"/>
        </a:xfrm>
      </p:grpSpPr>
      <p:sp>
        <p:nvSpPr>
          <p:cNvPr id="290" name="Google Shape;290;gdd366969f1_0_4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91" name="Google Shape;291;gdd366969f1_0_4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6" name="Shape 296"/>
        <p:cNvGrpSpPr/>
        <p:nvPr/>
      </p:nvGrpSpPr>
      <p:grpSpPr>
        <a:xfrm>
          <a:off x="0" y="0"/>
          <a:ext cx="0" cy="0"/>
          <a:chOff x="0" y="0"/>
          <a:chExt cx="0" cy="0"/>
        </a:xfrm>
      </p:grpSpPr>
      <p:sp>
        <p:nvSpPr>
          <p:cNvPr id="297" name="Google Shape;297;g41f8fa5722e88dd1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98" name="Google Shape;298;g41f8fa5722e88dd1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03" name="Shape 303"/>
        <p:cNvGrpSpPr/>
        <p:nvPr/>
      </p:nvGrpSpPr>
      <p:grpSpPr>
        <a:xfrm>
          <a:off x="0" y="0"/>
          <a:ext cx="0" cy="0"/>
          <a:chOff x="0" y="0"/>
          <a:chExt cx="0" cy="0"/>
        </a:xfrm>
      </p:grpSpPr>
      <p:sp>
        <p:nvSpPr>
          <p:cNvPr id="304" name="Google Shape;304;g41f8fa5722e88dd1_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05" name="Google Shape;305;g41f8fa5722e88dd1_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10" name="Shape 310"/>
        <p:cNvGrpSpPr/>
        <p:nvPr/>
      </p:nvGrpSpPr>
      <p:grpSpPr>
        <a:xfrm>
          <a:off x="0" y="0"/>
          <a:ext cx="0" cy="0"/>
          <a:chOff x="0" y="0"/>
          <a:chExt cx="0" cy="0"/>
        </a:xfrm>
      </p:grpSpPr>
      <p:sp>
        <p:nvSpPr>
          <p:cNvPr id="311" name="Google Shape;311;g41f8fa5722e88dd1_1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12" name="Google Shape;312;g41f8fa5722e88dd1_1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17" name="Shape 317"/>
        <p:cNvGrpSpPr/>
        <p:nvPr/>
      </p:nvGrpSpPr>
      <p:grpSpPr>
        <a:xfrm>
          <a:off x="0" y="0"/>
          <a:ext cx="0" cy="0"/>
          <a:chOff x="0" y="0"/>
          <a:chExt cx="0" cy="0"/>
        </a:xfrm>
      </p:grpSpPr>
      <p:sp>
        <p:nvSpPr>
          <p:cNvPr id="318" name="Google Shape;318;g41f8fa5722e88dd1_1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19" name="Google Shape;319;g41f8fa5722e88dd1_1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24" name="Shape 324"/>
        <p:cNvGrpSpPr/>
        <p:nvPr/>
      </p:nvGrpSpPr>
      <p:grpSpPr>
        <a:xfrm>
          <a:off x="0" y="0"/>
          <a:ext cx="0" cy="0"/>
          <a:chOff x="0" y="0"/>
          <a:chExt cx="0" cy="0"/>
        </a:xfrm>
      </p:grpSpPr>
      <p:sp>
        <p:nvSpPr>
          <p:cNvPr id="325" name="Google Shape;325;g41f8fa5722e88dd1_2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26" name="Google Shape;326;g41f8fa5722e88dd1_2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9" name="Shape 9"/>
        <p:cNvGrpSpPr/>
        <p:nvPr/>
      </p:nvGrpSpPr>
      <p:grpSpPr>
        <a:xfrm>
          <a:off x="0" y="0"/>
          <a:ext cx="0" cy="0"/>
          <a:chOff x="0" y="0"/>
          <a:chExt cx="0" cy="0"/>
        </a:xfrm>
      </p:grpSpPr>
      <p:sp>
        <p:nvSpPr>
          <p:cNvPr id="10" name="Google Shape;10;p2"/>
          <p:cNvSpPr txBox="1"/>
          <p:nvPr>
            <p:ph type="ctrTitle"/>
          </p:nvPr>
        </p:nvSpPr>
        <p:spPr>
          <a:xfrm>
            <a:off x="311708" y="744575"/>
            <a:ext cx="8520600" cy="2052600"/>
          </a:xfrm>
          <a:prstGeom prst="rect">
            <a:avLst/>
          </a:prstGeom>
        </p:spPr>
        <p:txBody>
          <a:bodyPr anchorCtr="0" anchor="b" bIns="91425" lIns="91425" spcFirstLastPara="1" rIns="91425" wrap="square" tIns="91425">
            <a:normAutofit/>
          </a:bodyPr>
          <a:lstStyle>
            <a:lvl1pPr lvl="0" algn="ctr">
              <a:spcBef>
                <a:spcPts val="0"/>
              </a:spcBef>
              <a:spcAft>
                <a:spcPts val="0"/>
              </a:spcAft>
              <a:buSzPts val="5200"/>
              <a:buNone/>
              <a:defRPr sz="5200"/>
            </a:lvl1pPr>
            <a:lvl2pPr lvl="1" algn="ctr">
              <a:spcBef>
                <a:spcPts val="0"/>
              </a:spcBef>
              <a:spcAft>
                <a:spcPts val="0"/>
              </a:spcAft>
              <a:buSzPts val="5200"/>
              <a:buNone/>
              <a:defRPr sz="5200"/>
            </a:lvl2pPr>
            <a:lvl3pPr lvl="2" algn="ctr">
              <a:spcBef>
                <a:spcPts val="0"/>
              </a:spcBef>
              <a:spcAft>
                <a:spcPts val="0"/>
              </a:spcAft>
              <a:buSzPts val="5200"/>
              <a:buNone/>
              <a:defRPr sz="5200"/>
            </a:lvl3pPr>
            <a:lvl4pPr lvl="3" algn="ctr">
              <a:spcBef>
                <a:spcPts val="0"/>
              </a:spcBef>
              <a:spcAft>
                <a:spcPts val="0"/>
              </a:spcAft>
              <a:buSzPts val="5200"/>
              <a:buNone/>
              <a:defRPr sz="5200"/>
            </a:lvl4pPr>
            <a:lvl5pPr lvl="4" algn="ctr">
              <a:spcBef>
                <a:spcPts val="0"/>
              </a:spcBef>
              <a:spcAft>
                <a:spcPts val="0"/>
              </a:spcAft>
              <a:buSzPts val="5200"/>
              <a:buNone/>
              <a:defRPr sz="5200"/>
            </a:lvl5pPr>
            <a:lvl6pPr lvl="5" algn="ctr">
              <a:spcBef>
                <a:spcPts val="0"/>
              </a:spcBef>
              <a:spcAft>
                <a:spcPts val="0"/>
              </a:spcAft>
              <a:buSzPts val="5200"/>
              <a:buNone/>
              <a:defRPr sz="5200"/>
            </a:lvl6pPr>
            <a:lvl7pPr lvl="6" algn="ctr">
              <a:spcBef>
                <a:spcPts val="0"/>
              </a:spcBef>
              <a:spcAft>
                <a:spcPts val="0"/>
              </a:spcAft>
              <a:buSzPts val="5200"/>
              <a:buNone/>
              <a:defRPr sz="5200"/>
            </a:lvl7pPr>
            <a:lvl8pPr lvl="7" algn="ctr">
              <a:spcBef>
                <a:spcPts val="0"/>
              </a:spcBef>
              <a:spcAft>
                <a:spcPts val="0"/>
              </a:spcAft>
              <a:buSzPts val="5200"/>
              <a:buNone/>
              <a:defRPr sz="5200"/>
            </a:lvl8pPr>
            <a:lvl9pPr lvl="8" algn="ctr">
              <a:spcBef>
                <a:spcPts val="0"/>
              </a:spcBef>
              <a:spcAft>
                <a:spcPts val="0"/>
              </a:spcAft>
              <a:buSzPts val="5200"/>
              <a:buNone/>
              <a:defRPr sz="5200"/>
            </a:lvl9pPr>
          </a:lstStyle>
          <a:p/>
        </p:txBody>
      </p:sp>
      <p:sp>
        <p:nvSpPr>
          <p:cNvPr id="11" name="Google Shape;11;p2"/>
          <p:cNvSpPr txBox="1"/>
          <p:nvPr>
            <p:ph idx="1" type="subTitle"/>
          </p:nvPr>
        </p:nvSpPr>
        <p:spPr>
          <a:xfrm>
            <a:off x="311700" y="2834125"/>
            <a:ext cx="8520600" cy="7926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800"/>
              <a:buNone/>
              <a:defRPr sz="28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p:txBody>
      </p:sp>
      <p:sp>
        <p:nvSpPr>
          <p:cNvPr id="12" name="Google Shape;12;p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pt-BR"/>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13" name="Shape 13"/>
        <p:cNvGrpSpPr/>
        <p:nvPr/>
      </p:nvGrpSpPr>
      <p:grpSpPr>
        <a:xfrm>
          <a:off x="0" y="0"/>
          <a:ext cx="0" cy="0"/>
          <a:chOff x="0" y="0"/>
          <a:chExt cx="0" cy="0"/>
        </a:xfrm>
      </p:grpSpPr>
      <p:sp>
        <p:nvSpPr>
          <p:cNvPr id="14" name="Google Shape;14;p3"/>
          <p:cNvSpPr txBox="1"/>
          <p:nvPr>
            <p:ph type="title"/>
          </p:nvPr>
        </p:nvSpPr>
        <p:spPr>
          <a:xfrm>
            <a:off x="311700" y="2150850"/>
            <a:ext cx="8520600" cy="841800"/>
          </a:xfrm>
          <a:prstGeom prst="rect">
            <a:avLst/>
          </a:prstGeom>
        </p:spPr>
        <p:txBody>
          <a:bodyPr anchorCtr="0" anchor="ctr" bIns="91425" lIns="91425" spcFirstLastPara="1" rIns="91425" wrap="square" tIns="91425">
            <a:normAutofit/>
          </a:bodyPr>
          <a:lstStyle>
            <a:lvl1pPr lvl="0" algn="ctr">
              <a:spcBef>
                <a:spcPts val="0"/>
              </a:spcBef>
              <a:spcAft>
                <a:spcPts val="0"/>
              </a:spcAft>
              <a:buSzPts val="3600"/>
              <a:buNone/>
              <a:defRPr sz="360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p:txBody>
      </p:sp>
      <p:sp>
        <p:nvSpPr>
          <p:cNvPr id="15" name="Google Shape;15;p3"/>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pt-BR"/>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16" name="Shape 16"/>
        <p:cNvGrpSpPr/>
        <p:nvPr/>
      </p:nvGrpSpPr>
      <p:grpSpPr>
        <a:xfrm>
          <a:off x="0" y="0"/>
          <a:ext cx="0" cy="0"/>
          <a:chOff x="0" y="0"/>
          <a:chExt cx="0" cy="0"/>
        </a:xfrm>
      </p:grpSpPr>
      <p:sp>
        <p:nvSpPr>
          <p:cNvPr id="17" name="Google Shape;17;p4"/>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18" name="Google Shape;18;p4"/>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19" name="Google Shape;19;p4"/>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pt-BR"/>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20" name="Shape 20"/>
        <p:cNvGrpSpPr/>
        <p:nvPr/>
      </p:nvGrpSpPr>
      <p:grpSpPr>
        <a:xfrm>
          <a:off x="0" y="0"/>
          <a:ext cx="0" cy="0"/>
          <a:chOff x="0" y="0"/>
          <a:chExt cx="0" cy="0"/>
        </a:xfrm>
      </p:grpSpPr>
      <p:sp>
        <p:nvSpPr>
          <p:cNvPr id="21" name="Google Shape;21;p5"/>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2" name="Google Shape;22;p5"/>
          <p:cNvSpPr txBox="1"/>
          <p:nvPr>
            <p:ph idx="1" type="body"/>
          </p:nvPr>
        </p:nvSpPr>
        <p:spPr>
          <a:xfrm>
            <a:off x="3117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3" name="Google Shape;23;p5"/>
          <p:cNvSpPr txBox="1"/>
          <p:nvPr>
            <p:ph idx="2" type="body"/>
          </p:nvPr>
        </p:nvSpPr>
        <p:spPr>
          <a:xfrm>
            <a:off x="48324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4" name="Google Shape;24;p5"/>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pt-BR"/>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25" name="Shape 25"/>
        <p:cNvGrpSpPr/>
        <p:nvPr/>
      </p:nvGrpSpPr>
      <p:grpSpPr>
        <a:xfrm>
          <a:off x="0" y="0"/>
          <a:ext cx="0" cy="0"/>
          <a:chOff x="0" y="0"/>
          <a:chExt cx="0" cy="0"/>
        </a:xfrm>
      </p:grpSpPr>
      <p:sp>
        <p:nvSpPr>
          <p:cNvPr id="26" name="Google Shape;26;p6"/>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7" name="Google Shape;27;p6"/>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pt-BR"/>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28" name="Shape 28"/>
        <p:cNvGrpSpPr/>
        <p:nvPr/>
      </p:nvGrpSpPr>
      <p:grpSpPr>
        <a:xfrm>
          <a:off x="0" y="0"/>
          <a:ext cx="0" cy="0"/>
          <a:chOff x="0" y="0"/>
          <a:chExt cx="0" cy="0"/>
        </a:xfrm>
      </p:grpSpPr>
      <p:sp>
        <p:nvSpPr>
          <p:cNvPr id="29" name="Google Shape;29;p7"/>
          <p:cNvSpPr txBox="1"/>
          <p:nvPr>
            <p:ph type="title"/>
          </p:nvPr>
        </p:nvSpPr>
        <p:spPr>
          <a:xfrm>
            <a:off x="311700" y="555600"/>
            <a:ext cx="2808000" cy="755700"/>
          </a:xfrm>
          <a:prstGeom prst="rect">
            <a:avLst/>
          </a:prstGeom>
        </p:spPr>
        <p:txBody>
          <a:bodyPr anchorCtr="0" anchor="b" bIns="91425" lIns="91425" spcFirstLastPara="1" rIns="91425" wrap="square" tIns="91425">
            <a:norm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p:txBody>
      </p:sp>
      <p:sp>
        <p:nvSpPr>
          <p:cNvPr id="30" name="Google Shape;30;p7"/>
          <p:cNvSpPr txBox="1"/>
          <p:nvPr>
            <p:ph idx="1" type="body"/>
          </p:nvPr>
        </p:nvSpPr>
        <p:spPr>
          <a:xfrm>
            <a:off x="311700" y="1389600"/>
            <a:ext cx="2808000" cy="3179400"/>
          </a:xfrm>
          <a:prstGeom prst="rect">
            <a:avLst/>
          </a:prstGeom>
        </p:spPr>
        <p:txBody>
          <a:bodyPr anchorCtr="0" anchor="t" bIns="91425" lIns="91425" spcFirstLastPara="1" rIns="91425" wrap="square" tIns="91425">
            <a:normAutofit/>
          </a:bodyPr>
          <a:lstStyle>
            <a:lvl1pPr indent="-304800" lvl="0" marL="457200">
              <a:spcBef>
                <a:spcPts val="0"/>
              </a:spcBef>
              <a:spcAft>
                <a:spcPts val="0"/>
              </a:spcAft>
              <a:buSzPts val="1200"/>
              <a:buChar char="●"/>
              <a:defRPr sz="12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31" name="Google Shape;31;p7"/>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pt-BR"/>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spTree>
      <p:nvGrpSpPr>
        <p:cNvPr id="32" name="Shape 32"/>
        <p:cNvGrpSpPr/>
        <p:nvPr/>
      </p:nvGrpSpPr>
      <p:grpSpPr>
        <a:xfrm>
          <a:off x="0" y="0"/>
          <a:ext cx="0" cy="0"/>
          <a:chOff x="0" y="0"/>
          <a:chExt cx="0" cy="0"/>
        </a:xfrm>
      </p:grpSpPr>
      <p:sp>
        <p:nvSpPr>
          <p:cNvPr id="33" name="Google Shape;33;p8"/>
          <p:cNvSpPr txBox="1"/>
          <p:nvPr>
            <p:ph type="title"/>
          </p:nvPr>
        </p:nvSpPr>
        <p:spPr>
          <a:xfrm>
            <a:off x="490250" y="450150"/>
            <a:ext cx="6367800" cy="4090800"/>
          </a:xfrm>
          <a:prstGeom prst="rect">
            <a:avLst/>
          </a:prstGeom>
        </p:spPr>
        <p:txBody>
          <a:bodyPr anchorCtr="0" anchor="ctr" bIns="91425" lIns="91425" spcFirstLastPara="1" rIns="91425" wrap="square" tIns="91425">
            <a:normAutofit/>
          </a:bodyPr>
          <a:lstStyle>
            <a:lvl1pPr lvl="0">
              <a:spcBef>
                <a:spcPts val="0"/>
              </a:spcBef>
              <a:spcAft>
                <a:spcPts val="0"/>
              </a:spcAft>
              <a:buSzPts val="4800"/>
              <a:buNone/>
              <a:defRPr sz="48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p:txBody>
      </p:sp>
      <p:sp>
        <p:nvSpPr>
          <p:cNvPr id="34" name="Google Shape;34;p8"/>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pt-BR"/>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35" name="Shape 35"/>
        <p:cNvGrpSpPr/>
        <p:nvPr/>
      </p:nvGrpSpPr>
      <p:grpSpPr>
        <a:xfrm>
          <a:off x="0" y="0"/>
          <a:ext cx="0" cy="0"/>
          <a:chOff x="0" y="0"/>
          <a:chExt cx="0" cy="0"/>
        </a:xfrm>
      </p:grpSpPr>
      <p:sp>
        <p:nvSpPr>
          <p:cNvPr id="36" name="Google Shape;36;p9"/>
          <p:cNvSpPr/>
          <p:nvPr/>
        </p:nvSpPr>
        <p:spPr>
          <a:xfrm>
            <a:off x="4572000" y="-125"/>
            <a:ext cx="4572000" cy="51435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 name="Google Shape;37;p9"/>
          <p:cNvSpPr txBox="1"/>
          <p:nvPr>
            <p:ph type="title"/>
          </p:nvPr>
        </p:nvSpPr>
        <p:spPr>
          <a:xfrm>
            <a:off x="265500" y="1233175"/>
            <a:ext cx="4045200" cy="1482300"/>
          </a:xfrm>
          <a:prstGeom prst="rect">
            <a:avLst/>
          </a:prstGeom>
        </p:spPr>
        <p:txBody>
          <a:bodyPr anchorCtr="0" anchor="b" bIns="91425" lIns="91425" spcFirstLastPara="1" rIns="91425" wrap="square" tIns="91425">
            <a:normAutofit/>
          </a:bodyPr>
          <a:lstStyle>
            <a:lvl1pPr lvl="0" algn="ctr">
              <a:spcBef>
                <a:spcPts val="0"/>
              </a:spcBef>
              <a:spcAft>
                <a:spcPts val="0"/>
              </a:spcAft>
              <a:buSzPts val="4200"/>
              <a:buNone/>
              <a:defRPr sz="4200"/>
            </a:lvl1pPr>
            <a:lvl2pPr lvl="1" algn="ctr">
              <a:spcBef>
                <a:spcPts val="0"/>
              </a:spcBef>
              <a:spcAft>
                <a:spcPts val="0"/>
              </a:spcAft>
              <a:buSzPts val="4200"/>
              <a:buNone/>
              <a:defRPr sz="4200"/>
            </a:lvl2pPr>
            <a:lvl3pPr lvl="2" algn="ctr">
              <a:spcBef>
                <a:spcPts val="0"/>
              </a:spcBef>
              <a:spcAft>
                <a:spcPts val="0"/>
              </a:spcAft>
              <a:buSzPts val="4200"/>
              <a:buNone/>
              <a:defRPr sz="4200"/>
            </a:lvl3pPr>
            <a:lvl4pPr lvl="3" algn="ctr">
              <a:spcBef>
                <a:spcPts val="0"/>
              </a:spcBef>
              <a:spcAft>
                <a:spcPts val="0"/>
              </a:spcAft>
              <a:buSzPts val="4200"/>
              <a:buNone/>
              <a:defRPr sz="4200"/>
            </a:lvl4pPr>
            <a:lvl5pPr lvl="4" algn="ctr">
              <a:spcBef>
                <a:spcPts val="0"/>
              </a:spcBef>
              <a:spcAft>
                <a:spcPts val="0"/>
              </a:spcAft>
              <a:buSzPts val="4200"/>
              <a:buNone/>
              <a:defRPr sz="4200"/>
            </a:lvl5pPr>
            <a:lvl6pPr lvl="5" algn="ctr">
              <a:spcBef>
                <a:spcPts val="0"/>
              </a:spcBef>
              <a:spcAft>
                <a:spcPts val="0"/>
              </a:spcAft>
              <a:buSzPts val="4200"/>
              <a:buNone/>
              <a:defRPr sz="4200"/>
            </a:lvl6pPr>
            <a:lvl7pPr lvl="6" algn="ctr">
              <a:spcBef>
                <a:spcPts val="0"/>
              </a:spcBef>
              <a:spcAft>
                <a:spcPts val="0"/>
              </a:spcAft>
              <a:buSzPts val="4200"/>
              <a:buNone/>
              <a:defRPr sz="4200"/>
            </a:lvl7pPr>
            <a:lvl8pPr lvl="7" algn="ctr">
              <a:spcBef>
                <a:spcPts val="0"/>
              </a:spcBef>
              <a:spcAft>
                <a:spcPts val="0"/>
              </a:spcAft>
              <a:buSzPts val="4200"/>
              <a:buNone/>
              <a:defRPr sz="4200"/>
            </a:lvl8pPr>
            <a:lvl9pPr lvl="8" algn="ctr">
              <a:spcBef>
                <a:spcPts val="0"/>
              </a:spcBef>
              <a:spcAft>
                <a:spcPts val="0"/>
              </a:spcAft>
              <a:buSzPts val="4200"/>
              <a:buNone/>
              <a:defRPr sz="4200"/>
            </a:lvl9pPr>
          </a:lstStyle>
          <a:p/>
        </p:txBody>
      </p:sp>
      <p:sp>
        <p:nvSpPr>
          <p:cNvPr id="38" name="Google Shape;38;p9"/>
          <p:cNvSpPr txBox="1"/>
          <p:nvPr>
            <p:ph idx="1" type="subTitle"/>
          </p:nvPr>
        </p:nvSpPr>
        <p:spPr>
          <a:xfrm>
            <a:off x="265500" y="2803075"/>
            <a:ext cx="4045200" cy="12351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p:txBody>
      </p:sp>
      <p:sp>
        <p:nvSpPr>
          <p:cNvPr id="39" name="Google Shape;39;p9"/>
          <p:cNvSpPr txBox="1"/>
          <p:nvPr>
            <p:ph idx="2" type="body"/>
          </p:nvPr>
        </p:nvSpPr>
        <p:spPr>
          <a:xfrm>
            <a:off x="4939500" y="724075"/>
            <a:ext cx="3837000" cy="3695100"/>
          </a:xfrm>
          <a:prstGeom prst="rect">
            <a:avLst/>
          </a:prstGeom>
        </p:spPr>
        <p:txBody>
          <a:bodyPr anchorCtr="0" anchor="ctr"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40" name="Google Shape;40;p9"/>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pt-BR"/>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41" name="Shape 41"/>
        <p:cNvGrpSpPr/>
        <p:nvPr/>
      </p:nvGrpSpPr>
      <p:grpSpPr>
        <a:xfrm>
          <a:off x="0" y="0"/>
          <a:ext cx="0" cy="0"/>
          <a:chOff x="0" y="0"/>
          <a:chExt cx="0" cy="0"/>
        </a:xfrm>
      </p:grpSpPr>
      <p:sp>
        <p:nvSpPr>
          <p:cNvPr id="42" name="Google Shape;42;p10"/>
          <p:cNvSpPr txBox="1"/>
          <p:nvPr>
            <p:ph idx="1" type="body"/>
          </p:nvPr>
        </p:nvSpPr>
        <p:spPr>
          <a:xfrm>
            <a:off x="311700" y="4230575"/>
            <a:ext cx="5998800" cy="605100"/>
          </a:xfrm>
          <a:prstGeom prst="rect">
            <a:avLst/>
          </a:prstGeom>
        </p:spPr>
        <p:txBody>
          <a:bodyPr anchorCtr="0" anchor="ctr" bIns="91425" lIns="91425" spcFirstLastPara="1" rIns="91425" wrap="square" tIns="91425">
            <a:normAutofit/>
          </a:bodyPr>
          <a:lstStyle>
            <a:lvl1pPr indent="-228600" lvl="0" marL="457200">
              <a:lnSpc>
                <a:spcPct val="100000"/>
              </a:lnSpc>
              <a:spcBef>
                <a:spcPts val="0"/>
              </a:spcBef>
              <a:spcAft>
                <a:spcPts val="0"/>
              </a:spcAft>
              <a:buSzPts val="1800"/>
              <a:buNone/>
              <a:defRPr/>
            </a:lvl1pPr>
          </a:lstStyle>
          <a:p/>
        </p:txBody>
      </p:sp>
      <p:sp>
        <p:nvSpPr>
          <p:cNvPr id="43" name="Google Shape;43;p10"/>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pt-BR"/>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44" name="Shape 44"/>
        <p:cNvGrpSpPr/>
        <p:nvPr/>
      </p:nvGrpSpPr>
      <p:grpSpPr>
        <a:xfrm>
          <a:off x="0" y="0"/>
          <a:ext cx="0" cy="0"/>
          <a:chOff x="0" y="0"/>
          <a:chExt cx="0" cy="0"/>
        </a:xfrm>
      </p:grpSpPr>
      <p:sp>
        <p:nvSpPr>
          <p:cNvPr id="45" name="Google Shape;45;p11"/>
          <p:cNvSpPr txBox="1"/>
          <p:nvPr>
            <p:ph hasCustomPrompt="1" type="title"/>
          </p:nvPr>
        </p:nvSpPr>
        <p:spPr>
          <a:xfrm>
            <a:off x="311700" y="1106125"/>
            <a:ext cx="8520600" cy="1963500"/>
          </a:xfrm>
          <a:prstGeom prst="rect">
            <a:avLst/>
          </a:prstGeom>
        </p:spPr>
        <p:txBody>
          <a:bodyPr anchorCtr="0" anchor="b" bIns="91425" lIns="91425" spcFirstLastPara="1" rIns="91425" wrap="square" tIns="91425">
            <a:normAutofit/>
          </a:bodyPr>
          <a:lstStyle>
            <a:lvl1pPr lvl="0" algn="ctr">
              <a:spcBef>
                <a:spcPts val="0"/>
              </a:spcBef>
              <a:spcAft>
                <a:spcPts val="0"/>
              </a:spcAft>
              <a:buSzPts val="12000"/>
              <a:buNone/>
              <a:defRPr sz="12000"/>
            </a:lvl1pPr>
            <a:lvl2pPr lvl="1" algn="ctr">
              <a:spcBef>
                <a:spcPts val="0"/>
              </a:spcBef>
              <a:spcAft>
                <a:spcPts val="0"/>
              </a:spcAft>
              <a:buSzPts val="12000"/>
              <a:buNone/>
              <a:defRPr sz="12000"/>
            </a:lvl2pPr>
            <a:lvl3pPr lvl="2" algn="ctr">
              <a:spcBef>
                <a:spcPts val="0"/>
              </a:spcBef>
              <a:spcAft>
                <a:spcPts val="0"/>
              </a:spcAft>
              <a:buSzPts val="12000"/>
              <a:buNone/>
              <a:defRPr sz="12000"/>
            </a:lvl3pPr>
            <a:lvl4pPr lvl="3" algn="ctr">
              <a:spcBef>
                <a:spcPts val="0"/>
              </a:spcBef>
              <a:spcAft>
                <a:spcPts val="0"/>
              </a:spcAft>
              <a:buSzPts val="12000"/>
              <a:buNone/>
              <a:defRPr sz="12000"/>
            </a:lvl4pPr>
            <a:lvl5pPr lvl="4" algn="ctr">
              <a:spcBef>
                <a:spcPts val="0"/>
              </a:spcBef>
              <a:spcAft>
                <a:spcPts val="0"/>
              </a:spcAft>
              <a:buSzPts val="12000"/>
              <a:buNone/>
              <a:defRPr sz="12000"/>
            </a:lvl5pPr>
            <a:lvl6pPr lvl="5" algn="ctr">
              <a:spcBef>
                <a:spcPts val="0"/>
              </a:spcBef>
              <a:spcAft>
                <a:spcPts val="0"/>
              </a:spcAft>
              <a:buSzPts val="12000"/>
              <a:buNone/>
              <a:defRPr sz="12000"/>
            </a:lvl6pPr>
            <a:lvl7pPr lvl="6" algn="ctr">
              <a:spcBef>
                <a:spcPts val="0"/>
              </a:spcBef>
              <a:spcAft>
                <a:spcPts val="0"/>
              </a:spcAft>
              <a:buSzPts val="12000"/>
              <a:buNone/>
              <a:defRPr sz="12000"/>
            </a:lvl7pPr>
            <a:lvl8pPr lvl="7" algn="ctr">
              <a:spcBef>
                <a:spcPts val="0"/>
              </a:spcBef>
              <a:spcAft>
                <a:spcPts val="0"/>
              </a:spcAft>
              <a:buSzPts val="12000"/>
              <a:buNone/>
              <a:defRPr sz="12000"/>
            </a:lvl8pPr>
            <a:lvl9pPr lvl="8" algn="ctr">
              <a:spcBef>
                <a:spcPts val="0"/>
              </a:spcBef>
              <a:spcAft>
                <a:spcPts val="0"/>
              </a:spcAft>
              <a:buSzPts val="12000"/>
              <a:buNone/>
              <a:defRPr sz="12000"/>
            </a:lvl9pPr>
          </a:lstStyle>
          <a:p>
            <a:r>
              <a:t>xx%</a:t>
            </a:r>
          </a:p>
        </p:txBody>
      </p:sp>
      <p:sp>
        <p:nvSpPr>
          <p:cNvPr id="46" name="Google Shape;46;p11"/>
          <p:cNvSpPr txBox="1"/>
          <p:nvPr>
            <p:ph idx="1" type="body"/>
          </p:nvPr>
        </p:nvSpPr>
        <p:spPr>
          <a:xfrm>
            <a:off x="311700" y="3152225"/>
            <a:ext cx="8520600" cy="1300800"/>
          </a:xfrm>
          <a:prstGeom prst="rect">
            <a:avLst/>
          </a:prstGeom>
        </p:spPr>
        <p:txBody>
          <a:bodyPr anchorCtr="0" anchor="t" bIns="91425" lIns="91425" spcFirstLastPara="1" rIns="91425" wrap="square" tIns="91425">
            <a:normAutofit/>
          </a:bodyPr>
          <a:lstStyle>
            <a:lvl1pPr indent="-342900" lvl="0" marL="457200" algn="ctr">
              <a:spcBef>
                <a:spcPts val="0"/>
              </a:spcBef>
              <a:spcAft>
                <a:spcPts val="0"/>
              </a:spcAft>
              <a:buSzPts val="1800"/>
              <a:buChar char="●"/>
              <a:defRPr/>
            </a:lvl1pPr>
            <a:lvl2pPr indent="-317500" lvl="1" marL="914400" algn="ctr">
              <a:spcBef>
                <a:spcPts val="0"/>
              </a:spcBef>
              <a:spcAft>
                <a:spcPts val="0"/>
              </a:spcAft>
              <a:buSzPts val="1400"/>
              <a:buChar char="○"/>
              <a:defRPr/>
            </a:lvl2pPr>
            <a:lvl3pPr indent="-317500" lvl="2" marL="1371600" algn="ctr">
              <a:spcBef>
                <a:spcPts val="0"/>
              </a:spcBef>
              <a:spcAft>
                <a:spcPts val="0"/>
              </a:spcAft>
              <a:buSzPts val="1400"/>
              <a:buChar char="■"/>
              <a:defRPr/>
            </a:lvl3pPr>
            <a:lvl4pPr indent="-317500" lvl="3" marL="1828800" algn="ctr">
              <a:spcBef>
                <a:spcPts val="0"/>
              </a:spcBef>
              <a:spcAft>
                <a:spcPts val="0"/>
              </a:spcAft>
              <a:buSzPts val="1400"/>
              <a:buChar char="●"/>
              <a:defRPr/>
            </a:lvl4pPr>
            <a:lvl5pPr indent="-317500" lvl="4" marL="2286000" algn="ctr">
              <a:spcBef>
                <a:spcPts val="0"/>
              </a:spcBef>
              <a:spcAft>
                <a:spcPts val="0"/>
              </a:spcAft>
              <a:buSzPts val="1400"/>
              <a:buChar char="○"/>
              <a:defRPr/>
            </a:lvl5pPr>
            <a:lvl6pPr indent="-317500" lvl="5" marL="2743200" algn="ctr">
              <a:spcBef>
                <a:spcPts val="0"/>
              </a:spcBef>
              <a:spcAft>
                <a:spcPts val="0"/>
              </a:spcAft>
              <a:buSzPts val="1400"/>
              <a:buChar char="■"/>
              <a:defRPr/>
            </a:lvl6pPr>
            <a:lvl7pPr indent="-317500" lvl="6" marL="3200400" algn="ctr">
              <a:spcBef>
                <a:spcPts val="0"/>
              </a:spcBef>
              <a:spcAft>
                <a:spcPts val="0"/>
              </a:spcAft>
              <a:buSzPts val="1400"/>
              <a:buChar char="●"/>
              <a:defRPr/>
            </a:lvl7pPr>
            <a:lvl8pPr indent="-317500" lvl="7" marL="3657600" algn="ctr">
              <a:spcBef>
                <a:spcPts val="0"/>
              </a:spcBef>
              <a:spcAft>
                <a:spcPts val="0"/>
              </a:spcAft>
              <a:buSzPts val="1400"/>
              <a:buChar char="○"/>
              <a:defRPr/>
            </a:lvl8pPr>
            <a:lvl9pPr indent="-317500" lvl="8" marL="4114800" algn="ctr">
              <a:spcBef>
                <a:spcPts val="0"/>
              </a:spcBef>
              <a:spcAft>
                <a:spcPts val="0"/>
              </a:spcAft>
              <a:buSzPts val="1400"/>
              <a:buChar char="■"/>
              <a:defRPr/>
            </a:lvl9pPr>
          </a:lstStyle>
          <a:p/>
        </p:txBody>
      </p:sp>
      <p:sp>
        <p:nvSpPr>
          <p:cNvPr id="47" name="Google Shape;47;p11"/>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pt-BR"/>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48" name="Shape 48"/>
        <p:cNvGrpSpPr/>
        <p:nvPr/>
      </p:nvGrpSpPr>
      <p:grpSpPr>
        <a:xfrm>
          <a:off x="0" y="0"/>
          <a:ext cx="0" cy="0"/>
          <a:chOff x="0" y="0"/>
          <a:chExt cx="0" cy="0"/>
        </a:xfrm>
      </p:grpSpPr>
      <p:sp>
        <p:nvSpPr>
          <p:cNvPr id="49" name="Google Shape;49;p1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pt-BR"/>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1.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chemeClr val="lt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a:spcBef>
                <a:spcPts val="0"/>
              </a:spcBef>
              <a:spcAft>
                <a:spcPts val="0"/>
              </a:spcAft>
              <a:buClr>
                <a:schemeClr val="dk1"/>
              </a:buClr>
              <a:buSzPts val="2800"/>
              <a:buNone/>
              <a:defRPr sz="2800">
                <a:solidFill>
                  <a:schemeClr val="dk1"/>
                </a:solidFill>
              </a:defRPr>
            </a:lvl1pPr>
            <a:lvl2pPr lvl="1">
              <a:spcBef>
                <a:spcPts val="0"/>
              </a:spcBef>
              <a:spcAft>
                <a:spcPts val="0"/>
              </a:spcAft>
              <a:buClr>
                <a:schemeClr val="dk1"/>
              </a:buClr>
              <a:buSzPts val="2800"/>
              <a:buNone/>
              <a:defRPr sz="2800">
                <a:solidFill>
                  <a:schemeClr val="dk1"/>
                </a:solidFill>
              </a:defRPr>
            </a:lvl2pPr>
            <a:lvl3pPr lvl="2">
              <a:spcBef>
                <a:spcPts val="0"/>
              </a:spcBef>
              <a:spcAft>
                <a:spcPts val="0"/>
              </a:spcAft>
              <a:buClr>
                <a:schemeClr val="dk1"/>
              </a:buClr>
              <a:buSzPts val="2800"/>
              <a:buNone/>
              <a:defRPr sz="2800">
                <a:solidFill>
                  <a:schemeClr val="dk1"/>
                </a:solidFill>
              </a:defRPr>
            </a:lvl3pPr>
            <a:lvl4pPr lvl="3">
              <a:spcBef>
                <a:spcPts val="0"/>
              </a:spcBef>
              <a:spcAft>
                <a:spcPts val="0"/>
              </a:spcAft>
              <a:buClr>
                <a:schemeClr val="dk1"/>
              </a:buClr>
              <a:buSzPts val="2800"/>
              <a:buNone/>
              <a:defRPr sz="2800">
                <a:solidFill>
                  <a:schemeClr val="dk1"/>
                </a:solidFill>
              </a:defRPr>
            </a:lvl4pPr>
            <a:lvl5pPr lvl="4">
              <a:spcBef>
                <a:spcPts val="0"/>
              </a:spcBef>
              <a:spcAft>
                <a:spcPts val="0"/>
              </a:spcAft>
              <a:buClr>
                <a:schemeClr val="dk1"/>
              </a:buClr>
              <a:buSzPts val="2800"/>
              <a:buNone/>
              <a:defRPr sz="2800">
                <a:solidFill>
                  <a:schemeClr val="dk1"/>
                </a:solidFill>
              </a:defRPr>
            </a:lvl5pPr>
            <a:lvl6pPr lvl="5">
              <a:spcBef>
                <a:spcPts val="0"/>
              </a:spcBef>
              <a:spcAft>
                <a:spcPts val="0"/>
              </a:spcAft>
              <a:buClr>
                <a:schemeClr val="dk1"/>
              </a:buClr>
              <a:buSzPts val="2800"/>
              <a:buNone/>
              <a:defRPr sz="2800">
                <a:solidFill>
                  <a:schemeClr val="dk1"/>
                </a:solidFill>
              </a:defRPr>
            </a:lvl6pPr>
            <a:lvl7pPr lvl="6">
              <a:spcBef>
                <a:spcPts val="0"/>
              </a:spcBef>
              <a:spcAft>
                <a:spcPts val="0"/>
              </a:spcAft>
              <a:buClr>
                <a:schemeClr val="dk1"/>
              </a:buClr>
              <a:buSzPts val="2800"/>
              <a:buNone/>
              <a:defRPr sz="2800">
                <a:solidFill>
                  <a:schemeClr val="dk1"/>
                </a:solidFill>
              </a:defRPr>
            </a:lvl7pPr>
            <a:lvl8pPr lvl="7">
              <a:spcBef>
                <a:spcPts val="0"/>
              </a:spcBef>
              <a:spcAft>
                <a:spcPts val="0"/>
              </a:spcAft>
              <a:buClr>
                <a:schemeClr val="dk1"/>
              </a:buClr>
              <a:buSzPts val="2800"/>
              <a:buNone/>
              <a:defRPr sz="2800">
                <a:solidFill>
                  <a:schemeClr val="dk1"/>
                </a:solidFill>
              </a:defRPr>
            </a:lvl8pPr>
            <a:lvl9pPr lvl="8">
              <a:spcBef>
                <a:spcPts val="0"/>
              </a:spcBef>
              <a:spcAft>
                <a:spcPts val="0"/>
              </a:spcAft>
              <a:buClr>
                <a:schemeClr val="dk1"/>
              </a:buClr>
              <a:buSzPts val="2800"/>
              <a:buNone/>
              <a:defRPr sz="2800">
                <a:solidFill>
                  <a:schemeClr val="dk1"/>
                </a:solidFill>
              </a:defRPr>
            </a:lvl9pPr>
          </a:lstStyle>
          <a:p/>
        </p:txBody>
      </p:sp>
      <p:sp>
        <p:nvSpPr>
          <p:cNvPr id="7" name="Google Shape;7;p1"/>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rmAutofit/>
          </a:bodyPr>
          <a:lstStyle>
            <a:lvl1pPr indent="-342900" lvl="0" marL="457200">
              <a:lnSpc>
                <a:spcPct val="115000"/>
              </a:lnSpc>
              <a:spcBef>
                <a:spcPts val="0"/>
              </a:spcBef>
              <a:spcAft>
                <a:spcPts val="0"/>
              </a:spcAft>
              <a:buClr>
                <a:schemeClr val="dk2"/>
              </a:buClr>
              <a:buSzPts val="1800"/>
              <a:buChar char="●"/>
              <a:defRPr sz="1800">
                <a:solidFill>
                  <a:schemeClr val="dk2"/>
                </a:solidFill>
              </a:defRPr>
            </a:lvl1pPr>
            <a:lvl2pPr indent="-317500" lvl="1" marL="914400">
              <a:lnSpc>
                <a:spcPct val="115000"/>
              </a:lnSpc>
              <a:spcBef>
                <a:spcPts val="0"/>
              </a:spcBef>
              <a:spcAft>
                <a:spcPts val="0"/>
              </a:spcAft>
              <a:buClr>
                <a:schemeClr val="dk2"/>
              </a:buClr>
              <a:buSzPts val="1400"/>
              <a:buChar char="○"/>
              <a:defRPr>
                <a:solidFill>
                  <a:schemeClr val="dk2"/>
                </a:solidFill>
              </a:defRPr>
            </a:lvl2pPr>
            <a:lvl3pPr indent="-317500" lvl="2" marL="1371600">
              <a:lnSpc>
                <a:spcPct val="115000"/>
              </a:lnSpc>
              <a:spcBef>
                <a:spcPts val="0"/>
              </a:spcBef>
              <a:spcAft>
                <a:spcPts val="0"/>
              </a:spcAft>
              <a:buClr>
                <a:schemeClr val="dk2"/>
              </a:buClr>
              <a:buSzPts val="1400"/>
              <a:buChar char="■"/>
              <a:defRPr>
                <a:solidFill>
                  <a:schemeClr val="dk2"/>
                </a:solidFill>
              </a:defRPr>
            </a:lvl3pPr>
            <a:lvl4pPr indent="-317500" lvl="3" marL="1828800">
              <a:lnSpc>
                <a:spcPct val="115000"/>
              </a:lnSpc>
              <a:spcBef>
                <a:spcPts val="0"/>
              </a:spcBef>
              <a:spcAft>
                <a:spcPts val="0"/>
              </a:spcAft>
              <a:buClr>
                <a:schemeClr val="dk2"/>
              </a:buClr>
              <a:buSzPts val="1400"/>
              <a:buChar char="●"/>
              <a:defRPr>
                <a:solidFill>
                  <a:schemeClr val="dk2"/>
                </a:solidFill>
              </a:defRPr>
            </a:lvl4pPr>
            <a:lvl5pPr indent="-317500" lvl="4" marL="2286000">
              <a:lnSpc>
                <a:spcPct val="115000"/>
              </a:lnSpc>
              <a:spcBef>
                <a:spcPts val="0"/>
              </a:spcBef>
              <a:spcAft>
                <a:spcPts val="0"/>
              </a:spcAft>
              <a:buClr>
                <a:schemeClr val="dk2"/>
              </a:buClr>
              <a:buSzPts val="1400"/>
              <a:buChar char="○"/>
              <a:defRPr>
                <a:solidFill>
                  <a:schemeClr val="dk2"/>
                </a:solidFill>
              </a:defRPr>
            </a:lvl5pPr>
            <a:lvl6pPr indent="-317500" lvl="5" marL="2743200">
              <a:lnSpc>
                <a:spcPct val="115000"/>
              </a:lnSpc>
              <a:spcBef>
                <a:spcPts val="0"/>
              </a:spcBef>
              <a:spcAft>
                <a:spcPts val="0"/>
              </a:spcAft>
              <a:buClr>
                <a:schemeClr val="dk2"/>
              </a:buClr>
              <a:buSzPts val="1400"/>
              <a:buChar char="■"/>
              <a:defRPr>
                <a:solidFill>
                  <a:schemeClr val="dk2"/>
                </a:solidFill>
              </a:defRPr>
            </a:lvl6pPr>
            <a:lvl7pPr indent="-317500" lvl="6" marL="3200400">
              <a:lnSpc>
                <a:spcPct val="115000"/>
              </a:lnSpc>
              <a:spcBef>
                <a:spcPts val="0"/>
              </a:spcBef>
              <a:spcAft>
                <a:spcPts val="0"/>
              </a:spcAft>
              <a:buClr>
                <a:schemeClr val="dk2"/>
              </a:buClr>
              <a:buSzPts val="1400"/>
              <a:buChar char="●"/>
              <a:defRPr>
                <a:solidFill>
                  <a:schemeClr val="dk2"/>
                </a:solidFill>
              </a:defRPr>
            </a:lvl7pPr>
            <a:lvl8pPr indent="-317500" lvl="7" marL="3657600">
              <a:lnSpc>
                <a:spcPct val="115000"/>
              </a:lnSpc>
              <a:spcBef>
                <a:spcPts val="0"/>
              </a:spcBef>
              <a:spcAft>
                <a:spcPts val="0"/>
              </a:spcAft>
              <a:buClr>
                <a:schemeClr val="dk2"/>
              </a:buClr>
              <a:buSzPts val="1400"/>
              <a:buChar char="○"/>
              <a:defRPr>
                <a:solidFill>
                  <a:schemeClr val="dk2"/>
                </a:solidFill>
              </a:defRPr>
            </a:lvl8pPr>
            <a:lvl9pPr indent="-317500" lvl="8" marL="4114800">
              <a:lnSpc>
                <a:spcPct val="115000"/>
              </a:lnSpc>
              <a:spcBef>
                <a:spcPts val="0"/>
              </a:spcBef>
              <a:spcAft>
                <a:spcPts val="0"/>
              </a:spcAft>
              <a:buClr>
                <a:schemeClr val="dk2"/>
              </a:buClr>
              <a:buSzPts val="1400"/>
              <a:buChar char="■"/>
              <a:defRPr>
                <a:solidFill>
                  <a:schemeClr val="dk2"/>
                </a:solidFill>
              </a:defRPr>
            </a:lvl9pPr>
          </a:lstStyle>
          <a:p/>
        </p:txBody>
      </p:sp>
      <p:sp>
        <p:nvSpPr>
          <p:cNvPr id="8" name="Google Shape;8;p1"/>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lvl="0" algn="r">
              <a:buNone/>
              <a:defRPr sz="1000">
                <a:solidFill>
                  <a:schemeClr val="dk2"/>
                </a:solidFill>
              </a:defRPr>
            </a:lvl1pPr>
            <a:lvl2pPr lvl="1" algn="r">
              <a:buNone/>
              <a:defRPr sz="1000">
                <a:solidFill>
                  <a:schemeClr val="dk2"/>
                </a:solidFill>
              </a:defRPr>
            </a:lvl2pPr>
            <a:lvl3pPr lvl="2" algn="r">
              <a:buNone/>
              <a:defRPr sz="1000">
                <a:solidFill>
                  <a:schemeClr val="dk2"/>
                </a:solidFill>
              </a:defRPr>
            </a:lvl3pPr>
            <a:lvl4pPr lvl="3" algn="r">
              <a:buNone/>
              <a:defRPr sz="1000">
                <a:solidFill>
                  <a:schemeClr val="dk2"/>
                </a:solidFill>
              </a:defRPr>
            </a:lvl4pPr>
            <a:lvl5pPr lvl="4" algn="r">
              <a:buNone/>
              <a:defRPr sz="1000">
                <a:solidFill>
                  <a:schemeClr val="dk2"/>
                </a:solidFill>
              </a:defRPr>
            </a:lvl5pPr>
            <a:lvl6pPr lvl="5" algn="r">
              <a:buNone/>
              <a:defRPr sz="1000">
                <a:solidFill>
                  <a:schemeClr val="dk2"/>
                </a:solidFill>
              </a:defRPr>
            </a:lvl6pPr>
            <a:lvl7pPr lvl="6" algn="r">
              <a:buNone/>
              <a:defRPr sz="1000">
                <a:solidFill>
                  <a:schemeClr val="dk2"/>
                </a:solidFill>
              </a:defRPr>
            </a:lvl7pPr>
            <a:lvl8pPr lvl="7" algn="r">
              <a:buNone/>
              <a:defRPr sz="1000">
                <a:solidFill>
                  <a:schemeClr val="dk2"/>
                </a:solidFill>
              </a:defRPr>
            </a:lvl8pPr>
            <a:lvl9pPr lvl="8" algn="r">
              <a:buNone/>
              <a:defRPr sz="1000">
                <a:solidFill>
                  <a:schemeClr val="dk2"/>
                </a:solidFill>
              </a:defRPr>
            </a:lvl9pPr>
          </a:lstStyle>
          <a:p>
            <a:pPr indent="0" lvl="0" marL="0" rtl="0" algn="r">
              <a:spcBef>
                <a:spcPts val="0"/>
              </a:spcBef>
              <a:spcAft>
                <a:spcPts val="0"/>
              </a:spcAft>
              <a:buNone/>
            </a:pPr>
            <a:fld id="{00000000-1234-1234-1234-123412341234}" type="slidenum">
              <a:rPr lang="pt-BR"/>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8.xml"/><Relationship Id="rId3" Type="http://schemas.openxmlformats.org/officeDocument/2006/relationships/image" Target="../media/image1.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6.xml"/><Relationship Id="rId3" Type="http://schemas.openxmlformats.org/officeDocument/2006/relationships/image" Target="../media/image2.png"/></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0.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53" name="Shape 53"/>
        <p:cNvGrpSpPr/>
        <p:nvPr/>
      </p:nvGrpSpPr>
      <p:grpSpPr>
        <a:xfrm>
          <a:off x="0" y="0"/>
          <a:ext cx="0" cy="0"/>
          <a:chOff x="0" y="0"/>
          <a:chExt cx="0" cy="0"/>
        </a:xfrm>
      </p:grpSpPr>
      <p:sp>
        <p:nvSpPr>
          <p:cNvPr id="54" name="Google Shape;54;p13"/>
          <p:cNvSpPr txBox="1"/>
          <p:nvPr>
            <p:ph type="ctrTitle"/>
          </p:nvPr>
        </p:nvSpPr>
        <p:spPr>
          <a:xfrm>
            <a:off x="311708" y="744575"/>
            <a:ext cx="8520600" cy="2052600"/>
          </a:xfrm>
          <a:prstGeom prst="rect">
            <a:avLst/>
          </a:prstGeom>
        </p:spPr>
        <p:txBody>
          <a:bodyPr anchorCtr="0" anchor="b" bIns="91425" lIns="91425" spcFirstLastPara="1" rIns="91425" wrap="square" tIns="91425">
            <a:normAutofit/>
          </a:bodyPr>
          <a:lstStyle/>
          <a:p>
            <a:pPr indent="0" lvl="0" marL="0" rtl="0" algn="ctr">
              <a:spcBef>
                <a:spcPts val="0"/>
              </a:spcBef>
              <a:spcAft>
                <a:spcPts val="0"/>
              </a:spcAft>
              <a:buNone/>
            </a:pPr>
            <a:r>
              <a:rPr lang="pt-BR">
                <a:latin typeface="Times New Roman"/>
                <a:ea typeface="Times New Roman"/>
                <a:cs typeface="Times New Roman"/>
                <a:sym typeface="Times New Roman"/>
              </a:rPr>
              <a:t>Transport Layer</a:t>
            </a:r>
            <a:endParaRPr>
              <a:latin typeface="Times New Roman"/>
              <a:ea typeface="Times New Roman"/>
              <a:cs typeface="Times New Roman"/>
              <a:sym typeface="Times New Roman"/>
            </a:endParaRPr>
          </a:p>
        </p:txBody>
      </p:sp>
      <p:sp>
        <p:nvSpPr>
          <p:cNvPr id="55" name="Google Shape;55;p13"/>
          <p:cNvSpPr txBox="1"/>
          <p:nvPr>
            <p:ph idx="1" type="subTitle"/>
          </p:nvPr>
        </p:nvSpPr>
        <p:spPr>
          <a:xfrm>
            <a:off x="311700" y="3423200"/>
            <a:ext cx="8520600" cy="1094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SzPts val="770"/>
              <a:buNone/>
            </a:pPr>
            <a:r>
              <a:rPr lang="pt-BR" sz="1960">
                <a:solidFill>
                  <a:schemeClr val="dk1"/>
                </a:solidFill>
                <a:latin typeface="Times New Roman"/>
                <a:ea typeface="Times New Roman"/>
                <a:cs typeface="Times New Roman"/>
                <a:sym typeface="Times New Roman"/>
              </a:rPr>
              <a:t>Integrantes:</a:t>
            </a:r>
            <a:endParaRPr sz="1960">
              <a:solidFill>
                <a:schemeClr val="dk1"/>
              </a:solidFill>
              <a:latin typeface="Times New Roman"/>
              <a:ea typeface="Times New Roman"/>
              <a:cs typeface="Times New Roman"/>
              <a:sym typeface="Times New Roman"/>
            </a:endParaRPr>
          </a:p>
          <a:p>
            <a:pPr indent="0" lvl="0" marL="0" rtl="0" algn="l">
              <a:spcBef>
                <a:spcPts val="0"/>
              </a:spcBef>
              <a:spcAft>
                <a:spcPts val="0"/>
              </a:spcAft>
              <a:buSzPts val="770"/>
              <a:buNone/>
            </a:pPr>
            <a:r>
              <a:rPr lang="pt-BR" sz="1960">
                <a:solidFill>
                  <a:schemeClr val="dk1"/>
                </a:solidFill>
                <a:latin typeface="Times New Roman"/>
                <a:ea typeface="Times New Roman"/>
                <a:cs typeface="Times New Roman"/>
                <a:sym typeface="Times New Roman"/>
              </a:rPr>
              <a:t>Lucas do Nascimento Macedo		       lucasnascimento77@hotmail.com	</a:t>
            </a:r>
            <a:endParaRPr sz="1960">
              <a:solidFill>
                <a:schemeClr val="dk1"/>
              </a:solidFill>
              <a:latin typeface="Times New Roman"/>
              <a:ea typeface="Times New Roman"/>
              <a:cs typeface="Times New Roman"/>
              <a:sym typeface="Times New Roman"/>
            </a:endParaRPr>
          </a:p>
          <a:p>
            <a:pPr indent="0" lvl="0" marL="0" rtl="0" algn="l">
              <a:spcBef>
                <a:spcPts val="0"/>
              </a:spcBef>
              <a:spcAft>
                <a:spcPts val="0"/>
              </a:spcAft>
              <a:buSzPts val="770"/>
              <a:buNone/>
            </a:pPr>
            <a:r>
              <a:rPr lang="pt-BR" sz="1960">
                <a:solidFill>
                  <a:schemeClr val="dk1"/>
                </a:solidFill>
                <a:latin typeface="Times New Roman"/>
                <a:ea typeface="Times New Roman"/>
                <a:cs typeface="Times New Roman"/>
                <a:sym typeface="Times New Roman"/>
              </a:rPr>
              <a:t>Miguel Sanches Rocha				miguel.sanches98b@gmail.com	</a:t>
            </a:r>
            <a:endParaRPr sz="1960">
              <a:solidFill>
                <a:schemeClr val="dk1"/>
              </a:solidFill>
              <a:latin typeface="Times New Roman"/>
              <a:ea typeface="Times New Roman"/>
              <a:cs typeface="Times New Roman"/>
              <a:sym typeface="Times New Roman"/>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9" name="Shape 59"/>
        <p:cNvGrpSpPr/>
        <p:nvPr/>
      </p:nvGrpSpPr>
      <p:grpSpPr>
        <a:xfrm>
          <a:off x="0" y="0"/>
          <a:ext cx="0" cy="0"/>
          <a:chOff x="0" y="0"/>
          <a:chExt cx="0" cy="0"/>
        </a:xfrm>
      </p:grpSpPr>
      <p:sp>
        <p:nvSpPr>
          <p:cNvPr id="60" name="Google Shape;60;p14"/>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ctr">
              <a:spcBef>
                <a:spcPts val="0"/>
              </a:spcBef>
              <a:spcAft>
                <a:spcPts val="0"/>
              </a:spcAft>
              <a:buNone/>
            </a:pPr>
            <a:r>
              <a:rPr lang="pt-BR">
                <a:latin typeface="Times New Roman"/>
                <a:ea typeface="Times New Roman"/>
                <a:cs typeface="Times New Roman"/>
                <a:sym typeface="Times New Roman"/>
              </a:rPr>
              <a:t>Sumário</a:t>
            </a:r>
            <a:endParaRPr>
              <a:latin typeface="Times New Roman"/>
              <a:ea typeface="Times New Roman"/>
              <a:cs typeface="Times New Roman"/>
              <a:sym typeface="Times New Roman"/>
            </a:endParaRPr>
          </a:p>
        </p:txBody>
      </p:sp>
      <p:sp>
        <p:nvSpPr>
          <p:cNvPr id="61" name="Google Shape;61;p14"/>
          <p:cNvSpPr txBox="1"/>
          <p:nvPr>
            <p:ph idx="1" type="body"/>
          </p:nvPr>
        </p:nvSpPr>
        <p:spPr>
          <a:xfrm>
            <a:off x="311700" y="1152475"/>
            <a:ext cx="8520600" cy="3730800"/>
          </a:xfrm>
          <a:prstGeom prst="rect">
            <a:avLst/>
          </a:prstGeom>
        </p:spPr>
        <p:txBody>
          <a:bodyPr anchorCtr="0" anchor="t" bIns="91425" lIns="91425" spcFirstLastPara="1" rIns="91425" wrap="square" tIns="91425">
            <a:noAutofit/>
          </a:bodyPr>
          <a:lstStyle/>
          <a:p>
            <a:pPr indent="-342900" lvl="0" marL="457200" rtl="0" algn="l">
              <a:spcBef>
                <a:spcPts val="0"/>
              </a:spcBef>
              <a:spcAft>
                <a:spcPts val="0"/>
              </a:spcAft>
              <a:buClr>
                <a:schemeClr val="dk1"/>
              </a:buClr>
              <a:buSzPts val="1800"/>
              <a:buFont typeface="Times New Roman"/>
              <a:buChar char="●"/>
            </a:pPr>
            <a:r>
              <a:rPr lang="pt-BR">
                <a:solidFill>
                  <a:schemeClr val="dk1"/>
                </a:solidFill>
                <a:latin typeface="Times New Roman"/>
                <a:ea typeface="Times New Roman"/>
                <a:cs typeface="Times New Roman"/>
                <a:sym typeface="Times New Roman"/>
              </a:rPr>
              <a:t>6.1 - Questões de design da camada de transporte</a:t>
            </a:r>
            <a:endParaRPr>
              <a:solidFill>
                <a:schemeClr val="dk1"/>
              </a:solidFill>
              <a:latin typeface="Times New Roman"/>
              <a:ea typeface="Times New Roman"/>
              <a:cs typeface="Times New Roman"/>
              <a:sym typeface="Times New Roman"/>
            </a:endParaRPr>
          </a:p>
          <a:p>
            <a:pPr indent="-342900" lvl="1" marL="914400" rtl="0" algn="l">
              <a:spcBef>
                <a:spcPts val="0"/>
              </a:spcBef>
              <a:spcAft>
                <a:spcPts val="0"/>
              </a:spcAft>
              <a:buClr>
                <a:schemeClr val="dk1"/>
              </a:buClr>
              <a:buSzPts val="1800"/>
              <a:buFont typeface="Times New Roman"/>
              <a:buChar char="○"/>
            </a:pPr>
            <a:r>
              <a:rPr lang="pt-BR" sz="1800">
                <a:solidFill>
                  <a:schemeClr val="dk1"/>
                </a:solidFill>
                <a:latin typeface="Times New Roman"/>
                <a:ea typeface="Times New Roman"/>
                <a:cs typeface="Times New Roman"/>
                <a:sym typeface="Times New Roman"/>
              </a:rPr>
              <a:t>6.1.1 - </a:t>
            </a:r>
            <a:r>
              <a:rPr lang="pt-BR" sz="1800">
                <a:solidFill>
                  <a:schemeClr val="dk1"/>
                </a:solidFill>
                <a:latin typeface="Times New Roman"/>
                <a:ea typeface="Times New Roman"/>
                <a:cs typeface="Times New Roman"/>
                <a:sym typeface="Times New Roman"/>
              </a:rPr>
              <a:t>Serviços</a:t>
            </a:r>
            <a:r>
              <a:rPr lang="pt-BR" sz="1800">
                <a:solidFill>
                  <a:schemeClr val="dk1"/>
                </a:solidFill>
                <a:latin typeface="Times New Roman"/>
                <a:ea typeface="Times New Roman"/>
                <a:cs typeface="Times New Roman"/>
                <a:sym typeface="Times New Roman"/>
              </a:rPr>
              <a:t> prestados à camada de sessão</a:t>
            </a:r>
            <a:endParaRPr sz="1800">
              <a:solidFill>
                <a:schemeClr val="dk1"/>
              </a:solidFill>
              <a:latin typeface="Times New Roman"/>
              <a:ea typeface="Times New Roman"/>
              <a:cs typeface="Times New Roman"/>
              <a:sym typeface="Times New Roman"/>
            </a:endParaRPr>
          </a:p>
          <a:p>
            <a:pPr indent="-342900" lvl="1" marL="914400" rtl="0" algn="l">
              <a:spcBef>
                <a:spcPts val="0"/>
              </a:spcBef>
              <a:spcAft>
                <a:spcPts val="0"/>
              </a:spcAft>
              <a:buClr>
                <a:schemeClr val="dk1"/>
              </a:buClr>
              <a:buSzPts val="1800"/>
              <a:buFont typeface="Times New Roman"/>
              <a:buChar char="○"/>
            </a:pPr>
            <a:r>
              <a:rPr lang="pt-BR" sz="1800">
                <a:solidFill>
                  <a:schemeClr val="dk1"/>
                </a:solidFill>
                <a:latin typeface="Times New Roman"/>
                <a:ea typeface="Times New Roman"/>
                <a:cs typeface="Times New Roman"/>
                <a:sym typeface="Times New Roman"/>
              </a:rPr>
              <a:t>6.1.2 - Qualidade do serviço</a:t>
            </a:r>
            <a:endParaRPr sz="1800">
              <a:solidFill>
                <a:schemeClr val="dk1"/>
              </a:solidFill>
              <a:latin typeface="Times New Roman"/>
              <a:ea typeface="Times New Roman"/>
              <a:cs typeface="Times New Roman"/>
              <a:sym typeface="Times New Roman"/>
            </a:endParaRPr>
          </a:p>
          <a:p>
            <a:pPr indent="-342900" lvl="1" marL="914400" rtl="0" algn="l">
              <a:spcBef>
                <a:spcPts val="0"/>
              </a:spcBef>
              <a:spcAft>
                <a:spcPts val="0"/>
              </a:spcAft>
              <a:buClr>
                <a:schemeClr val="dk1"/>
              </a:buClr>
              <a:buSzPts val="1800"/>
              <a:buFont typeface="Times New Roman"/>
              <a:buChar char="○"/>
            </a:pPr>
            <a:r>
              <a:rPr lang="pt-BR" sz="1800">
                <a:solidFill>
                  <a:schemeClr val="dk1"/>
                </a:solidFill>
                <a:latin typeface="Times New Roman"/>
                <a:ea typeface="Times New Roman"/>
                <a:cs typeface="Times New Roman"/>
                <a:sym typeface="Times New Roman"/>
              </a:rPr>
              <a:t>6.1.3 - As primitivas de serviços de transporte OSI</a:t>
            </a:r>
            <a:endParaRPr sz="1800">
              <a:solidFill>
                <a:schemeClr val="dk1"/>
              </a:solidFill>
              <a:latin typeface="Times New Roman"/>
              <a:ea typeface="Times New Roman"/>
              <a:cs typeface="Times New Roman"/>
              <a:sym typeface="Times New Roman"/>
            </a:endParaRPr>
          </a:p>
          <a:p>
            <a:pPr indent="-342900" lvl="1" marL="914400" rtl="0" algn="l">
              <a:spcBef>
                <a:spcPts val="0"/>
              </a:spcBef>
              <a:spcAft>
                <a:spcPts val="0"/>
              </a:spcAft>
              <a:buClr>
                <a:schemeClr val="dk1"/>
              </a:buClr>
              <a:buSzPts val="1800"/>
              <a:buFont typeface="Times New Roman"/>
              <a:buChar char="○"/>
            </a:pPr>
            <a:r>
              <a:rPr lang="pt-BR" sz="1800">
                <a:solidFill>
                  <a:schemeClr val="dk1"/>
                </a:solidFill>
                <a:latin typeface="Times New Roman"/>
                <a:ea typeface="Times New Roman"/>
                <a:cs typeface="Times New Roman"/>
                <a:sym typeface="Times New Roman"/>
              </a:rPr>
              <a:t>6.1.4 - Protocolos de transporte</a:t>
            </a:r>
            <a:endParaRPr sz="1800">
              <a:solidFill>
                <a:schemeClr val="dk1"/>
              </a:solidFill>
              <a:latin typeface="Times New Roman"/>
              <a:ea typeface="Times New Roman"/>
              <a:cs typeface="Times New Roman"/>
              <a:sym typeface="Times New Roman"/>
            </a:endParaRPr>
          </a:p>
          <a:p>
            <a:pPr indent="-342900" lvl="1" marL="914400" rtl="0" algn="l">
              <a:spcBef>
                <a:spcPts val="0"/>
              </a:spcBef>
              <a:spcAft>
                <a:spcPts val="0"/>
              </a:spcAft>
              <a:buClr>
                <a:schemeClr val="dk1"/>
              </a:buClr>
              <a:buSzPts val="1800"/>
              <a:buFont typeface="Times New Roman"/>
              <a:buChar char="○"/>
            </a:pPr>
            <a:r>
              <a:rPr lang="pt-BR" sz="1800">
                <a:solidFill>
                  <a:schemeClr val="dk1"/>
                </a:solidFill>
                <a:latin typeface="Times New Roman"/>
                <a:ea typeface="Times New Roman"/>
                <a:cs typeface="Times New Roman"/>
                <a:sym typeface="Times New Roman"/>
              </a:rPr>
              <a:t>6.1.5 - Elementos de protocolos de transporte</a:t>
            </a:r>
            <a:endParaRPr sz="1800">
              <a:solidFill>
                <a:schemeClr val="dk1"/>
              </a:solidFill>
              <a:latin typeface="Times New Roman"/>
              <a:ea typeface="Times New Roman"/>
              <a:cs typeface="Times New Roman"/>
              <a:sym typeface="Times New Roman"/>
            </a:endParaRPr>
          </a:p>
          <a:p>
            <a:pPr indent="-342900" lvl="0" marL="457200" rtl="0" algn="l">
              <a:spcBef>
                <a:spcPts val="0"/>
              </a:spcBef>
              <a:spcAft>
                <a:spcPts val="0"/>
              </a:spcAft>
              <a:buClr>
                <a:schemeClr val="dk1"/>
              </a:buClr>
              <a:buSzPts val="1800"/>
              <a:buFont typeface="Times New Roman"/>
              <a:buChar char="●"/>
            </a:pPr>
            <a:r>
              <a:rPr lang="pt-BR">
                <a:solidFill>
                  <a:schemeClr val="dk1"/>
                </a:solidFill>
                <a:latin typeface="Times New Roman"/>
                <a:ea typeface="Times New Roman"/>
                <a:cs typeface="Times New Roman"/>
                <a:sym typeface="Times New Roman"/>
              </a:rPr>
              <a:t>6.2 - Gerenciamento de conexão</a:t>
            </a:r>
            <a:endParaRPr>
              <a:solidFill>
                <a:schemeClr val="dk1"/>
              </a:solidFill>
              <a:latin typeface="Times New Roman"/>
              <a:ea typeface="Times New Roman"/>
              <a:cs typeface="Times New Roman"/>
              <a:sym typeface="Times New Roman"/>
            </a:endParaRPr>
          </a:p>
          <a:p>
            <a:pPr indent="-342900" lvl="1" marL="914400" rtl="0" algn="l">
              <a:spcBef>
                <a:spcPts val="0"/>
              </a:spcBef>
              <a:spcAft>
                <a:spcPts val="0"/>
              </a:spcAft>
              <a:buClr>
                <a:schemeClr val="dk1"/>
              </a:buClr>
              <a:buSzPts val="1800"/>
              <a:buFont typeface="Times New Roman"/>
              <a:buChar char="○"/>
            </a:pPr>
            <a:r>
              <a:rPr lang="pt-BR" sz="1800">
                <a:solidFill>
                  <a:schemeClr val="dk1"/>
                </a:solidFill>
                <a:latin typeface="Times New Roman"/>
                <a:ea typeface="Times New Roman"/>
                <a:cs typeface="Times New Roman"/>
                <a:sym typeface="Times New Roman"/>
              </a:rPr>
              <a:t>6.2.1 - Endereçamento</a:t>
            </a:r>
            <a:endParaRPr sz="1800">
              <a:solidFill>
                <a:schemeClr val="dk1"/>
              </a:solidFill>
              <a:latin typeface="Times New Roman"/>
              <a:ea typeface="Times New Roman"/>
              <a:cs typeface="Times New Roman"/>
              <a:sym typeface="Times New Roman"/>
            </a:endParaRPr>
          </a:p>
          <a:p>
            <a:pPr indent="-342900" lvl="1" marL="914400" rtl="0" algn="l">
              <a:spcBef>
                <a:spcPts val="0"/>
              </a:spcBef>
              <a:spcAft>
                <a:spcPts val="0"/>
              </a:spcAft>
              <a:buClr>
                <a:schemeClr val="dk1"/>
              </a:buClr>
              <a:buSzPts val="1800"/>
              <a:buFont typeface="Times New Roman"/>
              <a:buChar char="○"/>
            </a:pPr>
            <a:r>
              <a:rPr lang="pt-BR" sz="1800">
                <a:solidFill>
                  <a:schemeClr val="dk1"/>
                </a:solidFill>
                <a:latin typeface="Times New Roman"/>
                <a:ea typeface="Times New Roman"/>
                <a:cs typeface="Times New Roman"/>
                <a:sym typeface="Times New Roman"/>
              </a:rPr>
              <a:t>6.2.2 - Estabelecendo uma conexão</a:t>
            </a:r>
            <a:endParaRPr sz="1800">
              <a:solidFill>
                <a:schemeClr val="dk1"/>
              </a:solidFill>
              <a:latin typeface="Times New Roman"/>
              <a:ea typeface="Times New Roman"/>
              <a:cs typeface="Times New Roman"/>
              <a:sym typeface="Times New Roman"/>
            </a:endParaRPr>
          </a:p>
          <a:p>
            <a:pPr indent="-342900" lvl="1" marL="914400" rtl="0" algn="l">
              <a:spcBef>
                <a:spcPts val="0"/>
              </a:spcBef>
              <a:spcAft>
                <a:spcPts val="0"/>
              </a:spcAft>
              <a:buClr>
                <a:schemeClr val="dk1"/>
              </a:buClr>
              <a:buSzPts val="1800"/>
              <a:buFont typeface="Times New Roman"/>
              <a:buChar char="○"/>
            </a:pPr>
            <a:r>
              <a:rPr lang="pt-BR" sz="1800">
                <a:solidFill>
                  <a:schemeClr val="dk1"/>
                </a:solidFill>
                <a:latin typeface="Times New Roman"/>
                <a:ea typeface="Times New Roman"/>
                <a:cs typeface="Times New Roman"/>
                <a:sym typeface="Times New Roman"/>
              </a:rPr>
              <a:t>6.2.3 -  Liberando a conexão</a:t>
            </a:r>
            <a:endParaRPr sz="1800">
              <a:solidFill>
                <a:schemeClr val="dk1"/>
              </a:solidFill>
              <a:latin typeface="Times New Roman"/>
              <a:ea typeface="Times New Roman"/>
              <a:cs typeface="Times New Roman"/>
              <a:sym typeface="Times New Roman"/>
            </a:endParaRPr>
          </a:p>
          <a:p>
            <a:pPr indent="-342900" lvl="1" marL="914400" rtl="0" algn="l">
              <a:spcBef>
                <a:spcPts val="0"/>
              </a:spcBef>
              <a:spcAft>
                <a:spcPts val="0"/>
              </a:spcAft>
              <a:buClr>
                <a:schemeClr val="dk1"/>
              </a:buClr>
              <a:buSzPts val="1800"/>
              <a:buFont typeface="Times New Roman"/>
              <a:buChar char="○"/>
            </a:pPr>
            <a:r>
              <a:rPr lang="pt-BR" sz="1800">
                <a:solidFill>
                  <a:schemeClr val="dk1"/>
                </a:solidFill>
                <a:latin typeface="Times New Roman"/>
                <a:ea typeface="Times New Roman"/>
                <a:cs typeface="Times New Roman"/>
                <a:sym typeface="Times New Roman"/>
              </a:rPr>
              <a:t>6.2.4 -  Gerenciamento da conexão baseado em contador</a:t>
            </a:r>
            <a:endParaRPr/>
          </a:p>
        </p:txBody>
      </p:sp>
      <p:sp>
        <p:nvSpPr>
          <p:cNvPr id="62" name="Google Shape;62;p14"/>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r>
              <a:rPr lang="pt-BR"/>
              <a:t>1</a:t>
            </a:r>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6" name="Shape 66"/>
        <p:cNvGrpSpPr/>
        <p:nvPr/>
      </p:nvGrpSpPr>
      <p:grpSpPr>
        <a:xfrm>
          <a:off x="0" y="0"/>
          <a:ext cx="0" cy="0"/>
          <a:chOff x="0" y="0"/>
          <a:chExt cx="0" cy="0"/>
        </a:xfrm>
      </p:grpSpPr>
      <p:sp>
        <p:nvSpPr>
          <p:cNvPr id="67" name="Google Shape;67;p15"/>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ctr">
              <a:spcBef>
                <a:spcPts val="0"/>
              </a:spcBef>
              <a:spcAft>
                <a:spcPts val="0"/>
              </a:spcAft>
              <a:buNone/>
            </a:pPr>
            <a:r>
              <a:rPr lang="pt-BR">
                <a:latin typeface="Times New Roman"/>
                <a:ea typeface="Times New Roman"/>
                <a:cs typeface="Times New Roman"/>
                <a:sym typeface="Times New Roman"/>
              </a:rPr>
              <a:t>Referências bibliográficas</a:t>
            </a:r>
            <a:endParaRPr>
              <a:latin typeface="Times New Roman"/>
              <a:ea typeface="Times New Roman"/>
              <a:cs typeface="Times New Roman"/>
              <a:sym typeface="Times New Roman"/>
            </a:endParaRPr>
          </a:p>
        </p:txBody>
      </p:sp>
      <p:sp>
        <p:nvSpPr>
          <p:cNvPr id="68" name="Google Shape;68;p15"/>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342900" lvl="0" marL="457200" rtl="0" algn="l">
              <a:spcBef>
                <a:spcPts val="0"/>
              </a:spcBef>
              <a:spcAft>
                <a:spcPts val="0"/>
              </a:spcAft>
              <a:buClr>
                <a:schemeClr val="dk1"/>
              </a:buClr>
              <a:buSzPts val="1800"/>
              <a:buFont typeface="Times New Roman"/>
              <a:buChar char="●"/>
            </a:pPr>
            <a:r>
              <a:rPr lang="pt-BR">
                <a:solidFill>
                  <a:schemeClr val="dk1"/>
                </a:solidFill>
                <a:highlight>
                  <a:schemeClr val="lt1"/>
                </a:highlight>
                <a:latin typeface="Times New Roman"/>
                <a:ea typeface="Times New Roman"/>
                <a:cs typeface="Times New Roman"/>
                <a:sym typeface="Times New Roman"/>
              </a:rPr>
              <a:t>Andrew S. Tanenbaum. 1988. Computer networks: 2nd edition. Prentice-Hall, Inc., USA.</a:t>
            </a:r>
            <a:endParaRPr>
              <a:solidFill>
                <a:schemeClr val="dk1"/>
              </a:solidFill>
              <a:highlight>
                <a:schemeClr val="lt1"/>
              </a:highlight>
              <a:latin typeface="Times New Roman"/>
              <a:ea typeface="Times New Roman"/>
              <a:cs typeface="Times New Roman"/>
              <a:sym typeface="Times New Roman"/>
            </a:endParaRPr>
          </a:p>
        </p:txBody>
      </p:sp>
      <p:sp>
        <p:nvSpPr>
          <p:cNvPr id="69" name="Google Shape;69;p15"/>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r>
              <a:rPr lang="pt-BR"/>
              <a:t>2</a:t>
            </a:r>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3" name="Shape 73"/>
        <p:cNvGrpSpPr/>
        <p:nvPr/>
      </p:nvGrpSpPr>
      <p:grpSpPr>
        <a:xfrm>
          <a:off x="0" y="0"/>
          <a:ext cx="0" cy="0"/>
          <a:chOff x="0" y="0"/>
          <a:chExt cx="0" cy="0"/>
        </a:xfrm>
      </p:grpSpPr>
      <p:sp>
        <p:nvSpPr>
          <p:cNvPr id="74" name="Google Shape;74;p16"/>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p>
            <a:pPr indent="-387350" lvl="0" marL="457200" rtl="0" algn="ctr">
              <a:lnSpc>
                <a:spcPct val="115000"/>
              </a:lnSpc>
              <a:spcBef>
                <a:spcPts val="0"/>
              </a:spcBef>
              <a:spcAft>
                <a:spcPts val="0"/>
              </a:spcAft>
              <a:buClr>
                <a:schemeClr val="dk1"/>
              </a:buClr>
              <a:buSzPts val="2500"/>
              <a:buFont typeface="Times New Roman"/>
              <a:buChar char="●"/>
            </a:pPr>
            <a:r>
              <a:rPr lang="pt-BR" sz="2500">
                <a:latin typeface="Times New Roman"/>
                <a:ea typeface="Times New Roman"/>
                <a:cs typeface="Times New Roman"/>
                <a:sym typeface="Times New Roman"/>
              </a:rPr>
              <a:t>6.1 - Questões de design da camada de transporte</a:t>
            </a:r>
            <a:endParaRPr sz="2500">
              <a:latin typeface="Times New Roman"/>
              <a:ea typeface="Times New Roman"/>
              <a:cs typeface="Times New Roman"/>
              <a:sym typeface="Times New Roman"/>
            </a:endParaRPr>
          </a:p>
        </p:txBody>
      </p:sp>
      <p:sp>
        <p:nvSpPr>
          <p:cNvPr id="75" name="Google Shape;75;p16"/>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342900" lvl="0" marL="457200" rtl="0" algn="l">
              <a:spcBef>
                <a:spcPts val="0"/>
              </a:spcBef>
              <a:spcAft>
                <a:spcPts val="0"/>
              </a:spcAft>
              <a:buClr>
                <a:schemeClr val="dk1"/>
              </a:buClr>
              <a:buSzPts val="1800"/>
              <a:buFont typeface="Times New Roman"/>
              <a:buChar char="●"/>
            </a:pPr>
            <a:r>
              <a:rPr lang="pt-BR">
                <a:solidFill>
                  <a:schemeClr val="dk1"/>
                </a:solidFill>
                <a:latin typeface="Times New Roman"/>
                <a:ea typeface="Times New Roman"/>
                <a:cs typeface="Times New Roman"/>
                <a:sym typeface="Times New Roman"/>
              </a:rPr>
              <a:t>Nesta divisão, são tratadas algumas questões que os profissionais envolvidos com desenvolvimento de camadas de transporte devem se ater.</a:t>
            </a:r>
            <a:endParaRPr>
              <a:solidFill>
                <a:schemeClr val="dk1"/>
              </a:solidFill>
              <a:latin typeface="Times New Roman"/>
              <a:ea typeface="Times New Roman"/>
              <a:cs typeface="Times New Roman"/>
              <a:sym typeface="Times New Roman"/>
            </a:endParaRPr>
          </a:p>
          <a:p>
            <a:pPr indent="-342900" lvl="0" marL="457200" rtl="0" algn="l">
              <a:spcBef>
                <a:spcPts val="0"/>
              </a:spcBef>
              <a:spcAft>
                <a:spcPts val="0"/>
              </a:spcAft>
              <a:buClr>
                <a:schemeClr val="dk1"/>
              </a:buClr>
              <a:buSzPts val="1800"/>
              <a:buFont typeface="Times New Roman"/>
              <a:buChar char="●"/>
            </a:pPr>
            <a:r>
              <a:rPr lang="pt-BR">
                <a:solidFill>
                  <a:schemeClr val="dk1"/>
                </a:solidFill>
                <a:latin typeface="Times New Roman"/>
                <a:ea typeface="Times New Roman"/>
                <a:cs typeface="Times New Roman"/>
                <a:sym typeface="Times New Roman"/>
              </a:rPr>
              <a:t>Elementos como o tipo de serviço prestado à camada de sessão, a qualidade deste serviço e as primitivas da camada de transporte fornecidas para a realização dos serviços serão discutidos.</a:t>
            </a:r>
            <a:endParaRPr>
              <a:solidFill>
                <a:schemeClr val="dk1"/>
              </a:solidFill>
              <a:latin typeface="Times New Roman"/>
              <a:ea typeface="Times New Roman"/>
              <a:cs typeface="Times New Roman"/>
              <a:sym typeface="Times New Roman"/>
            </a:endParaRPr>
          </a:p>
          <a:p>
            <a:pPr indent="-342900" lvl="0" marL="457200" rtl="0" algn="l">
              <a:spcBef>
                <a:spcPts val="0"/>
              </a:spcBef>
              <a:spcAft>
                <a:spcPts val="0"/>
              </a:spcAft>
              <a:buClr>
                <a:schemeClr val="dk1"/>
              </a:buClr>
              <a:buSzPts val="1800"/>
              <a:buFont typeface="Times New Roman"/>
              <a:buChar char="●"/>
            </a:pPr>
            <a:r>
              <a:rPr lang="pt-BR">
                <a:solidFill>
                  <a:schemeClr val="dk1"/>
                </a:solidFill>
                <a:latin typeface="Times New Roman"/>
                <a:ea typeface="Times New Roman"/>
                <a:cs typeface="Times New Roman"/>
                <a:sym typeface="Times New Roman"/>
              </a:rPr>
              <a:t>Ao final, será elaborada uma discussão acerca dos protocolos de transporte necessários para que todo o ambiente na camada de transporte e seus serviços, sejam implementados corretamente.</a:t>
            </a:r>
            <a:endParaRPr>
              <a:solidFill>
                <a:schemeClr val="dk1"/>
              </a:solidFill>
              <a:latin typeface="Times New Roman"/>
              <a:ea typeface="Times New Roman"/>
              <a:cs typeface="Times New Roman"/>
              <a:sym typeface="Times New Roman"/>
            </a:endParaRPr>
          </a:p>
        </p:txBody>
      </p:sp>
      <p:sp>
        <p:nvSpPr>
          <p:cNvPr id="76" name="Google Shape;76;p16"/>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r>
              <a:rPr lang="pt-BR"/>
              <a:t>3</a:t>
            </a:r>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0" name="Shape 80"/>
        <p:cNvGrpSpPr/>
        <p:nvPr/>
      </p:nvGrpSpPr>
      <p:grpSpPr>
        <a:xfrm>
          <a:off x="0" y="0"/>
          <a:ext cx="0" cy="0"/>
          <a:chOff x="0" y="0"/>
          <a:chExt cx="0" cy="0"/>
        </a:xfrm>
      </p:grpSpPr>
      <p:sp>
        <p:nvSpPr>
          <p:cNvPr id="81" name="Google Shape;81;p17"/>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p>
            <a:pPr indent="-387350" lvl="1" marL="914400" rtl="0" algn="l">
              <a:lnSpc>
                <a:spcPct val="115000"/>
              </a:lnSpc>
              <a:spcBef>
                <a:spcPts val="0"/>
              </a:spcBef>
              <a:spcAft>
                <a:spcPts val="0"/>
              </a:spcAft>
              <a:buClr>
                <a:schemeClr val="dk1"/>
              </a:buClr>
              <a:buSzPts val="2500"/>
              <a:buFont typeface="Times New Roman"/>
              <a:buChar char="○"/>
            </a:pPr>
            <a:r>
              <a:rPr lang="pt-BR" sz="2500">
                <a:latin typeface="Times New Roman"/>
                <a:ea typeface="Times New Roman"/>
                <a:cs typeface="Times New Roman"/>
                <a:sym typeface="Times New Roman"/>
              </a:rPr>
              <a:t>6.1.1 - Serviços prestados à camada de sessão</a:t>
            </a:r>
            <a:endParaRPr sz="2500">
              <a:latin typeface="Times New Roman"/>
              <a:ea typeface="Times New Roman"/>
              <a:cs typeface="Times New Roman"/>
              <a:sym typeface="Times New Roman"/>
            </a:endParaRPr>
          </a:p>
        </p:txBody>
      </p:sp>
      <p:sp>
        <p:nvSpPr>
          <p:cNvPr id="82" name="Google Shape;82;p17"/>
          <p:cNvSpPr txBox="1"/>
          <p:nvPr>
            <p:ph idx="1" type="body"/>
          </p:nvPr>
        </p:nvSpPr>
        <p:spPr>
          <a:xfrm>
            <a:off x="311700" y="1152475"/>
            <a:ext cx="8520600" cy="3780300"/>
          </a:xfrm>
          <a:prstGeom prst="rect">
            <a:avLst/>
          </a:prstGeom>
        </p:spPr>
        <p:txBody>
          <a:bodyPr anchorCtr="0" anchor="t" bIns="91425" lIns="91425" spcFirstLastPara="1" rIns="91425" wrap="square" tIns="91425">
            <a:normAutofit lnSpcReduction="20000"/>
          </a:bodyPr>
          <a:lstStyle/>
          <a:p>
            <a:pPr indent="-342900" lvl="0" marL="457200" rtl="0" algn="l">
              <a:spcBef>
                <a:spcPts val="0"/>
              </a:spcBef>
              <a:spcAft>
                <a:spcPts val="0"/>
              </a:spcAft>
              <a:buClr>
                <a:schemeClr val="dk1"/>
              </a:buClr>
              <a:buSzPts val="1800"/>
              <a:buFont typeface="Times New Roman"/>
              <a:buChar char="●"/>
            </a:pPr>
            <a:r>
              <a:rPr lang="pt-BR">
                <a:solidFill>
                  <a:schemeClr val="dk1"/>
                </a:solidFill>
                <a:latin typeface="Times New Roman"/>
                <a:ea typeface="Times New Roman"/>
                <a:cs typeface="Times New Roman"/>
                <a:sym typeface="Times New Roman"/>
              </a:rPr>
              <a:t>A grande tarefa atribuída à camada de transporte é a de fornecer serviços eficientes, confiáveis e com bom custo-benefício, </a:t>
            </a:r>
            <a:r>
              <a:rPr lang="pt-BR">
                <a:solidFill>
                  <a:schemeClr val="dk1"/>
                </a:solidFill>
                <a:latin typeface="Times New Roman"/>
                <a:ea typeface="Times New Roman"/>
                <a:cs typeface="Times New Roman"/>
                <a:sym typeface="Times New Roman"/>
              </a:rPr>
              <a:t>geralmente</a:t>
            </a:r>
            <a:r>
              <a:rPr lang="pt-BR">
                <a:solidFill>
                  <a:schemeClr val="dk1"/>
                </a:solidFill>
                <a:latin typeface="Times New Roman"/>
                <a:ea typeface="Times New Roman"/>
                <a:cs typeface="Times New Roman"/>
                <a:sym typeface="Times New Roman"/>
              </a:rPr>
              <a:t> para entidades da camada imediatamente superior (camada de sessão). Assim, a camada de transporte realiza o </a:t>
            </a:r>
            <a:r>
              <a:rPr lang="pt-BR">
                <a:solidFill>
                  <a:schemeClr val="dk1"/>
                </a:solidFill>
                <a:highlight>
                  <a:srgbClr val="FFFFFF"/>
                </a:highlight>
                <a:latin typeface="Times New Roman"/>
                <a:ea typeface="Times New Roman"/>
                <a:cs typeface="Times New Roman"/>
                <a:sym typeface="Times New Roman"/>
              </a:rPr>
              <a:t>transporte e regula o fluxo de informações da origem até o destino, de forma confiável e eficiente.</a:t>
            </a:r>
            <a:endParaRPr sz="2400">
              <a:solidFill>
                <a:schemeClr val="dk1"/>
              </a:solidFill>
              <a:latin typeface="Times New Roman"/>
              <a:ea typeface="Times New Roman"/>
              <a:cs typeface="Times New Roman"/>
              <a:sym typeface="Times New Roman"/>
            </a:endParaRPr>
          </a:p>
          <a:p>
            <a:pPr indent="-342900" lvl="0" marL="457200" rtl="0" algn="l">
              <a:spcBef>
                <a:spcPts val="0"/>
              </a:spcBef>
              <a:spcAft>
                <a:spcPts val="0"/>
              </a:spcAft>
              <a:buClr>
                <a:schemeClr val="dk1"/>
              </a:buClr>
              <a:buSzPts val="1800"/>
              <a:buFont typeface="Times New Roman"/>
              <a:buChar char="●"/>
            </a:pPr>
            <a:r>
              <a:rPr lang="pt-BR">
                <a:solidFill>
                  <a:schemeClr val="dk1"/>
                </a:solidFill>
                <a:latin typeface="Times New Roman"/>
                <a:ea typeface="Times New Roman"/>
                <a:cs typeface="Times New Roman"/>
                <a:sym typeface="Times New Roman"/>
              </a:rPr>
              <a:t>Para alcançar tal objetivo, a camada de transporte faz uso de recursos </a:t>
            </a:r>
            <a:r>
              <a:rPr lang="pt-BR">
                <a:solidFill>
                  <a:schemeClr val="dk1"/>
                </a:solidFill>
                <a:latin typeface="Times New Roman"/>
                <a:ea typeface="Times New Roman"/>
                <a:cs typeface="Times New Roman"/>
                <a:sym typeface="Times New Roman"/>
              </a:rPr>
              <a:t>provindos</a:t>
            </a:r>
            <a:r>
              <a:rPr lang="pt-BR">
                <a:solidFill>
                  <a:schemeClr val="dk1"/>
                </a:solidFill>
                <a:latin typeface="Times New Roman"/>
                <a:ea typeface="Times New Roman"/>
                <a:cs typeface="Times New Roman"/>
                <a:sym typeface="Times New Roman"/>
              </a:rPr>
              <a:t> da camada imediatamente inferior (camada de rede).</a:t>
            </a:r>
            <a:endParaRPr>
              <a:solidFill>
                <a:schemeClr val="dk1"/>
              </a:solidFill>
              <a:latin typeface="Times New Roman"/>
              <a:ea typeface="Times New Roman"/>
              <a:cs typeface="Times New Roman"/>
              <a:sym typeface="Times New Roman"/>
            </a:endParaRPr>
          </a:p>
          <a:p>
            <a:pPr indent="-342900" lvl="0" marL="457200" rtl="0" algn="l">
              <a:spcBef>
                <a:spcPts val="0"/>
              </a:spcBef>
              <a:spcAft>
                <a:spcPts val="0"/>
              </a:spcAft>
              <a:buClr>
                <a:schemeClr val="dk1"/>
              </a:buClr>
              <a:buSzPts val="1800"/>
              <a:buFont typeface="Times New Roman"/>
              <a:buChar char="●"/>
            </a:pPr>
            <a:r>
              <a:rPr lang="pt-BR">
                <a:solidFill>
                  <a:schemeClr val="dk1"/>
                </a:solidFill>
                <a:latin typeface="Times New Roman"/>
                <a:ea typeface="Times New Roman"/>
                <a:cs typeface="Times New Roman"/>
                <a:sym typeface="Times New Roman"/>
              </a:rPr>
              <a:t>A unidade de software e/ou hardware dentro da camada de transporte que está encarregada de realizar este trabalho é chamada de “entidade de transporte”.</a:t>
            </a:r>
            <a:endParaRPr>
              <a:solidFill>
                <a:schemeClr val="dk1"/>
              </a:solidFill>
              <a:latin typeface="Times New Roman"/>
              <a:ea typeface="Times New Roman"/>
              <a:cs typeface="Times New Roman"/>
              <a:sym typeface="Times New Roman"/>
            </a:endParaRPr>
          </a:p>
          <a:p>
            <a:pPr indent="-342900" lvl="0" marL="457200" rtl="0" algn="l">
              <a:spcBef>
                <a:spcPts val="0"/>
              </a:spcBef>
              <a:spcAft>
                <a:spcPts val="0"/>
              </a:spcAft>
              <a:buClr>
                <a:schemeClr val="dk1"/>
              </a:buClr>
              <a:buSzPts val="1800"/>
              <a:buFont typeface="Times New Roman"/>
              <a:buChar char="●"/>
            </a:pPr>
            <a:r>
              <a:rPr lang="pt-BR">
                <a:solidFill>
                  <a:schemeClr val="dk1"/>
                </a:solidFill>
                <a:latin typeface="Times New Roman"/>
                <a:ea typeface="Times New Roman"/>
                <a:cs typeface="Times New Roman"/>
                <a:sym typeface="Times New Roman"/>
              </a:rPr>
              <a:t>Existem dois tipos de serviços de transporte: Orientado à conexão e sem conexão. São muito parecidos com os serviços da camada de rede.</a:t>
            </a:r>
            <a:endParaRPr>
              <a:solidFill>
                <a:schemeClr val="dk1"/>
              </a:solidFill>
              <a:latin typeface="Times New Roman"/>
              <a:ea typeface="Times New Roman"/>
              <a:cs typeface="Times New Roman"/>
              <a:sym typeface="Times New Roman"/>
            </a:endParaRPr>
          </a:p>
          <a:p>
            <a:pPr indent="-342900" lvl="0" marL="457200" rtl="0" algn="l">
              <a:spcBef>
                <a:spcPts val="0"/>
              </a:spcBef>
              <a:spcAft>
                <a:spcPts val="0"/>
              </a:spcAft>
              <a:buClr>
                <a:schemeClr val="dk1"/>
              </a:buClr>
              <a:buSzPts val="1800"/>
              <a:buFont typeface="Times New Roman"/>
              <a:buChar char="●"/>
            </a:pPr>
            <a:r>
              <a:rPr lang="pt-BR">
                <a:solidFill>
                  <a:schemeClr val="dk1"/>
                </a:solidFill>
                <a:latin typeface="Times New Roman"/>
                <a:ea typeface="Times New Roman"/>
                <a:cs typeface="Times New Roman"/>
                <a:sym typeface="Times New Roman"/>
              </a:rPr>
              <a:t>Serviço orientado à conexão possui três estágios (estabelecimento, transferência de dados e liberação).</a:t>
            </a:r>
            <a:endParaRPr>
              <a:solidFill>
                <a:schemeClr val="dk1"/>
              </a:solidFill>
              <a:latin typeface="Times New Roman"/>
              <a:ea typeface="Times New Roman"/>
              <a:cs typeface="Times New Roman"/>
              <a:sym typeface="Times New Roman"/>
            </a:endParaRPr>
          </a:p>
        </p:txBody>
      </p:sp>
      <p:sp>
        <p:nvSpPr>
          <p:cNvPr id="83" name="Google Shape;83;p17"/>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r>
              <a:rPr lang="pt-BR"/>
              <a:t>4</a:t>
            </a:r>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7" name="Shape 87"/>
        <p:cNvGrpSpPr/>
        <p:nvPr/>
      </p:nvGrpSpPr>
      <p:grpSpPr>
        <a:xfrm>
          <a:off x="0" y="0"/>
          <a:ext cx="0" cy="0"/>
          <a:chOff x="0" y="0"/>
          <a:chExt cx="0" cy="0"/>
        </a:xfrm>
      </p:grpSpPr>
      <p:sp>
        <p:nvSpPr>
          <p:cNvPr id="88" name="Google Shape;88;p18"/>
          <p:cNvSpPr txBox="1"/>
          <p:nvPr>
            <p:ph type="title"/>
          </p:nvPr>
        </p:nvSpPr>
        <p:spPr>
          <a:xfrm>
            <a:off x="311700" y="445025"/>
            <a:ext cx="8520600" cy="572700"/>
          </a:xfrm>
          <a:prstGeom prst="rect">
            <a:avLst/>
          </a:prstGeom>
        </p:spPr>
        <p:txBody>
          <a:bodyPr anchorCtr="0" anchor="t" bIns="91425" lIns="91425" spcFirstLastPara="1" rIns="91425" wrap="square" tIns="91425">
            <a:noAutofit/>
          </a:bodyPr>
          <a:lstStyle/>
          <a:p>
            <a:pPr indent="-387350" lvl="1" marL="914400" rtl="0" algn="l">
              <a:lnSpc>
                <a:spcPct val="115000"/>
              </a:lnSpc>
              <a:spcBef>
                <a:spcPts val="0"/>
              </a:spcBef>
              <a:spcAft>
                <a:spcPts val="0"/>
              </a:spcAft>
              <a:buClr>
                <a:schemeClr val="dk1"/>
              </a:buClr>
              <a:buSzPts val="2500"/>
              <a:buFont typeface="Times New Roman"/>
              <a:buChar char="○"/>
            </a:pPr>
            <a:r>
              <a:rPr lang="pt-BR" sz="2500">
                <a:latin typeface="Times New Roman"/>
                <a:ea typeface="Times New Roman"/>
                <a:cs typeface="Times New Roman"/>
                <a:sym typeface="Times New Roman"/>
              </a:rPr>
              <a:t>6.1.1 - Serviços prestados à camada de sessão</a:t>
            </a:r>
            <a:endParaRPr sz="2500">
              <a:latin typeface="Times New Roman"/>
              <a:ea typeface="Times New Roman"/>
              <a:cs typeface="Times New Roman"/>
              <a:sym typeface="Times New Roman"/>
            </a:endParaRPr>
          </a:p>
          <a:p>
            <a:pPr indent="0" lvl="0" marL="0" rtl="0" algn="l">
              <a:spcBef>
                <a:spcPts val="1200"/>
              </a:spcBef>
              <a:spcAft>
                <a:spcPts val="0"/>
              </a:spcAft>
              <a:buSzPts val="990"/>
              <a:buNone/>
            </a:pPr>
            <a:r>
              <a:t/>
            </a:r>
            <a:endParaRPr sz="2500">
              <a:latin typeface="Times New Roman"/>
              <a:ea typeface="Times New Roman"/>
              <a:cs typeface="Times New Roman"/>
              <a:sym typeface="Times New Roman"/>
            </a:endParaRPr>
          </a:p>
        </p:txBody>
      </p:sp>
      <p:sp>
        <p:nvSpPr>
          <p:cNvPr id="89" name="Google Shape;89;p18"/>
          <p:cNvSpPr txBox="1"/>
          <p:nvPr>
            <p:ph idx="1" type="body"/>
          </p:nvPr>
        </p:nvSpPr>
        <p:spPr>
          <a:xfrm>
            <a:off x="311700" y="1152475"/>
            <a:ext cx="8520600" cy="3416400"/>
          </a:xfrm>
          <a:prstGeom prst="rect">
            <a:avLst/>
          </a:prstGeom>
        </p:spPr>
        <p:txBody>
          <a:bodyPr anchorCtr="0" anchor="t" bIns="91425" lIns="91425" spcFirstLastPara="1" rIns="91425" wrap="square" tIns="91425">
            <a:noAutofit/>
          </a:bodyPr>
          <a:lstStyle/>
          <a:p>
            <a:pPr indent="-342900" lvl="0" marL="457200" rtl="0" algn="l">
              <a:spcBef>
                <a:spcPts val="0"/>
              </a:spcBef>
              <a:spcAft>
                <a:spcPts val="0"/>
              </a:spcAft>
              <a:buClr>
                <a:schemeClr val="dk1"/>
              </a:buClr>
              <a:buSzPts val="1800"/>
              <a:buFont typeface="Times New Roman"/>
              <a:buChar char="●"/>
            </a:pPr>
            <a:r>
              <a:rPr lang="pt-BR">
                <a:solidFill>
                  <a:schemeClr val="dk1"/>
                </a:solidFill>
                <a:latin typeface="Times New Roman"/>
                <a:ea typeface="Times New Roman"/>
                <a:cs typeface="Times New Roman"/>
                <a:sym typeface="Times New Roman"/>
              </a:rPr>
              <a:t>Apesar dos serviços da camada de transporte e camada de rede serem bastante similares, é necessário a existência de duas camadas para que a qualidade dos serviços prestados seja consolidada, de modo que não ocorra perdas frequentes de pacotes e dados corrompidos devido a um serviço não confiável.</a:t>
            </a:r>
            <a:endParaRPr>
              <a:solidFill>
                <a:schemeClr val="dk1"/>
              </a:solidFill>
              <a:latin typeface="Times New Roman"/>
              <a:ea typeface="Times New Roman"/>
              <a:cs typeface="Times New Roman"/>
              <a:sym typeface="Times New Roman"/>
            </a:endParaRPr>
          </a:p>
          <a:p>
            <a:pPr indent="-342900" lvl="0" marL="457200" rtl="0" algn="l">
              <a:spcBef>
                <a:spcPts val="0"/>
              </a:spcBef>
              <a:spcAft>
                <a:spcPts val="0"/>
              </a:spcAft>
              <a:buClr>
                <a:schemeClr val="dk1"/>
              </a:buClr>
              <a:buSzPts val="1800"/>
              <a:buFont typeface="Times New Roman"/>
              <a:buChar char="●"/>
            </a:pPr>
            <a:r>
              <a:rPr lang="pt-BR">
                <a:solidFill>
                  <a:schemeClr val="dk1"/>
                </a:solidFill>
                <a:latin typeface="Times New Roman"/>
                <a:ea typeface="Times New Roman"/>
                <a:cs typeface="Times New Roman"/>
                <a:sym typeface="Times New Roman"/>
              </a:rPr>
              <a:t>Assim, se uma entidade de transporte fica ciente de uma interrupção da conexão de rede em uma longa linha de transmissão, ela consegue administrar uma nova conexão e continuar a transmissão de dados a partir do lugar em que foi interrompida.</a:t>
            </a:r>
            <a:endParaRPr>
              <a:solidFill>
                <a:schemeClr val="dk1"/>
              </a:solidFill>
              <a:latin typeface="Times New Roman"/>
              <a:ea typeface="Times New Roman"/>
              <a:cs typeface="Times New Roman"/>
              <a:sym typeface="Times New Roman"/>
            </a:endParaRPr>
          </a:p>
          <a:p>
            <a:pPr indent="0" lvl="0" marL="457200" rtl="0" algn="l">
              <a:spcBef>
                <a:spcPts val="1200"/>
              </a:spcBef>
              <a:spcAft>
                <a:spcPts val="1200"/>
              </a:spcAft>
              <a:buNone/>
            </a:pPr>
            <a:r>
              <a:t/>
            </a:r>
            <a:endParaRPr>
              <a:solidFill>
                <a:schemeClr val="dk1"/>
              </a:solidFill>
              <a:latin typeface="Times New Roman"/>
              <a:ea typeface="Times New Roman"/>
              <a:cs typeface="Times New Roman"/>
              <a:sym typeface="Times New Roman"/>
            </a:endParaRPr>
          </a:p>
        </p:txBody>
      </p:sp>
      <p:sp>
        <p:nvSpPr>
          <p:cNvPr id="90" name="Google Shape;90;p18"/>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r>
              <a:rPr lang="pt-BR"/>
              <a:t>5</a:t>
            </a:r>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4" name="Shape 94"/>
        <p:cNvGrpSpPr/>
        <p:nvPr/>
      </p:nvGrpSpPr>
      <p:grpSpPr>
        <a:xfrm>
          <a:off x="0" y="0"/>
          <a:ext cx="0" cy="0"/>
          <a:chOff x="0" y="0"/>
          <a:chExt cx="0" cy="0"/>
        </a:xfrm>
      </p:grpSpPr>
      <p:sp>
        <p:nvSpPr>
          <p:cNvPr id="95" name="Google Shape;95;p19"/>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p>
            <a:pPr indent="-387350" lvl="1" marL="914400" rtl="0" algn="l">
              <a:lnSpc>
                <a:spcPct val="115000"/>
              </a:lnSpc>
              <a:spcBef>
                <a:spcPts val="0"/>
              </a:spcBef>
              <a:spcAft>
                <a:spcPts val="0"/>
              </a:spcAft>
              <a:buClr>
                <a:schemeClr val="dk1"/>
              </a:buClr>
              <a:buSzPts val="2500"/>
              <a:buFont typeface="Times New Roman"/>
              <a:buChar char="○"/>
            </a:pPr>
            <a:r>
              <a:rPr lang="pt-BR" sz="2500">
                <a:latin typeface="Times New Roman"/>
                <a:ea typeface="Times New Roman"/>
                <a:cs typeface="Times New Roman"/>
                <a:sym typeface="Times New Roman"/>
              </a:rPr>
              <a:t>6.1.2 - Qualidade do serviço</a:t>
            </a:r>
            <a:endParaRPr sz="2500"/>
          </a:p>
        </p:txBody>
      </p:sp>
      <p:sp>
        <p:nvSpPr>
          <p:cNvPr id="96" name="Google Shape;96;p19"/>
          <p:cNvSpPr txBox="1"/>
          <p:nvPr>
            <p:ph idx="1" type="body"/>
          </p:nvPr>
        </p:nvSpPr>
        <p:spPr>
          <a:xfrm>
            <a:off x="311700" y="1137950"/>
            <a:ext cx="8520600" cy="3416400"/>
          </a:xfrm>
          <a:prstGeom prst="rect">
            <a:avLst/>
          </a:prstGeom>
        </p:spPr>
        <p:txBody>
          <a:bodyPr anchorCtr="0" anchor="t" bIns="91425" lIns="91425" spcFirstLastPara="1" rIns="91425" wrap="square" tIns="91425">
            <a:normAutofit/>
          </a:bodyPr>
          <a:lstStyle/>
          <a:p>
            <a:pPr indent="-342900" lvl="0" marL="457200" rtl="0" algn="l">
              <a:spcBef>
                <a:spcPts val="0"/>
              </a:spcBef>
              <a:spcAft>
                <a:spcPts val="0"/>
              </a:spcAft>
              <a:buClr>
                <a:schemeClr val="dk1"/>
              </a:buClr>
              <a:buSzPts val="1800"/>
              <a:buFont typeface="Times New Roman"/>
              <a:buChar char="●"/>
            </a:pPr>
            <a:r>
              <a:rPr lang="pt-BR">
                <a:solidFill>
                  <a:schemeClr val="dk1"/>
                </a:solidFill>
                <a:latin typeface="Times New Roman"/>
                <a:ea typeface="Times New Roman"/>
                <a:cs typeface="Times New Roman"/>
                <a:sym typeface="Times New Roman"/>
              </a:rPr>
              <a:t>Outra forma de observar a camada de transporte é por meio da análise da qualidade do serviço fornecida pela camada de rede. Se o serviço de rede for impecável, a camada de transporte terá facilidade para executar suas funções. Caso o serviço de rede seja ruim, a camada de transporte terá que preencher a lacuna entre o que os usuários de transporte querem e o que a camada de rede está oferecendo.</a:t>
            </a:r>
            <a:endParaRPr>
              <a:solidFill>
                <a:schemeClr val="dk1"/>
              </a:solidFill>
              <a:latin typeface="Times New Roman"/>
              <a:ea typeface="Times New Roman"/>
              <a:cs typeface="Times New Roman"/>
              <a:sym typeface="Times New Roman"/>
            </a:endParaRPr>
          </a:p>
          <a:p>
            <a:pPr indent="-342900" lvl="0" marL="457200" rtl="0" algn="l">
              <a:spcBef>
                <a:spcPts val="0"/>
              </a:spcBef>
              <a:spcAft>
                <a:spcPts val="0"/>
              </a:spcAft>
              <a:buClr>
                <a:schemeClr val="dk1"/>
              </a:buClr>
              <a:buSzPts val="1800"/>
              <a:buFont typeface="Times New Roman"/>
              <a:buChar char="●"/>
            </a:pPr>
            <a:r>
              <a:rPr lang="pt-BR">
                <a:solidFill>
                  <a:schemeClr val="dk1"/>
                </a:solidFill>
                <a:latin typeface="Times New Roman"/>
                <a:ea typeface="Times New Roman"/>
                <a:cs typeface="Times New Roman"/>
                <a:sym typeface="Times New Roman"/>
              </a:rPr>
              <a:t>A qualidade do serviço pode ser caracterizado por um conjunto de parâmetros. É tarefa da camada de transporte examinar esses parâmetros e determinar se é </a:t>
            </a:r>
            <a:r>
              <a:rPr lang="pt-BR">
                <a:solidFill>
                  <a:schemeClr val="dk1"/>
                </a:solidFill>
                <a:latin typeface="Times New Roman"/>
                <a:ea typeface="Times New Roman"/>
                <a:cs typeface="Times New Roman"/>
                <a:sym typeface="Times New Roman"/>
              </a:rPr>
              <a:t>possível</a:t>
            </a:r>
            <a:r>
              <a:rPr lang="pt-BR">
                <a:solidFill>
                  <a:schemeClr val="dk1"/>
                </a:solidFill>
                <a:latin typeface="Times New Roman"/>
                <a:ea typeface="Times New Roman"/>
                <a:cs typeface="Times New Roman"/>
                <a:sym typeface="Times New Roman"/>
              </a:rPr>
              <a:t> fornecer o serviço requerido levando em conta os serviços de rede disponíveis.</a:t>
            </a:r>
            <a:endParaRPr>
              <a:solidFill>
                <a:schemeClr val="dk1"/>
              </a:solidFill>
              <a:latin typeface="Times New Roman"/>
              <a:ea typeface="Times New Roman"/>
              <a:cs typeface="Times New Roman"/>
              <a:sym typeface="Times New Roman"/>
            </a:endParaRPr>
          </a:p>
          <a:p>
            <a:pPr indent="-342900" lvl="0" marL="457200" rtl="0" algn="l">
              <a:spcBef>
                <a:spcPts val="0"/>
              </a:spcBef>
              <a:spcAft>
                <a:spcPts val="0"/>
              </a:spcAft>
              <a:buClr>
                <a:schemeClr val="dk1"/>
              </a:buClr>
              <a:buSzPts val="1800"/>
              <a:buFont typeface="Times New Roman"/>
              <a:buChar char="●"/>
            </a:pPr>
            <a:r>
              <a:rPr lang="pt-BR">
                <a:solidFill>
                  <a:schemeClr val="dk1"/>
                </a:solidFill>
                <a:latin typeface="Times New Roman"/>
                <a:ea typeface="Times New Roman"/>
                <a:cs typeface="Times New Roman"/>
                <a:sym typeface="Times New Roman"/>
              </a:rPr>
              <a:t>Os parâmetros e suas definições seguem abaixo:</a:t>
            </a:r>
            <a:endParaRPr>
              <a:solidFill>
                <a:schemeClr val="dk1"/>
              </a:solidFill>
              <a:latin typeface="Times New Roman"/>
              <a:ea typeface="Times New Roman"/>
              <a:cs typeface="Times New Roman"/>
              <a:sym typeface="Times New Roman"/>
            </a:endParaRPr>
          </a:p>
        </p:txBody>
      </p:sp>
      <p:sp>
        <p:nvSpPr>
          <p:cNvPr id="97" name="Google Shape;97;p19"/>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r>
              <a:rPr lang="pt-BR"/>
              <a:t>6</a:t>
            </a:r>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1" name="Shape 101"/>
        <p:cNvGrpSpPr/>
        <p:nvPr/>
      </p:nvGrpSpPr>
      <p:grpSpPr>
        <a:xfrm>
          <a:off x="0" y="0"/>
          <a:ext cx="0" cy="0"/>
          <a:chOff x="0" y="0"/>
          <a:chExt cx="0" cy="0"/>
        </a:xfrm>
      </p:grpSpPr>
      <p:sp>
        <p:nvSpPr>
          <p:cNvPr id="102" name="Google Shape;102;p20"/>
          <p:cNvSpPr txBox="1"/>
          <p:nvPr>
            <p:ph type="title"/>
          </p:nvPr>
        </p:nvSpPr>
        <p:spPr>
          <a:xfrm>
            <a:off x="311700" y="445025"/>
            <a:ext cx="8520600" cy="572700"/>
          </a:xfrm>
          <a:prstGeom prst="rect">
            <a:avLst/>
          </a:prstGeom>
        </p:spPr>
        <p:txBody>
          <a:bodyPr anchorCtr="0" anchor="t" bIns="91425" lIns="91425" spcFirstLastPara="1" rIns="91425" wrap="square" tIns="91425">
            <a:noAutofit/>
          </a:bodyPr>
          <a:lstStyle/>
          <a:p>
            <a:pPr indent="-387350" lvl="1" marL="914400" rtl="0" algn="l">
              <a:lnSpc>
                <a:spcPct val="115000"/>
              </a:lnSpc>
              <a:spcBef>
                <a:spcPts val="0"/>
              </a:spcBef>
              <a:spcAft>
                <a:spcPts val="0"/>
              </a:spcAft>
              <a:buClr>
                <a:schemeClr val="dk1"/>
              </a:buClr>
              <a:buSzPts val="2500"/>
              <a:buFont typeface="Times New Roman"/>
              <a:buChar char="○"/>
            </a:pPr>
            <a:r>
              <a:rPr lang="pt-BR" sz="2500">
                <a:latin typeface="Times New Roman"/>
                <a:ea typeface="Times New Roman"/>
                <a:cs typeface="Times New Roman"/>
                <a:sym typeface="Times New Roman"/>
              </a:rPr>
              <a:t>6.1.2 - Qualidade do serviço</a:t>
            </a:r>
            <a:endParaRPr sz="2500"/>
          </a:p>
          <a:p>
            <a:pPr indent="0" lvl="0" marL="0" rtl="0" algn="l">
              <a:spcBef>
                <a:spcPts val="1200"/>
              </a:spcBef>
              <a:spcAft>
                <a:spcPts val="0"/>
              </a:spcAft>
              <a:buNone/>
            </a:pPr>
            <a:r>
              <a:t/>
            </a:r>
            <a:endParaRPr sz="2500"/>
          </a:p>
        </p:txBody>
      </p:sp>
      <p:sp>
        <p:nvSpPr>
          <p:cNvPr id="103" name="Google Shape;103;p20"/>
          <p:cNvSpPr txBox="1"/>
          <p:nvPr>
            <p:ph idx="1" type="body"/>
          </p:nvPr>
        </p:nvSpPr>
        <p:spPr>
          <a:xfrm>
            <a:off x="311700" y="1152475"/>
            <a:ext cx="8520600" cy="3829800"/>
          </a:xfrm>
          <a:prstGeom prst="rect">
            <a:avLst/>
          </a:prstGeom>
        </p:spPr>
        <p:txBody>
          <a:bodyPr anchorCtr="0" anchor="t" bIns="91425" lIns="91425" spcFirstLastPara="1" rIns="91425" wrap="square" tIns="91425">
            <a:normAutofit/>
          </a:bodyPr>
          <a:lstStyle/>
          <a:p>
            <a:pPr indent="-342900" lvl="0" marL="457200" rtl="0" algn="l">
              <a:spcBef>
                <a:spcPts val="0"/>
              </a:spcBef>
              <a:spcAft>
                <a:spcPts val="0"/>
              </a:spcAft>
              <a:buClr>
                <a:schemeClr val="dk1"/>
              </a:buClr>
              <a:buSzPts val="1800"/>
              <a:buFont typeface="Times New Roman"/>
              <a:buChar char="-"/>
            </a:pPr>
            <a:r>
              <a:rPr lang="pt-BR" u="sng">
                <a:solidFill>
                  <a:schemeClr val="dk1"/>
                </a:solidFill>
                <a:latin typeface="Times New Roman"/>
                <a:ea typeface="Times New Roman"/>
                <a:cs typeface="Times New Roman"/>
                <a:sym typeface="Times New Roman"/>
              </a:rPr>
              <a:t>Atraso de estabelecimento de conexão</a:t>
            </a:r>
            <a:r>
              <a:rPr lang="pt-BR">
                <a:solidFill>
                  <a:schemeClr val="dk1"/>
                </a:solidFill>
                <a:latin typeface="Times New Roman"/>
                <a:ea typeface="Times New Roman"/>
                <a:cs typeface="Times New Roman"/>
                <a:sym typeface="Times New Roman"/>
              </a:rPr>
              <a:t>: Quantidade de tempo decorrido entre a solicitação de uma conexão de transporte e a sua </a:t>
            </a:r>
            <a:r>
              <a:rPr lang="pt-BR">
                <a:solidFill>
                  <a:schemeClr val="dk1"/>
                </a:solidFill>
                <a:latin typeface="Times New Roman"/>
                <a:ea typeface="Times New Roman"/>
                <a:cs typeface="Times New Roman"/>
                <a:sym typeface="Times New Roman"/>
              </a:rPr>
              <a:t>confirmação</a:t>
            </a:r>
            <a:r>
              <a:rPr lang="pt-BR">
                <a:solidFill>
                  <a:schemeClr val="dk1"/>
                </a:solidFill>
                <a:latin typeface="Times New Roman"/>
                <a:ea typeface="Times New Roman"/>
                <a:cs typeface="Times New Roman"/>
                <a:sym typeface="Times New Roman"/>
              </a:rPr>
              <a:t> sendo recebida pelo usuário do serviço de transporte. Quanto menor o atraso, melhor o serviço.</a:t>
            </a:r>
            <a:endParaRPr>
              <a:solidFill>
                <a:schemeClr val="dk1"/>
              </a:solidFill>
              <a:latin typeface="Times New Roman"/>
              <a:ea typeface="Times New Roman"/>
              <a:cs typeface="Times New Roman"/>
              <a:sym typeface="Times New Roman"/>
            </a:endParaRPr>
          </a:p>
          <a:p>
            <a:pPr indent="-342900" lvl="0" marL="457200" rtl="0" algn="l">
              <a:spcBef>
                <a:spcPts val="0"/>
              </a:spcBef>
              <a:spcAft>
                <a:spcPts val="0"/>
              </a:spcAft>
              <a:buClr>
                <a:schemeClr val="dk1"/>
              </a:buClr>
              <a:buSzPts val="1800"/>
              <a:buFont typeface="Times New Roman"/>
              <a:buChar char="-"/>
            </a:pPr>
            <a:r>
              <a:rPr lang="pt-BR" u="sng">
                <a:solidFill>
                  <a:schemeClr val="dk1"/>
                </a:solidFill>
                <a:latin typeface="Times New Roman"/>
                <a:ea typeface="Times New Roman"/>
                <a:cs typeface="Times New Roman"/>
                <a:sym typeface="Times New Roman"/>
              </a:rPr>
              <a:t>Probabilidade de falha no estabelecimento da conexão</a:t>
            </a:r>
            <a:r>
              <a:rPr lang="pt-BR">
                <a:solidFill>
                  <a:schemeClr val="dk1"/>
                </a:solidFill>
                <a:latin typeface="Times New Roman"/>
                <a:ea typeface="Times New Roman"/>
                <a:cs typeface="Times New Roman"/>
                <a:sym typeface="Times New Roman"/>
              </a:rPr>
              <a:t>: Chance da conexão não ser estabelecida dentro do tempo máximo de atraso. Pode ocorrer devido a congestionamento na rede, por exemplo.</a:t>
            </a:r>
            <a:endParaRPr>
              <a:solidFill>
                <a:schemeClr val="dk1"/>
              </a:solidFill>
              <a:latin typeface="Times New Roman"/>
              <a:ea typeface="Times New Roman"/>
              <a:cs typeface="Times New Roman"/>
              <a:sym typeface="Times New Roman"/>
            </a:endParaRPr>
          </a:p>
          <a:p>
            <a:pPr indent="-342900" lvl="0" marL="457200" rtl="0" algn="l">
              <a:spcBef>
                <a:spcPts val="0"/>
              </a:spcBef>
              <a:spcAft>
                <a:spcPts val="0"/>
              </a:spcAft>
              <a:buClr>
                <a:schemeClr val="dk1"/>
              </a:buClr>
              <a:buSzPts val="1800"/>
              <a:buFont typeface="Times New Roman"/>
              <a:buChar char="-"/>
            </a:pPr>
            <a:r>
              <a:rPr i="1" lang="pt-BR" u="sng">
                <a:solidFill>
                  <a:schemeClr val="dk1"/>
                </a:solidFill>
                <a:latin typeface="Times New Roman"/>
                <a:ea typeface="Times New Roman"/>
                <a:cs typeface="Times New Roman"/>
                <a:sym typeface="Times New Roman"/>
              </a:rPr>
              <a:t>Throughput</a:t>
            </a:r>
            <a:r>
              <a:rPr lang="pt-BR">
                <a:solidFill>
                  <a:schemeClr val="dk1"/>
                </a:solidFill>
                <a:latin typeface="Times New Roman"/>
                <a:ea typeface="Times New Roman"/>
                <a:cs typeface="Times New Roman"/>
                <a:sym typeface="Times New Roman"/>
              </a:rPr>
              <a:t>: Número de </a:t>
            </a:r>
            <a:r>
              <a:rPr i="1" lang="pt-BR">
                <a:solidFill>
                  <a:schemeClr val="dk1"/>
                </a:solidFill>
                <a:latin typeface="Times New Roman"/>
                <a:ea typeface="Times New Roman"/>
                <a:cs typeface="Times New Roman"/>
                <a:sym typeface="Times New Roman"/>
              </a:rPr>
              <a:t>bytes</a:t>
            </a:r>
            <a:r>
              <a:rPr lang="pt-BR">
                <a:solidFill>
                  <a:schemeClr val="dk1"/>
                </a:solidFill>
                <a:latin typeface="Times New Roman"/>
                <a:ea typeface="Times New Roman"/>
                <a:cs typeface="Times New Roman"/>
                <a:sym typeface="Times New Roman"/>
              </a:rPr>
              <a:t> transferidos por segundo.</a:t>
            </a:r>
            <a:endParaRPr>
              <a:solidFill>
                <a:schemeClr val="dk1"/>
              </a:solidFill>
              <a:latin typeface="Times New Roman"/>
              <a:ea typeface="Times New Roman"/>
              <a:cs typeface="Times New Roman"/>
              <a:sym typeface="Times New Roman"/>
            </a:endParaRPr>
          </a:p>
          <a:p>
            <a:pPr indent="-342900" lvl="0" marL="457200" rtl="0" algn="l">
              <a:spcBef>
                <a:spcPts val="0"/>
              </a:spcBef>
              <a:spcAft>
                <a:spcPts val="0"/>
              </a:spcAft>
              <a:buClr>
                <a:schemeClr val="dk1"/>
              </a:buClr>
              <a:buSzPts val="1800"/>
              <a:buFont typeface="Times New Roman"/>
              <a:buChar char="-"/>
            </a:pPr>
            <a:r>
              <a:rPr lang="pt-BR" u="sng">
                <a:solidFill>
                  <a:schemeClr val="dk1"/>
                </a:solidFill>
                <a:latin typeface="Times New Roman"/>
                <a:ea typeface="Times New Roman"/>
                <a:cs typeface="Times New Roman"/>
                <a:sym typeface="Times New Roman"/>
              </a:rPr>
              <a:t>Atraso de trânsito</a:t>
            </a:r>
            <a:r>
              <a:rPr lang="pt-BR">
                <a:solidFill>
                  <a:schemeClr val="dk1"/>
                </a:solidFill>
                <a:latin typeface="Times New Roman"/>
                <a:ea typeface="Times New Roman"/>
                <a:cs typeface="Times New Roman"/>
                <a:sym typeface="Times New Roman"/>
              </a:rPr>
              <a:t>: Tempo entre o envio da mensagem pelo usuário de transporte e o recebimento no destino.</a:t>
            </a:r>
            <a:endParaRPr>
              <a:solidFill>
                <a:schemeClr val="dk1"/>
              </a:solidFill>
              <a:latin typeface="Times New Roman"/>
              <a:ea typeface="Times New Roman"/>
              <a:cs typeface="Times New Roman"/>
              <a:sym typeface="Times New Roman"/>
            </a:endParaRPr>
          </a:p>
          <a:p>
            <a:pPr indent="-342900" lvl="0" marL="457200" rtl="0" algn="l">
              <a:spcBef>
                <a:spcPts val="0"/>
              </a:spcBef>
              <a:spcAft>
                <a:spcPts val="0"/>
              </a:spcAft>
              <a:buClr>
                <a:schemeClr val="dk1"/>
              </a:buClr>
              <a:buSzPts val="1800"/>
              <a:buFont typeface="Times New Roman"/>
              <a:buChar char="-"/>
            </a:pPr>
            <a:r>
              <a:rPr lang="pt-BR" u="sng">
                <a:solidFill>
                  <a:schemeClr val="dk1"/>
                </a:solidFill>
                <a:latin typeface="Times New Roman"/>
                <a:ea typeface="Times New Roman"/>
                <a:cs typeface="Times New Roman"/>
                <a:sym typeface="Times New Roman"/>
              </a:rPr>
              <a:t>Taxa de erro residual</a:t>
            </a:r>
            <a:r>
              <a:rPr lang="pt-BR">
                <a:solidFill>
                  <a:schemeClr val="dk1"/>
                </a:solidFill>
                <a:latin typeface="Times New Roman"/>
                <a:ea typeface="Times New Roman"/>
                <a:cs typeface="Times New Roman"/>
                <a:sym typeface="Times New Roman"/>
              </a:rPr>
              <a:t>: Número de mensagens perdidas ou truncadas como uma fração do total enviado</a:t>
            </a:r>
            <a:endParaRPr>
              <a:solidFill>
                <a:schemeClr val="dk1"/>
              </a:solidFill>
              <a:latin typeface="Times New Roman"/>
              <a:ea typeface="Times New Roman"/>
              <a:cs typeface="Times New Roman"/>
              <a:sym typeface="Times New Roman"/>
            </a:endParaRPr>
          </a:p>
        </p:txBody>
      </p:sp>
      <p:sp>
        <p:nvSpPr>
          <p:cNvPr id="104" name="Google Shape;104;p20"/>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r>
              <a:rPr lang="pt-BR"/>
              <a:t>7</a:t>
            </a:r>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8" name="Shape 108"/>
        <p:cNvGrpSpPr/>
        <p:nvPr/>
      </p:nvGrpSpPr>
      <p:grpSpPr>
        <a:xfrm>
          <a:off x="0" y="0"/>
          <a:ext cx="0" cy="0"/>
          <a:chOff x="0" y="0"/>
          <a:chExt cx="0" cy="0"/>
        </a:xfrm>
      </p:grpSpPr>
      <p:sp>
        <p:nvSpPr>
          <p:cNvPr id="109" name="Google Shape;109;p21"/>
          <p:cNvSpPr txBox="1"/>
          <p:nvPr>
            <p:ph type="title"/>
          </p:nvPr>
        </p:nvSpPr>
        <p:spPr>
          <a:xfrm>
            <a:off x="311700" y="445025"/>
            <a:ext cx="8520600" cy="572700"/>
          </a:xfrm>
          <a:prstGeom prst="rect">
            <a:avLst/>
          </a:prstGeom>
        </p:spPr>
        <p:txBody>
          <a:bodyPr anchorCtr="0" anchor="t" bIns="91425" lIns="91425" spcFirstLastPara="1" rIns="91425" wrap="square" tIns="91425">
            <a:noAutofit/>
          </a:bodyPr>
          <a:lstStyle/>
          <a:p>
            <a:pPr indent="-387350" lvl="1" marL="914400" rtl="0" algn="l">
              <a:lnSpc>
                <a:spcPct val="115000"/>
              </a:lnSpc>
              <a:spcBef>
                <a:spcPts val="0"/>
              </a:spcBef>
              <a:spcAft>
                <a:spcPts val="0"/>
              </a:spcAft>
              <a:buClr>
                <a:schemeClr val="dk1"/>
              </a:buClr>
              <a:buSzPts val="2500"/>
              <a:buFont typeface="Times New Roman"/>
              <a:buChar char="○"/>
            </a:pPr>
            <a:r>
              <a:rPr lang="pt-BR" sz="2500">
                <a:latin typeface="Times New Roman"/>
                <a:ea typeface="Times New Roman"/>
                <a:cs typeface="Times New Roman"/>
                <a:sym typeface="Times New Roman"/>
              </a:rPr>
              <a:t>6.1.2 - Qualidade do serviço</a:t>
            </a:r>
            <a:endParaRPr sz="2500"/>
          </a:p>
          <a:p>
            <a:pPr indent="0" lvl="0" marL="0" rtl="0" algn="l">
              <a:spcBef>
                <a:spcPts val="1200"/>
              </a:spcBef>
              <a:spcAft>
                <a:spcPts val="0"/>
              </a:spcAft>
              <a:buClr>
                <a:schemeClr val="dk1"/>
              </a:buClr>
              <a:buSzPts val="1100"/>
              <a:buFont typeface="Arial"/>
              <a:buNone/>
            </a:pPr>
            <a:r>
              <a:t/>
            </a:r>
            <a:endParaRPr sz="2500"/>
          </a:p>
          <a:p>
            <a:pPr indent="0" lvl="0" marL="0" rtl="0" algn="l">
              <a:spcBef>
                <a:spcPts val="0"/>
              </a:spcBef>
              <a:spcAft>
                <a:spcPts val="0"/>
              </a:spcAft>
              <a:buNone/>
            </a:pPr>
            <a:r>
              <a:t/>
            </a:r>
            <a:endParaRPr sz="2500"/>
          </a:p>
        </p:txBody>
      </p:sp>
      <p:sp>
        <p:nvSpPr>
          <p:cNvPr id="110" name="Google Shape;110;p21"/>
          <p:cNvSpPr txBox="1"/>
          <p:nvPr>
            <p:ph idx="1" type="body"/>
          </p:nvPr>
        </p:nvSpPr>
        <p:spPr>
          <a:xfrm>
            <a:off x="311700" y="1152475"/>
            <a:ext cx="8520600" cy="3867000"/>
          </a:xfrm>
          <a:prstGeom prst="rect">
            <a:avLst/>
          </a:prstGeom>
        </p:spPr>
        <p:txBody>
          <a:bodyPr anchorCtr="0" anchor="t" bIns="91425" lIns="91425" spcFirstLastPara="1" rIns="91425" wrap="square" tIns="91425">
            <a:normAutofit lnSpcReduction="10000"/>
          </a:bodyPr>
          <a:lstStyle/>
          <a:p>
            <a:pPr indent="-342900" lvl="0" marL="457200" rtl="0" algn="l">
              <a:spcBef>
                <a:spcPts val="0"/>
              </a:spcBef>
              <a:spcAft>
                <a:spcPts val="0"/>
              </a:spcAft>
              <a:buClr>
                <a:schemeClr val="dk1"/>
              </a:buClr>
              <a:buSzPts val="1800"/>
              <a:buFont typeface="Times New Roman"/>
              <a:buChar char="-"/>
            </a:pPr>
            <a:r>
              <a:rPr lang="pt-BR" u="sng">
                <a:solidFill>
                  <a:schemeClr val="dk1"/>
                </a:solidFill>
                <a:latin typeface="Times New Roman"/>
                <a:ea typeface="Times New Roman"/>
                <a:cs typeface="Times New Roman"/>
                <a:sym typeface="Times New Roman"/>
              </a:rPr>
              <a:t>Probabilidade de falha de transferência</a:t>
            </a:r>
            <a:r>
              <a:rPr lang="pt-BR">
                <a:solidFill>
                  <a:schemeClr val="dk1"/>
                </a:solidFill>
                <a:latin typeface="Times New Roman"/>
                <a:ea typeface="Times New Roman"/>
                <a:cs typeface="Times New Roman"/>
                <a:sym typeface="Times New Roman"/>
              </a:rPr>
              <a:t>: Mede a </a:t>
            </a:r>
            <a:r>
              <a:rPr lang="pt-BR">
                <a:solidFill>
                  <a:schemeClr val="dk1"/>
                </a:solidFill>
                <a:latin typeface="Times New Roman"/>
                <a:ea typeface="Times New Roman"/>
                <a:cs typeface="Times New Roman"/>
                <a:sym typeface="Times New Roman"/>
              </a:rPr>
              <a:t>eficiência do serviço de transporte de acordo com sua função.</a:t>
            </a:r>
            <a:endParaRPr>
              <a:solidFill>
                <a:schemeClr val="dk1"/>
              </a:solidFill>
              <a:latin typeface="Times New Roman"/>
              <a:ea typeface="Times New Roman"/>
              <a:cs typeface="Times New Roman"/>
              <a:sym typeface="Times New Roman"/>
            </a:endParaRPr>
          </a:p>
          <a:p>
            <a:pPr indent="-342900" lvl="0" marL="457200" rtl="0" algn="l">
              <a:spcBef>
                <a:spcPts val="0"/>
              </a:spcBef>
              <a:spcAft>
                <a:spcPts val="0"/>
              </a:spcAft>
              <a:buClr>
                <a:schemeClr val="dk1"/>
              </a:buClr>
              <a:buSzPts val="1800"/>
              <a:buFont typeface="Times New Roman"/>
              <a:buChar char="-"/>
            </a:pPr>
            <a:r>
              <a:rPr lang="pt-BR">
                <a:solidFill>
                  <a:schemeClr val="dk1"/>
                </a:solidFill>
                <a:latin typeface="Times New Roman"/>
                <a:ea typeface="Times New Roman"/>
                <a:cs typeface="Times New Roman"/>
                <a:sym typeface="Times New Roman"/>
              </a:rPr>
              <a:t> </a:t>
            </a:r>
            <a:r>
              <a:rPr lang="pt-BR" u="sng">
                <a:solidFill>
                  <a:schemeClr val="dk1"/>
                </a:solidFill>
                <a:latin typeface="Times New Roman"/>
                <a:ea typeface="Times New Roman"/>
                <a:cs typeface="Times New Roman"/>
                <a:sym typeface="Times New Roman"/>
              </a:rPr>
              <a:t>Atraso na liberação da conexão</a:t>
            </a:r>
            <a:r>
              <a:rPr lang="pt-BR">
                <a:solidFill>
                  <a:schemeClr val="dk1"/>
                </a:solidFill>
                <a:latin typeface="Times New Roman"/>
                <a:ea typeface="Times New Roman"/>
                <a:cs typeface="Times New Roman"/>
                <a:sym typeface="Times New Roman"/>
              </a:rPr>
              <a:t>: Quantidade de tempo decorrido entre o início da liberação de uma conexão e a liberação verdadeiramente ocorrida na outra extremidade.</a:t>
            </a:r>
            <a:endParaRPr>
              <a:solidFill>
                <a:schemeClr val="dk1"/>
              </a:solidFill>
              <a:latin typeface="Times New Roman"/>
              <a:ea typeface="Times New Roman"/>
              <a:cs typeface="Times New Roman"/>
              <a:sym typeface="Times New Roman"/>
            </a:endParaRPr>
          </a:p>
          <a:p>
            <a:pPr indent="-342900" lvl="0" marL="457200" rtl="0" algn="l">
              <a:spcBef>
                <a:spcPts val="0"/>
              </a:spcBef>
              <a:spcAft>
                <a:spcPts val="0"/>
              </a:spcAft>
              <a:buClr>
                <a:schemeClr val="dk1"/>
              </a:buClr>
              <a:buSzPts val="1800"/>
              <a:buFont typeface="Times New Roman"/>
              <a:buChar char="-"/>
            </a:pPr>
            <a:r>
              <a:rPr lang="pt-BR" u="sng">
                <a:solidFill>
                  <a:schemeClr val="dk1"/>
                </a:solidFill>
                <a:latin typeface="Times New Roman"/>
                <a:ea typeface="Times New Roman"/>
                <a:cs typeface="Times New Roman"/>
                <a:sym typeface="Times New Roman"/>
              </a:rPr>
              <a:t>Probabilidade de falha na liberação da conexão</a:t>
            </a:r>
            <a:r>
              <a:rPr lang="pt-BR">
                <a:solidFill>
                  <a:schemeClr val="dk1"/>
                </a:solidFill>
                <a:latin typeface="Times New Roman"/>
                <a:ea typeface="Times New Roman"/>
                <a:cs typeface="Times New Roman"/>
                <a:sym typeface="Times New Roman"/>
              </a:rPr>
              <a:t>: Fração de tentativas de liberação que não se completaram dentro do intervalo de atraso permitido.</a:t>
            </a:r>
            <a:endParaRPr>
              <a:solidFill>
                <a:schemeClr val="dk1"/>
              </a:solidFill>
              <a:latin typeface="Times New Roman"/>
              <a:ea typeface="Times New Roman"/>
              <a:cs typeface="Times New Roman"/>
              <a:sym typeface="Times New Roman"/>
            </a:endParaRPr>
          </a:p>
          <a:p>
            <a:pPr indent="-342900" lvl="0" marL="457200" rtl="0" algn="l">
              <a:spcBef>
                <a:spcPts val="0"/>
              </a:spcBef>
              <a:spcAft>
                <a:spcPts val="0"/>
              </a:spcAft>
              <a:buClr>
                <a:schemeClr val="dk1"/>
              </a:buClr>
              <a:buSzPts val="1800"/>
              <a:buFont typeface="Times New Roman"/>
              <a:buChar char="-"/>
            </a:pPr>
            <a:r>
              <a:rPr lang="pt-BR" u="sng">
                <a:solidFill>
                  <a:schemeClr val="dk1"/>
                </a:solidFill>
                <a:latin typeface="Times New Roman"/>
                <a:ea typeface="Times New Roman"/>
                <a:cs typeface="Times New Roman"/>
                <a:sym typeface="Times New Roman"/>
              </a:rPr>
              <a:t>Protection</a:t>
            </a:r>
            <a:r>
              <a:rPr lang="pt-BR">
                <a:solidFill>
                  <a:schemeClr val="dk1"/>
                </a:solidFill>
                <a:latin typeface="Times New Roman"/>
                <a:ea typeface="Times New Roman"/>
                <a:cs typeface="Times New Roman"/>
                <a:sym typeface="Times New Roman"/>
              </a:rPr>
              <a:t>: Fornece uma forma de especificar o interesse de se ter proteção contra terceiros não autorizados ler ou modificar dados </a:t>
            </a:r>
            <a:r>
              <a:rPr lang="pt-BR">
                <a:solidFill>
                  <a:schemeClr val="dk1"/>
                </a:solidFill>
                <a:latin typeface="Times New Roman"/>
                <a:ea typeface="Times New Roman"/>
                <a:cs typeface="Times New Roman"/>
                <a:sym typeface="Times New Roman"/>
              </a:rPr>
              <a:t>transmitidos</a:t>
            </a:r>
            <a:r>
              <a:rPr lang="pt-BR">
                <a:solidFill>
                  <a:schemeClr val="dk1"/>
                </a:solidFill>
                <a:latin typeface="Times New Roman"/>
                <a:ea typeface="Times New Roman"/>
                <a:cs typeface="Times New Roman"/>
                <a:sym typeface="Times New Roman"/>
              </a:rPr>
              <a:t>.</a:t>
            </a:r>
            <a:endParaRPr>
              <a:solidFill>
                <a:schemeClr val="dk1"/>
              </a:solidFill>
              <a:latin typeface="Times New Roman"/>
              <a:ea typeface="Times New Roman"/>
              <a:cs typeface="Times New Roman"/>
              <a:sym typeface="Times New Roman"/>
            </a:endParaRPr>
          </a:p>
          <a:p>
            <a:pPr indent="-342900" lvl="0" marL="457200" rtl="0" algn="l">
              <a:spcBef>
                <a:spcPts val="0"/>
              </a:spcBef>
              <a:spcAft>
                <a:spcPts val="0"/>
              </a:spcAft>
              <a:buClr>
                <a:schemeClr val="dk1"/>
              </a:buClr>
              <a:buSzPts val="1800"/>
              <a:buFont typeface="Times New Roman"/>
              <a:buChar char="-"/>
            </a:pPr>
            <a:r>
              <a:rPr lang="pt-BR" u="sng">
                <a:solidFill>
                  <a:schemeClr val="dk1"/>
                </a:solidFill>
                <a:latin typeface="Times New Roman"/>
                <a:ea typeface="Times New Roman"/>
                <a:cs typeface="Times New Roman"/>
                <a:sym typeface="Times New Roman"/>
              </a:rPr>
              <a:t>Prioridade</a:t>
            </a:r>
            <a:r>
              <a:rPr lang="pt-BR">
                <a:solidFill>
                  <a:schemeClr val="dk1"/>
                </a:solidFill>
                <a:latin typeface="Times New Roman"/>
                <a:ea typeface="Times New Roman"/>
                <a:cs typeface="Times New Roman"/>
                <a:sym typeface="Times New Roman"/>
              </a:rPr>
              <a:t>: Fornece uma forma para o usuário de transporte indicar que algumas de suas conexões são mais importantes que outras, de modo que em caso de congestionamento, conexões mais importantes tenham maior prioridade.</a:t>
            </a:r>
            <a:endParaRPr>
              <a:solidFill>
                <a:schemeClr val="dk1"/>
              </a:solidFill>
              <a:latin typeface="Times New Roman"/>
              <a:ea typeface="Times New Roman"/>
              <a:cs typeface="Times New Roman"/>
              <a:sym typeface="Times New Roman"/>
            </a:endParaRPr>
          </a:p>
        </p:txBody>
      </p:sp>
      <p:sp>
        <p:nvSpPr>
          <p:cNvPr id="111" name="Google Shape;111;p21"/>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r>
              <a:rPr lang="pt-BR"/>
              <a:t>8</a:t>
            </a:r>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5" name="Shape 115"/>
        <p:cNvGrpSpPr/>
        <p:nvPr/>
      </p:nvGrpSpPr>
      <p:grpSpPr>
        <a:xfrm>
          <a:off x="0" y="0"/>
          <a:ext cx="0" cy="0"/>
          <a:chOff x="0" y="0"/>
          <a:chExt cx="0" cy="0"/>
        </a:xfrm>
      </p:grpSpPr>
      <p:sp>
        <p:nvSpPr>
          <p:cNvPr id="116" name="Google Shape;116;p22"/>
          <p:cNvSpPr txBox="1"/>
          <p:nvPr>
            <p:ph type="title"/>
          </p:nvPr>
        </p:nvSpPr>
        <p:spPr>
          <a:xfrm>
            <a:off x="311700" y="445025"/>
            <a:ext cx="8520600" cy="572700"/>
          </a:xfrm>
          <a:prstGeom prst="rect">
            <a:avLst/>
          </a:prstGeom>
        </p:spPr>
        <p:txBody>
          <a:bodyPr anchorCtr="0" anchor="t" bIns="91425" lIns="91425" spcFirstLastPara="1" rIns="91425" wrap="square" tIns="91425">
            <a:noAutofit/>
          </a:bodyPr>
          <a:lstStyle/>
          <a:p>
            <a:pPr indent="-387350" lvl="1" marL="914400" rtl="0" algn="l">
              <a:lnSpc>
                <a:spcPct val="115000"/>
              </a:lnSpc>
              <a:spcBef>
                <a:spcPts val="0"/>
              </a:spcBef>
              <a:spcAft>
                <a:spcPts val="0"/>
              </a:spcAft>
              <a:buClr>
                <a:schemeClr val="dk1"/>
              </a:buClr>
              <a:buSzPts val="2500"/>
              <a:buFont typeface="Times New Roman"/>
              <a:buChar char="○"/>
            </a:pPr>
            <a:r>
              <a:rPr lang="pt-BR" sz="2500">
                <a:latin typeface="Times New Roman"/>
                <a:ea typeface="Times New Roman"/>
                <a:cs typeface="Times New Roman"/>
                <a:sym typeface="Times New Roman"/>
              </a:rPr>
              <a:t>6.1.2 - Qualidade do serviço</a:t>
            </a:r>
            <a:endParaRPr sz="2500"/>
          </a:p>
          <a:p>
            <a:pPr indent="0" lvl="0" marL="0" rtl="0" algn="l">
              <a:spcBef>
                <a:spcPts val="1200"/>
              </a:spcBef>
              <a:spcAft>
                <a:spcPts val="0"/>
              </a:spcAft>
              <a:buClr>
                <a:schemeClr val="dk1"/>
              </a:buClr>
              <a:buSzPts val="1100"/>
              <a:buFont typeface="Arial"/>
              <a:buNone/>
            </a:pPr>
            <a:r>
              <a:t/>
            </a:r>
            <a:endParaRPr sz="2500"/>
          </a:p>
          <a:p>
            <a:pPr indent="0" lvl="0" marL="0" rtl="0" algn="l">
              <a:spcBef>
                <a:spcPts val="0"/>
              </a:spcBef>
              <a:spcAft>
                <a:spcPts val="0"/>
              </a:spcAft>
              <a:buClr>
                <a:schemeClr val="dk1"/>
              </a:buClr>
              <a:buSzPts val="1100"/>
              <a:buFont typeface="Arial"/>
              <a:buNone/>
            </a:pPr>
            <a:r>
              <a:t/>
            </a:r>
            <a:endParaRPr sz="2500"/>
          </a:p>
          <a:p>
            <a:pPr indent="0" lvl="0" marL="0" rtl="0" algn="l">
              <a:spcBef>
                <a:spcPts val="0"/>
              </a:spcBef>
              <a:spcAft>
                <a:spcPts val="0"/>
              </a:spcAft>
              <a:buNone/>
            </a:pPr>
            <a:r>
              <a:t/>
            </a:r>
            <a:endParaRPr sz="2500"/>
          </a:p>
        </p:txBody>
      </p:sp>
      <p:sp>
        <p:nvSpPr>
          <p:cNvPr id="117" name="Google Shape;117;p22"/>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342900" lvl="0" marL="457200" rtl="0" algn="l">
              <a:spcBef>
                <a:spcPts val="0"/>
              </a:spcBef>
              <a:spcAft>
                <a:spcPts val="0"/>
              </a:spcAft>
              <a:buClr>
                <a:schemeClr val="dk1"/>
              </a:buClr>
              <a:buSzPts val="1800"/>
              <a:buFont typeface="Times New Roman"/>
              <a:buChar char="-"/>
            </a:pPr>
            <a:r>
              <a:rPr lang="pt-BR" u="sng">
                <a:solidFill>
                  <a:schemeClr val="dk1"/>
                </a:solidFill>
                <a:latin typeface="Times New Roman"/>
                <a:ea typeface="Times New Roman"/>
                <a:cs typeface="Times New Roman"/>
                <a:sym typeface="Times New Roman"/>
              </a:rPr>
              <a:t>Resiliência</a:t>
            </a:r>
            <a:r>
              <a:rPr lang="pt-BR">
                <a:solidFill>
                  <a:schemeClr val="dk1"/>
                </a:solidFill>
                <a:latin typeface="Times New Roman"/>
                <a:ea typeface="Times New Roman"/>
                <a:cs typeface="Times New Roman"/>
                <a:sym typeface="Times New Roman"/>
              </a:rPr>
              <a:t>: Probabilidade da camada de transporte, espontaneamente terminar uma conexão devido a problemas </a:t>
            </a:r>
            <a:r>
              <a:rPr lang="pt-BR">
                <a:solidFill>
                  <a:schemeClr val="dk1"/>
                </a:solidFill>
                <a:latin typeface="Times New Roman"/>
                <a:ea typeface="Times New Roman"/>
                <a:cs typeface="Times New Roman"/>
                <a:sym typeface="Times New Roman"/>
              </a:rPr>
              <a:t>internos</a:t>
            </a:r>
            <a:r>
              <a:rPr lang="pt-BR">
                <a:solidFill>
                  <a:schemeClr val="dk1"/>
                </a:solidFill>
                <a:latin typeface="Times New Roman"/>
                <a:ea typeface="Times New Roman"/>
                <a:cs typeface="Times New Roman"/>
                <a:sym typeface="Times New Roman"/>
              </a:rPr>
              <a:t> de congestionamento.</a:t>
            </a:r>
            <a:endParaRPr>
              <a:solidFill>
                <a:schemeClr val="dk1"/>
              </a:solidFill>
              <a:latin typeface="Times New Roman"/>
              <a:ea typeface="Times New Roman"/>
              <a:cs typeface="Times New Roman"/>
              <a:sym typeface="Times New Roman"/>
            </a:endParaRPr>
          </a:p>
          <a:p>
            <a:pPr indent="-342900" lvl="0" marL="457200" rtl="0" algn="l">
              <a:spcBef>
                <a:spcPts val="0"/>
              </a:spcBef>
              <a:spcAft>
                <a:spcPts val="0"/>
              </a:spcAft>
              <a:buClr>
                <a:schemeClr val="dk1"/>
              </a:buClr>
              <a:buSzPts val="1800"/>
              <a:buFont typeface="Times New Roman"/>
              <a:buChar char="●"/>
            </a:pPr>
            <a:r>
              <a:rPr lang="pt-BR">
                <a:solidFill>
                  <a:schemeClr val="dk1"/>
                </a:solidFill>
                <a:latin typeface="Times New Roman"/>
                <a:ea typeface="Times New Roman"/>
                <a:cs typeface="Times New Roman"/>
                <a:sym typeface="Times New Roman"/>
              </a:rPr>
              <a:t>Esses parâmetros são especificados pelo usuário de transporte quando a conexão é requerida.</a:t>
            </a:r>
            <a:endParaRPr>
              <a:solidFill>
                <a:schemeClr val="dk1"/>
              </a:solidFill>
              <a:latin typeface="Times New Roman"/>
              <a:ea typeface="Times New Roman"/>
              <a:cs typeface="Times New Roman"/>
              <a:sym typeface="Times New Roman"/>
            </a:endParaRPr>
          </a:p>
          <a:p>
            <a:pPr indent="-342900" lvl="0" marL="457200" rtl="0" algn="l">
              <a:spcBef>
                <a:spcPts val="0"/>
              </a:spcBef>
              <a:spcAft>
                <a:spcPts val="0"/>
              </a:spcAft>
              <a:buClr>
                <a:schemeClr val="dk1"/>
              </a:buClr>
              <a:buSzPts val="1800"/>
              <a:buFont typeface="Times New Roman"/>
              <a:buChar char="●"/>
            </a:pPr>
            <a:r>
              <a:rPr lang="pt-BR">
                <a:solidFill>
                  <a:schemeClr val="dk1"/>
                </a:solidFill>
                <a:latin typeface="Times New Roman"/>
                <a:ea typeface="Times New Roman"/>
                <a:cs typeface="Times New Roman"/>
                <a:sym typeface="Times New Roman"/>
              </a:rPr>
              <a:t>Esse processo é chamado de “</a:t>
            </a:r>
            <a:r>
              <a:rPr i="1" lang="pt-BR">
                <a:solidFill>
                  <a:schemeClr val="dk1"/>
                </a:solidFill>
                <a:latin typeface="Times New Roman"/>
                <a:ea typeface="Times New Roman"/>
                <a:cs typeface="Times New Roman"/>
                <a:sym typeface="Times New Roman"/>
              </a:rPr>
              <a:t>option negotiation</a:t>
            </a:r>
            <a:r>
              <a:rPr lang="pt-BR">
                <a:solidFill>
                  <a:schemeClr val="dk1"/>
                </a:solidFill>
                <a:latin typeface="Times New Roman"/>
                <a:ea typeface="Times New Roman"/>
                <a:cs typeface="Times New Roman"/>
                <a:sym typeface="Times New Roman"/>
              </a:rPr>
              <a:t>” e uma vez que as opções foram negociadas, elas permanecem do mesmo jeito até o final.</a:t>
            </a:r>
            <a:endParaRPr>
              <a:solidFill>
                <a:schemeClr val="dk1"/>
              </a:solidFill>
              <a:latin typeface="Times New Roman"/>
              <a:ea typeface="Times New Roman"/>
              <a:cs typeface="Times New Roman"/>
              <a:sym typeface="Times New Roman"/>
            </a:endParaRPr>
          </a:p>
        </p:txBody>
      </p:sp>
      <p:sp>
        <p:nvSpPr>
          <p:cNvPr id="118" name="Google Shape;118;p2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r>
              <a:rPr lang="pt-BR"/>
              <a:t>9</a:t>
            </a:r>
            <a:endParaRPr/>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2" name="Shape 122"/>
        <p:cNvGrpSpPr/>
        <p:nvPr/>
      </p:nvGrpSpPr>
      <p:grpSpPr>
        <a:xfrm>
          <a:off x="0" y="0"/>
          <a:ext cx="0" cy="0"/>
          <a:chOff x="0" y="0"/>
          <a:chExt cx="0" cy="0"/>
        </a:xfrm>
      </p:grpSpPr>
      <p:sp>
        <p:nvSpPr>
          <p:cNvPr id="123" name="Google Shape;123;p23"/>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p>
            <a:pPr indent="-387350" lvl="1" marL="914400" rtl="0" algn="l">
              <a:lnSpc>
                <a:spcPct val="115000"/>
              </a:lnSpc>
              <a:spcBef>
                <a:spcPts val="0"/>
              </a:spcBef>
              <a:spcAft>
                <a:spcPts val="0"/>
              </a:spcAft>
              <a:buClr>
                <a:schemeClr val="dk1"/>
              </a:buClr>
              <a:buSzPts val="2500"/>
              <a:buFont typeface="Times New Roman"/>
              <a:buChar char="○"/>
            </a:pPr>
            <a:r>
              <a:rPr lang="pt-BR" sz="2500">
                <a:latin typeface="Times New Roman"/>
                <a:ea typeface="Times New Roman"/>
                <a:cs typeface="Times New Roman"/>
                <a:sym typeface="Times New Roman"/>
              </a:rPr>
              <a:t>6.1.3 - As primitivas de serviços de transporte OSI</a:t>
            </a:r>
            <a:endParaRPr sz="2500">
              <a:latin typeface="Times New Roman"/>
              <a:ea typeface="Times New Roman"/>
              <a:cs typeface="Times New Roman"/>
              <a:sym typeface="Times New Roman"/>
            </a:endParaRPr>
          </a:p>
        </p:txBody>
      </p:sp>
      <p:sp>
        <p:nvSpPr>
          <p:cNvPr id="124" name="Google Shape;124;p23"/>
          <p:cNvSpPr txBox="1"/>
          <p:nvPr>
            <p:ph idx="1" type="body"/>
          </p:nvPr>
        </p:nvSpPr>
        <p:spPr>
          <a:xfrm>
            <a:off x="311700" y="1152475"/>
            <a:ext cx="8520600" cy="3416400"/>
          </a:xfrm>
          <a:prstGeom prst="rect">
            <a:avLst/>
          </a:prstGeom>
        </p:spPr>
        <p:txBody>
          <a:bodyPr anchorCtr="0" anchor="t" bIns="91425" lIns="91425" spcFirstLastPara="1" rIns="91425" wrap="square" tIns="91425">
            <a:normAutofit lnSpcReduction="20000"/>
          </a:bodyPr>
          <a:lstStyle/>
          <a:p>
            <a:pPr indent="-342900" lvl="0" marL="457200" rtl="0" algn="l">
              <a:spcBef>
                <a:spcPts val="0"/>
              </a:spcBef>
              <a:spcAft>
                <a:spcPts val="0"/>
              </a:spcAft>
              <a:buClr>
                <a:schemeClr val="dk1"/>
              </a:buClr>
              <a:buSzPts val="1800"/>
              <a:buFont typeface="Times New Roman"/>
              <a:buChar char="●"/>
            </a:pPr>
            <a:r>
              <a:rPr lang="pt-BR">
                <a:solidFill>
                  <a:schemeClr val="dk1"/>
                </a:solidFill>
                <a:latin typeface="Times New Roman"/>
                <a:ea typeface="Times New Roman"/>
                <a:cs typeface="Times New Roman"/>
                <a:sym typeface="Times New Roman"/>
              </a:rPr>
              <a:t>As primitivas de serviços de transporte OSI englobam tanto serviços orientados à conexão quanto serviços sem conexão.</a:t>
            </a:r>
            <a:endParaRPr>
              <a:solidFill>
                <a:schemeClr val="dk1"/>
              </a:solidFill>
              <a:latin typeface="Times New Roman"/>
              <a:ea typeface="Times New Roman"/>
              <a:cs typeface="Times New Roman"/>
              <a:sym typeface="Times New Roman"/>
            </a:endParaRPr>
          </a:p>
          <a:p>
            <a:pPr indent="-342900" lvl="0" marL="457200" rtl="0" algn="l">
              <a:spcBef>
                <a:spcPts val="0"/>
              </a:spcBef>
              <a:spcAft>
                <a:spcPts val="0"/>
              </a:spcAft>
              <a:buClr>
                <a:schemeClr val="dk1"/>
              </a:buClr>
              <a:buSzPts val="1800"/>
              <a:buFont typeface="Times New Roman"/>
              <a:buChar char="●"/>
            </a:pPr>
            <a:r>
              <a:rPr lang="pt-BR">
                <a:solidFill>
                  <a:schemeClr val="dk1"/>
                </a:solidFill>
                <a:latin typeface="Times New Roman"/>
                <a:ea typeface="Times New Roman"/>
                <a:cs typeface="Times New Roman"/>
                <a:sym typeface="Times New Roman"/>
              </a:rPr>
              <a:t>Apesar das semelhanças com os serviços prestados pela camada de rede, algumas diferenças são fundamentais. A principal delas é que serviços de rede são desejados para modelar serviços oferecidos por redes reais. Essas redes podem ocasionar perdas de pacotes e problemas do tipo “N-Resets”.</a:t>
            </a:r>
            <a:endParaRPr>
              <a:solidFill>
                <a:schemeClr val="dk1"/>
              </a:solidFill>
              <a:latin typeface="Times New Roman"/>
              <a:ea typeface="Times New Roman"/>
              <a:cs typeface="Times New Roman"/>
              <a:sym typeface="Times New Roman"/>
            </a:endParaRPr>
          </a:p>
          <a:p>
            <a:pPr indent="-342900" lvl="0" marL="457200" rtl="0" algn="l">
              <a:spcBef>
                <a:spcPts val="0"/>
              </a:spcBef>
              <a:spcAft>
                <a:spcPts val="0"/>
              </a:spcAft>
              <a:buClr>
                <a:schemeClr val="dk1"/>
              </a:buClr>
              <a:buSzPts val="1800"/>
              <a:buFont typeface="Times New Roman"/>
              <a:buChar char="●"/>
            </a:pPr>
            <a:r>
              <a:rPr lang="pt-BR">
                <a:solidFill>
                  <a:schemeClr val="dk1"/>
                </a:solidFill>
                <a:latin typeface="Times New Roman"/>
                <a:ea typeface="Times New Roman"/>
                <a:cs typeface="Times New Roman"/>
                <a:sym typeface="Times New Roman"/>
              </a:rPr>
              <a:t>Já a camada de transporte, do ponto de vista do usuário, ela é livre de erros. Os erros vindos da camada de rede são interceptados pelas entidades de transporte e são corrigidos pelos protocolos de transporte.</a:t>
            </a:r>
            <a:endParaRPr>
              <a:solidFill>
                <a:schemeClr val="dk1"/>
              </a:solidFill>
              <a:latin typeface="Times New Roman"/>
              <a:ea typeface="Times New Roman"/>
              <a:cs typeface="Times New Roman"/>
              <a:sym typeface="Times New Roman"/>
            </a:endParaRPr>
          </a:p>
          <a:p>
            <a:pPr indent="-342900" lvl="0" marL="457200" rtl="0" algn="l">
              <a:spcBef>
                <a:spcPts val="0"/>
              </a:spcBef>
              <a:spcAft>
                <a:spcPts val="0"/>
              </a:spcAft>
              <a:buClr>
                <a:schemeClr val="dk1"/>
              </a:buClr>
              <a:buSzPts val="1800"/>
              <a:buFont typeface="Times New Roman"/>
              <a:buChar char="●"/>
            </a:pPr>
            <a:r>
              <a:rPr lang="pt-BR">
                <a:solidFill>
                  <a:schemeClr val="dk1"/>
                </a:solidFill>
                <a:latin typeface="Times New Roman"/>
                <a:ea typeface="Times New Roman"/>
                <a:cs typeface="Times New Roman"/>
                <a:sym typeface="Times New Roman"/>
              </a:rPr>
              <a:t>O serviço orientado à conexão fornecido pela camada de transporte possui este objetivo: Esconder as imperfeições da camada de rede de modo que os usuários possam assumir que o fluxo de bits seja totalmente livre de erros.</a:t>
            </a:r>
            <a:endParaRPr>
              <a:solidFill>
                <a:schemeClr val="dk1"/>
              </a:solidFill>
              <a:latin typeface="Times New Roman"/>
              <a:ea typeface="Times New Roman"/>
              <a:cs typeface="Times New Roman"/>
              <a:sym typeface="Times New Roman"/>
            </a:endParaRPr>
          </a:p>
        </p:txBody>
      </p:sp>
      <p:sp>
        <p:nvSpPr>
          <p:cNvPr id="125" name="Google Shape;125;p23"/>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r>
              <a:rPr lang="pt-BR"/>
              <a:t>10</a:t>
            </a:r>
            <a:endParaRPr/>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9" name="Shape 129"/>
        <p:cNvGrpSpPr/>
        <p:nvPr/>
      </p:nvGrpSpPr>
      <p:grpSpPr>
        <a:xfrm>
          <a:off x="0" y="0"/>
          <a:ext cx="0" cy="0"/>
          <a:chOff x="0" y="0"/>
          <a:chExt cx="0" cy="0"/>
        </a:xfrm>
      </p:grpSpPr>
      <p:sp>
        <p:nvSpPr>
          <p:cNvPr id="130" name="Google Shape;130;p24"/>
          <p:cNvSpPr txBox="1"/>
          <p:nvPr>
            <p:ph type="title"/>
          </p:nvPr>
        </p:nvSpPr>
        <p:spPr>
          <a:xfrm>
            <a:off x="311700" y="445025"/>
            <a:ext cx="8520600" cy="572700"/>
          </a:xfrm>
          <a:prstGeom prst="rect">
            <a:avLst/>
          </a:prstGeom>
        </p:spPr>
        <p:txBody>
          <a:bodyPr anchorCtr="0" anchor="t" bIns="91425" lIns="91425" spcFirstLastPara="1" rIns="91425" wrap="square" tIns="91425">
            <a:noAutofit/>
          </a:bodyPr>
          <a:lstStyle/>
          <a:p>
            <a:pPr indent="-387350" lvl="1" marL="914400" rtl="0" algn="l">
              <a:lnSpc>
                <a:spcPct val="115000"/>
              </a:lnSpc>
              <a:spcBef>
                <a:spcPts val="0"/>
              </a:spcBef>
              <a:spcAft>
                <a:spcPts val="0"/>
              </a:spcAft>
              <a:buClr>
                <a:schemeClr val="dk1"/>
              </a:buClr>
              <a:buSzPts val="2500"/>
              <a:buFont typeface="Times New Roman"/>
              <a:buChar char="○"/>
            </a:pPr>
            <a:r>
              <a:rPr lang="pt-BR" sz="2500">
                <a:latin typeface="Times New Roman"/>
                <a:ea typeface="Times New Roman"/>
                <a:cs typeface="Times New Roman"/>
                <a:sym typeface="Times New Roman"/>
              </a:rPr>
              <a:t>6.1.3 - As primitivas de serviços de transporte OSI</a:t>
            </a:r>
            <a:endParaRPr sz="2500">
              <a:latin typeface="Times New Roman"/>
              <a:ea typeface="Times New Roman"/>
              <a:cs typeface="Times New Roman"/>
              <a:sym typeface="Times New Roman"/>
            </a:endParaRPr>
          </a:p>
          <a:p>
            <a:pPr indent="0" lvl="0" marL="0" rtl="0" algn="l">
              <a:spcBef>
                <a:spcPts val="1200"/>
              </a:spcBef>
              <a:spcAft>
                <a:spcPts val="0"/>
              </a:spcAft>
              <a:buNone/>
            </a:pPr>
            <a:r>
              <a:t/>
            </a:r>
            <a:endParaRPr sz="2500"/>
          </a:p>
        </p:txBody>
      </p:sp>
      <p:sp>
        <p:nvSpPr>
          <p:cNvPr id="131" name="Google Shape;131;p24"/>
          <p:cNvSpPr txBox="1"/>
          <p:nvPr>
            <p:ph idx="1" type="body"/>
          </p:nvPr>
        </p:nvSpPr>
        <p:spPr>
          <a:xfrm>
            <a:off x="311700" y="1152475"/>
            <a:ext cx="8520600" cy="3507600"/>
          </a:xfrm>
          <a:prstGeom prst="rect">
            <a:avLst/>
          </a:prstGeom>
        </p:spPr>
        <p:txBody>
          <a:bodyPr anchorCtr="0" anchor="t" bIns="91425" lIns="91425" spcFirstLastPara="1" rIns="91425" wrap="square" tIns="91425">
            <a:normAutofit lnSpcReduction="20000"/>
          </a:bodyPr>
          <a:lstStyle/>
          <a:p>
            <a:pPr indent="-342900" lvl="0" marL="457200" rtl="0" algn="l">
              <a:spcBef>
                <a:spcPts val="0"/>
              </a:spcBef>
              <a:spcAft>
                <a:spcPts val="0"/>
              </a:spcAft>
              <a:buClr>
                <a:schemeClr val="dk1"/>
              </a:buClr>
              <a:buSzPts val="1800"/>
              <a:buFont typeface="Times New Roman"/>
              <a:buChar char="●"/>
            </a:pPr>
            <a:r>
              <a:rPr lang="pt-BR">
                <a:solidFill>
                  <a:schemeClr val="dk1"/>
                </a:solidFill>
                <a:latin typeface="Times New Roman"/>
                <a:ea typeface="Times New Roman"/>
                <a:cs typeface="Times New Roman"/>
                <a:sym typeface="Times New Roman"/>
              </a:rPr>
              <a:t>Uma configuração normal de conexão faz uso de 4 primitivas (</a:t>
            </a:r>
            <a:r>
              <a:rPr i="1" lang="pt-BR">
                <a:solidFill>
                  <a:schemeClr val="dk1"/>
                </a:solidFill>
                <a:latin typeface="Times New Roman"/>
                <a:ea typeface="Times New Roman"/>
                <a:cs typeface="Times New Roman"/>
                <a:sym typeface="Times New Roman"/>
              </a:rPr>
              <a:t>request, indication, response, confirmation</a:t>
            </a:r>
            <a:r>
              <a:rPr lang="pt-BR">
                <a:solidFill>
                  <a:schemeClr val="dk1"/>
                </a:solidFill>
                <a:latin typeface="Times New Roman"/>
                <a:ea typeface="Times New Roman"/>
                <a:cs typeface="Times New Roman"/>
                <a:sym typeface="Times New Roman"/>
              </a:rPr>
              <a:t>).</a:t>
            </a:r>
            <a:endParaRPr>
              <a:solidFill>
                <a:schemeClr val="dk1"/>
              </a:solidFill>
              <a:latin typeface="Times New Roman"/>
              <a:ea typeface="Times New Roman"/>
              <a:cs typeface="Times New Roman"/>
              <a:sym typeface="Times New Roman"/>
            </a:endParaRPr>
          </a:p>
          <a:p>
            <a:pPr indent="-342900" lvl="0" marL="457200" rtl="0" algn="l">
              <a:spcBef>
                <a:spcPts val="0"/>
              </a:spcBef>
              <a:spcAft>
                <a:spcPts val="0"/>
              </a:spcAft>
              <a:buClr>
                <a:schemeClr val="dk1"/>
              </a:buClr>
              <a:buSzPts val="1800"/>
              <a:buFont typeface="Times New Roman"/>
              <a:buChar char="●"/>
            </a:pPr>
            <a:r>
              <a:rPr lang="pt-BR">
                <a:solidFill>
                  <a:schemeClr val="dk1"/>
                </a:solidFill>
                <a:latin typeface="Times New Roman"/>
                <a:ea typeface="Times New Roman"/>
                <a:cs typeface="Times New Roman"/>
                <a:sym typeface="Times New Roman"/>
              </a:rPr>
              <a:t>Exemplo de cenário de conexão:</a:t>
            </a:r>
            <a:endParaRPr>
              <a:solidFill>
                <a:schemeClr val="dk1"/>
              </a:solidFill>
              <a:latin typeface="Times New Roman"/>
              <a:ea typeface="Times New Roman"/>
              <a:cs typeface="Times New Roman"/>
              <a:sym typeface="Times New Roman"/>
            </a:endParaRPr>
          </a:p>
          <a:p>
            <a:pPr indent="-342900" lvl="0" marL="457200" rtl="0" algn="l">
              <a:spcBef>
                <a:spcPts val="0"/>
              </a:spcBef>
              <a:spcAft>
                <a:spcPts val="0"/>
              </a:spcAft>
              <a:buClr>
                <a:schemeClr val="dk1"/>
              </a:buClr>
              <a:buSzPts val="1800"/>
              <a:buFont typeface="Times New Roman"/>
              <a:buChar char="-"/>
            </a:pPr>
            <a:r>
              <a:rPr lang="pt-BR">
                <a:solidFill>
                  <a:schemeClr val="dk1"/>
                </a:solidFill>
                <a:latin typeface="Times New Roman"/>
                <a:ea typeface="Times New Roman"/>
                <a:cs typeface="Times New Roman"/>
                <a:sym typeface="Times New Roman"/>
              </a:rPr>
              <a:t>T.CONNECT.request: Sinaliza o desejo de estabelecer a conexão com o usuário de transporte ligado ao endereço do ponto de acesso de serviço de transporte (TSAP) nomeado na primitiva </a:t>
            </a:r>
            <a:r>
              <a:rPr lang="pt-BR">
                <a:solidFill>
                  <a:schemeClr val="dk1"/>
                </a:solidFill>
                <a:latin typeface="Times New Roman"/>
                <a:ea typeface="Times New Roman"/>
                <a:cs typeface="Times New Roman"/>
                <a:sym typeface="Times New Roman"/>
              </a:rPr>
              <a:t>T.CONNECT.request.</a:t>
            </a:r>
            <a:endParaRPr>
              <a:solidFill>
                <a:schemeClr val="dk1"/>
              </a:solidFill>
              <a:latin typeface="Times New Roman"/>
              <a:ea typeface="Times New Roman"/>
              <a:cs typeface="Times New Roman"/>
              <a:sym typeface="Times New Roman"/>
            </a:endParaRPr>
          </a:p>
          <a:p>
            <a:pPr indent="-342900" lvl="0" marL="457200" rtl="0" algn="l">
              <a:spcBef>
                <a:spcPts val="0"/>
              </a:spcBef>
              <a:spcAft>
                <a:spcPts val="0"/>
              </a:spcAft>
              <a:buClr>
                <a:schemeClr val="dk1"/>
              </a:buClr>
              <a:buSzPts val="1800"/>
              <a:buFont typeface="Times New Roman"/>
              <a:buChar char="-"/>
            </a:pPr>
            <a:r>
              <a:rPr lang="pt-BR">
                <a:solidFill>
                  <a:schemeClr val="dk1"/>
                </a:solidFill>
                <a:latin typeface="Times New Roman"/>
                <a:ea typeface="Times New Roman"/>
                <a:cs typeface="Times New Roman"/>
                <a:sym typeface="Times New Roman"/>
              </a:rPr>
              <a:t>Tem-se então uma primitiva T.CONNECT.indication que ocorre no destino.</a:t>
            </a:r>
            <a:endParaRPr>
              <a:solidFill>
                <a:schemeClr val="dk1"/>
              </a:solidFill>
              <a:latin typeface="Times New Roman"/>
              <a:ea typeface="Times New Roman"/>
              <a:cs typeface="Times New Roman"/>
              <a:sym typeface="Times New Roman"/>
            </a:endParaRPr>
          </a:p>
          <a:p>
            <a:pPr indent="-342900" lvl="0" marL="457200" rtl="0" algn="l">
              <a:spcBef>
                <a:spcPts val="0"/>
              </a:spcBef>
              <a:spcAft>
                <a:spcPts val="0"/>
              </a:spcAft>
              <a:buClr>
                <a:schemeClr val="dk1"/>
              </a:buClr>
              <a:buSzPts val="1800"/>
              <a:buFont typeface="Times New Roman"/>
              <a:buChar char="-"/>
            </a:pPr>
            <a:r>
              <a:rPr lang="pt-BR">
                <a:solidFill>
                  <a:schemeClr val="dk1"/>
                </a:solidFill>
                <a:latin typeface="Times New Roman"/>
                <a:ea typeface="Times New Roman"/>
                <a:cs typeface="Times New Roman"/>
                <a:sym typeface="Times New Roman"/>
              </a:rPr>
              <a:t>o usuário de transporte ligado ao endereço do TSAP recebe a indicação e pode aceitá-la com um T.CONNECT.response ou rejeitá-la com um T.DISCONNECT.request.</a:t>
            </a:r>
            <a:endParaRPr>
              <a:solidFill>
                <a:schemeClr val="dk1"/>
              </a:solidFill>
              <a:latin typeface="Times New Roman"/>
              <a:ea typeface="Times New Roman"/>
              <a:cs typeface="Times New Roman"/>
              <a:sym typeface="Times New Roman"/>
            </a:endParaRPr>
          </a:p>
          <a:p>
            <a:pPr indent="-342900" lvl="0" marL="457200" rtl="0" algn="l">
              <a:spcBef>
                <a:spcPts val="0"/>
              </a:spcBef>
              <a:spcAft>
                <a:spcPts val="0"/>
              </a:spcAft>
              <a:buClr>
                <a:schemeClr val="dk1"/>
              </a:buClr>
              <a:buSzPts val="1800"/>
              <a:buFont typeface="Times New Roman"/>
              <a:buChar char="-"/>
            </a:pPr>
            <a:r>
              <a:rPr lang="pt-BR">
                <a:solidFill>
                  <a:schemeClr val="dk1"/>
                </a:solidFill>
                <a:latin typeface="Times New Roman"/>
                <a:ea typeface="Times New Roman"/>
                <a:cs typeface="Times New Roman"/>
                <a:sym typeface="Times New Roman"/>
              </a:rPr>
              <a:t>O resultado de uma aceitação chega ao iniciador como um T.CONNECT.confirmation e de uma rejeição, como um T.DISCONNECT.indication.</a:t>
            </a:r>
            <a:endParaRPr>
              <a:solidFill>
                <a:schemeClr val="dk1"/>
              </a:solidFill>
              <a:latin typeface="Times New Roman"/>
              <a:ea typeface="Times New Roman"/>
              <a:cs typeface="Times New Roman"/>
              <a:sym typeface="Times New Roman"/>
            </a:endParaRPr>
          </a:p>
        </p:txBody>
      </p:sp>
      <p:sp>
        <p:nvSpPr>
          <p:cNvPr id="132" name="Google Shape;132;p24"/>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r>
              <a:rPr lang="pt-BR"/>
              <a:t>11</a:t>
            </a:r>
            <a:endParaRPr/>
          </a:p>
        </p:txBody>
      </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6" name="Shape 136"/>
        <p:cNvGrpSpPr/>
        <p:nvPr/>
      </p:nvGrpSpPr>
      <p:grpSpPr>
        <a:xfrm>
          <a:off x="0" y="0"/>
          <a:ext cx="0" cy="0"/>
          <a:chOff x="0" y="0"/>
          <a:chExt cx="0" cy="0"/>
        </a:xfrm>
      </p:grpSpPr>
      <p:sp>
        <p:nvSpPr>
          <p:cNvPr id="137" name="Google Shape;137;p25"/>
          <p:cNvSpPr txBox="1"/>
          <p:nvPr>
            <p:ph type="title"/>
          </p:nvPr>
        </p:nvSpPr>
        <p:spPr>
          <a:xfrm>
            <a:off x="311700" y="445025"/>
            <a:ext cx="8520600" cy="572700"/>
          </a:xfrm>
          <a:prstGeom prst="rect">
            <a:avLst/>
          </a:prstGeom>
        </p:spPr>
        <p:txBody>
          <a:bodyPr anchorCtr="0" anchor="t" bIns="91425" lIns="91425" spcFirstLastPara="1" rIns="91425" wrap="square" tIns="91425">
            <a:noAutofit/>
          </a:bodyPr>
          <a:lstStyle/>
          <a:p>
            <a:pPr indent="-387350" lvl="1" marL="914400" rtl="0" algn="l">
              <a:lnSpc>
                <a:spcPct val="115000"/>
              </a:lnSpc>
              <a:spcBef>
                <a:spcPts val="0"/>
              </a:spcBef>
              <a:spcAft>
                <a:spcPts val="0"/>
              </a:spcAft>
              <a:buClr>
                <a:schemeClr val="dk1"/>
              </a:buClr>
              <a:buSzPts val="2500"/>
              <a:buFont typeface="Times New Roman"/>
              <a:buChar char="○"/>
            </a:pPr>
            <a:r>
              <a:rPr lang="pt-BR" sz="2500">
                <a:latin typeface="Times New Roman"/>
                <a:ea typeface="Times New Roman"/>
                <a:cs typeface="Times New Roman"/>
                <a:sym typeface="Times New Roman"/>
              </a:rPr>
              <a:t>6.1.3 - As primitivas de serviços de transporte OSI</a:t>
            </a:r>
            <a:endParaRPr sz="2500">
              <a:latin typeface="Times New Roman"/>
              <a:ea typeface="Times New Roman"/>
              <a:cs typeface="Times New Roman"/>
              <a:sym typeface="Times New Roman"/>
            </a:endParaRPr>
          </a:p>
          <a:p>
            <a:pPr indent="0" lvl="0" marL="0" rtl="0" algn="l">
              <a:spcBef>
                <a:spcPts val="1200"/>
              </a:spcBef>
              <a:spcAft>
                <a:spcPts val="0"/>
              </a:spcAft>
              <a:buClr>
                <a:schemeClr val="dk1"/>
              </a:buClr>
              <a:buSzPts val="1100"/>
              <a:buFont typeface="Arial"/>
              <a:buNone/>
            </a:pPr>
            <a:r>
              <a:t/>
            </a:r>
            <a:endParaRPr sz="2500"/>
          </a:p>
          <a:p>
            <a:pPr indent="0" lvl="0" marL="0" rtl="0" algn="l">
              <a:spcBef>
                <a:spcPts val="0"/>
              </a:spcBef>
              <a:spcAft>
                <a:spcPts val="0"/>
              </a:spcAft>
              <a:buNone/>
            </a:pPr>
            <a:r>
              <a:t/>
            </a:r>
            <a:endParaRPr sz="2500"/>
          </a:p>
        </p:txBody>
      </p:sp>
      <p:sp>
        <p:nvSpPr>
          <p:cNvPr id="138" name="Google Shape;138;p25"/>
          <p:cNvSpPr txBox="1"/>
          <p:nvPr>
            <p:ph idx="1" type="body"/>
          </p:nvPr>
        </p:nvSpPr>
        <p:spPr>
          <a:xfrm>
            <a:off x="311700" y="1152475"/>
            <a:ext cx="8520600" cy="3606900"/>
          </a:xfrm>
          <a:prstGeom prst="rect">
            <a:avLst/>
          </a:prstGeom>
        </p:spPr>
        <p:txBody>
          <a:bodyPr anchorCtr="0" anchor="t" bIns="91425" lIns="91425" spcFirstLastPara="1" rIns="91425" wrap="square" tIns="91425">
            <a:normAutofit lnSpcReduction="20000"/>
          </a:bodyPr>
          <a:lstStyle/>
          <a:p>
            <a:pPr indent="-342900" lvl="0" marL="457200" rtl="0" algn="l">
              <a:spcBef>
                <a:spcPts val="0"/>
              </a:spcBef>
              <a:spcAft>
                <a:spcPts val="0"/>
              </a:spcAft>
              <a:buClr>
                <a:schemeClr val="dk1"/>
              </a:buClr>
              <a:buSzPts val="1800"/>
              <a:buFont typeface="Times New Roman"/>
              <a:buChar char="●"/>
            </a:pPr>
            <a:r>
              <a:rPr lang="pt-BR">
                <a:solidFill>
                  <a:schemeClr val="dk1"/>
                </a:solidFill>
                <a:latin typeface="Times New Roman"/>
                <a:ea typeface="Times New Roman"/>
                <a:cs typeface="Times New Roman"/>
                <a:sym typeface="Times New Roman"/>
              </a:rPr>
              <a:t>No caso do cenário em que o próprio provedor de serviço de transporte rejeita a conexão, nada é transmitido pela rede e então, o lado remoto nem ao menos fica sabendo da falha na tentativa.</a:t>
            </a:r>
            <a:endParaRPr>
              <a:solidFill>
                <a:schemeClr val="dk1"/>
              </a:solidFill>
              <a:latin typeface="Times New Roman"/>
              <a:ea typeface="Times New Roman"/>
              <a:cs typeface="Times New Roman"/>
              <a:sym typeface="Times New Roman"/>
            </a:endParaRPr>
          </a:p>
          <a:p>
            <a:pPr indent="-342900" lvl="0" marL="457200" rtl="0" algn="l">
              <a:spcBef>
                <a:spcPts val="0"/>
              </a:spcBef>
              <a:spcAft>
                <a:spcPts val="0"/>
              </a:spcAft>
              <a:buClr>
                <a:schemeClr val="dk1"/>
              </a:buClr>
              <a:buSzPts val="1800"/>
              <a:buFont typeface="Times New Roman"/>
              <a:buChar char="●"/>
            </a:pPr>
            <a:r>
              <a:rPr lang="pt-BR">
                <a:solidFill>
                  <a:schemeClr val="dk1"/>
                </a:solidFill>
                <a:latin typeface="Times New Roman"/>
                <a:ea typeface="Times New Roman"/>
                <a:cs typeface="Times New Roman"/>
                <a:sym typeface="Times New Roman"/>
              </a:rPr>
              <a:t>Existem 3 formas em que uma conexão pode ser liberada: </a:t>
            </a:r>
            <a:endParaRPr>
              <a:solidFill>
                <a:schemeClr val="dk1"/>
              </a:solidFill>
              <a:latin typeface="Times New Roman"/>
              <a:ea typeface="Times New Roman"/>
              <a:cs typeface="Times New Roman"/>
              <a:sym typeface="Times New Roman"/>
            </a:endParaRPr>
          </a:p>
          <a:p>
            <a:pPr indent="-342900" lvl="0" marL="457200" rtl="0" algn="l">
              <a:spcBef>
                <a:spcPts val="0"/>
              </a:spcBef>
              <a:spcAft>
                <a:spcPts val="0"/>
              </a:spcAft>
              <a:buClr>
                <a:schemeClr val="dk1"/>
              </a:buClr>
              <a:buSzPts val="1800"/>
              <a:buFont typeface="Times New Roman"/>
              <a:buChar char="-"/>
            </a:pPr>
            <a:r>
              <a:rPr lang="pt-BR">
                <a:solidFill>
                  <a:schemeClr val="dk1"/>
                </a:solidFill>
                <a:latin typeface="Times New Roman"/>
                <a:ea typeface="Times New Roman"/>
                <a:cs typeface="Times New Roman"/>
                <a:sym typeface="Times New Roman"/>
              </a:rPr>
              <a:t>A forma tradicional é quando uma das partes fazem uso da primitiva do tipo </a:t>
            </a:r>
            <a:r>
              <a:rPr lang="pt-BR">
                <a:solidFill>
                  <a:schemeClr val="dk1"/>
                </a:solidFill>
                <a:latin typeface="Times New Roman"/>
                <a:ea typeface="Times New Roman"/>
                <a:cs typeface="Times New Roman"/>
                <a:sym typeface="Times New Roman"/>
              </a:rPr>
              <a:t>T.DISCONNECT.request que é sinalizada para a outra parte como uma T.DISCONNECT.indication. Então, qualquer uma das partes podem iniciar a liberação da conexão.</a:t>
            </a:r>
            <a:endParaRPr>
              <a:solidFill>
                <a:schemeClr val="dk1"/>
              </a:solidFill>
              <a:latin typeface="Times New Roman"/>
              <a:ea typeface="Times New Roman"/>
              <a:cs typeface="Times New Roman"/>
              <a:sym typeface="Times New Roman"/>
            </a:endParaRPr>
          </a:p>
          <a:p>
            <a:pPr indent="-342900" lvl="0" marL="457200" rtl="0" algn="l">
              <a:spcBef>
                <a:spcPts val="0"/>
              </a:spcBef>
              <a:spcAft>
                <a:spcPts val="0"/>
              </a:spcAft>
              <a:buClr>
                <a:schemeClr val="dk1"/>
              </a:buClr>
              <a:buSzPts val="1800"/>
              <a:buFont typeface="Times New Roman"/>
              <a:buChar char="-"/>
            </a:pPr>
            <a:r>
              <a:rPr lang="pt-BR">
                <a:solidFill>
                  <a:schemeClr val="dk1"/>
                </a:solidFill>
                <a:latin typeface="Times New Roman"/>
                <a:ea typeface="Times New Roman"/>
                <a:cs typeface="Times New Roman"/>
                <a:sym typeface="Times New Roman"/>
              </a:rPr>
              <a:t>Quando ambas as partes simultaneamente fazem</a:t>
            </a:r>
            <a:r>
              <a:rPr lang="pt-BR">
                <a:solidFill>
                  <a:schemeClr val="dk1"/>
                </a:solidFill>
                <a:latin typeface="Times New Roman"/>
                <a:ea typeface="Times New Roman"/>
                <a:cs typeface="Times New Roman"/>
                <a:sym typeface="Times New Roman"/>
              </a:rPr>
              <a:t> uso da </a:t>
            </a:r>
            <a:r>
              <a:rPr lang="pt-BR">
                <a:solidFill>
                  <a:schemeClr val="dk1"/>
                </a:solidFill>
                <a:latin typeface="Times New Roman"/>
                <a:ea typeface="Times New Roman"/>
                <a:cs typeface="Times New Roman"/>
                <a:sym typeface="Times New Roman"/>
              </a:rPr>
              <a:t>T.DISCONNECT.request, a conexão é liberada sem necessidade de indicação.</a:t>
            </a:r>
            <a:endParaRPr>
              <a:solidFill>
                <a:schemeClr val="dk1"/>
              </a:solidFill>
              <a:latin typeface="Times New Roman"/>
              <a:ea typeface="Times New Roman"/>
              <a:cs typeface="Times New Roman"/>
              <a:sym typeface="Times New Roman"/>
            </a:endParaRPr>
          </a:p>
          <a:p>
            <a:pPr indent="-342900" lvl="0" marL="457200" rtl="0" algn="l">
              <a:spcBef>
                <a:spcPts val="0"/>
              </a:spcBef>
              <a:spcAft>
                <a:spcPts val="0"/>
              </a:spcAft>
              <a:buClr>
                <a:schemeClr val="dk1"/>
              </a:buClr>
              <a:buSzPts val="1800"/>
              <a:buFont typeface="Times New Roman"/>
              <a:buChar char="-"/>
            </a:pPr>
            <a:r>
              <a:rPr lang="pt-BR">
                <a:solidFill>
                  <a:schemeClr val="dk1"/>
                </a:solidFill>
                <a:latin typeface="Times New Roman"/>
                <a:ea typeface="Times New Roman"/>
                <a:cs typeface="Times New Roman"/>
                <a:sym typeface="Times New Roman"/>
              </a:rPr>
              <a:t>O provedor de transporte pode encerrar a conexão fazendo uso de T.DISCONNECT.indication nas duas extremidades.</a:t>
            </a:r>
            <a:endParaRPr>
              <a:solidFill>
                <a:schemeClr val="dk1"/>
              </a:solidFill>
              <a:latin typeface="Times New Roman"/>
              <a:ea typeface="Times New Roman"/>
              <a:cs typeface="Times New Roman"/>
              <a:sym typeface="Times New Roman"/>
            </a:endParaRPr>
          </a:p>
        </p:txBody>
      </p:sp>
      <p:sp>
        <p:nvSpPr>
          <p:cNvPr id="139" name="Google Shape;139;p25"/>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r>
              <a:rPr lang="pt-BR"/>
              <a:t>12</a:t>
            </a:r>
            <a:endParaRPr/>
          </a:p>
        </p:txBody>
      </p: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3" name="Shape 143"/>
        <p:cNvGrpSpPr/>
        <p:nvPr/>
      </p:nvGrpSpPr>
      <p:grpSpPr>
        <a:xfrm>
          <a:off x="0" y="0"/>
          <a:ext cx="0" cy="0"/>
          <a:chOff x="0" y="0"/>
          <a:chExt cx="0" cy="0"/>
        </a:xfrm>
      </p:grpSpPr>
      <p:sp>
        <p:nvSpPr>
          <p:cNvPr id="144" name="Google Shape;144;p26"/>
          <p:cNvSpPr txBox="1"/>
          <p:nvPr>
            <p:ph type="title"/>
          </p:nvPr>
        </p:nvSpPr>
        <p:spPr>
          <a:xfrm>
            <a:off x="311700" y="445025"/>
            <a:ext cx="8520600" cy="572700"/>
          </a:xfrm>
          <a:prstGeom prst="rect">
            <a:avLst/>
          </a:prstGeom>
        </p:spPr>
        <p:txBody>
          <a:bodyPr anchorCtr="0" anchor="t" bIns="91425" lIns="91425" spcFirstLastPara="1" rIns="91425" wrap="square" tIns="91425">
            <a:noAutofit/>
          </a:bodyPr>
          <a:lstStyle/>
          <a:p>
            <a:pPr indent="-387350" lvl="1" marL="914400" rtl="0" algn="l">
              <a:lnSpc>
                <a:spcPct val="115000"/>
              </a:lnSpc>
              <a:spcBef>
                <a:spcPts val="0"/>
              </a:spcBef>
              <a:spcAft>
                <a:spcPts val="0"/>
              </a:spcAft>
              <a:buClr>
                <a:schemeClr val="dk1"/>
              </a:buClr>
              <a:buSzPts val="2500"/>
              <a:buFont typeface="Times New Roman"/>
              <a:buChar char="○"/>
            </a:pPr>
            <a:r>
              <a:rPr lang="pt-BR" sz="2500">
                <a:latin typeface="Times New Roman"/>
                <a:ea typeface="Times New Roman"/>
                <a:cs typeface="Times New Roman"/>
                <a:sym typeface="Times New Roman"/>
              </a:rPr>
              <a:t>6.1.3 - As primitivas de serviços de transporte OSI</a:t>
            </a:r>
            <a:endParaRPr sz="2500">
              <a:latin typeface="Times New Roman"/>
              <a:ea typeface="Times New Roman"/>
              <a:cs typeface="Times New Roman"/>
              <a:sym typeface="Times New Roman"/>
            </a:endParaRPr>
          </a:p>
          <a:p>
            <a:pPr indent="0" lvl="0" marL="0" rtl="0" algn="l">
              <a:spcBef>
                <a:spcPts val="1200"/>
              </a:spcBef>
              <a:spcAft>
                <a:spcPts val="0"/>
              </a:spcAft>
              <a:buNone/>
            </a:pPr>
            <a:r>
              <a:t/>
            </a:r>
            <a:endParaRPr sz="2500"/>
          </a:p>
        </p:txBody>
      </p:sp>
      <p:sp>
        <p:nvSpPr>
          <p:cNvPr id="145" name="Google Shape;145;p26"/>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342900" lvl="0" marL="457200" rtl="0" algn="l">
              <a:spcBef>
                <a:spcPts val="0"/>
              </a:spcBef>
              <a:spcAft>
                <a:spcPts val="0"/>
              </a:spcAft>
              <a:buClr>
                <a:schemeClr val="dk1"/>
              </a:buClr>
              <a:buSzPts val="1800"/>
              <a:buFont typeface="Times New Roman"/>
              <a:buChar char="●"/>
            </a:pPr>
            <a:r>
              <a:rPr lang="pt-BR">
                <a:solidFill>
                  <a:schemeClr val="dk1"/>
                </a:solidFill>
                <a:latin typeface="Times New Roman"/>
                <a:ea typeface="Times New Roman"/>
                <a:cs typeface="Times New Roman"/>
                <a:sym typeface="Times New Roman"/>
              </a:rPr>
              <a:t>Existem alguns cenários em que o provedor de serviço de transporte irá usar da primitiva </a:t>
            </a:r>
            <a:r>
              <a:rPr lang="pt-BR">
                <a:solidFill>
                  <a:schemeClr val="dk1"/>
                </a:solidFill>
                <a:latin typeface="Times New Roman"/>
                <a:ea typeface="Times New Roman"/>
                <a:cs typeface="Times New Roman"/>
                <a:sym typeface="Times New Roman"/>
              </a:rPr>
              <a:t>T.DISCONNECT.indication espontaneamente.</a:t>
            </a:r>
            <a:endParaRPr>
              <a:solidFill>
                <a:schemeClr val="dk1"/>
              </a:solidFill>
              <a:latin typeface="Times New Roman"/>
              <a:ea typeface="Times New Roman"/>
              <a:cs typeface="Times New Roman"/>
              <a:sym typeface="Times New Roman"/>
            </a:endParaRPr>
          </a:p>
          <a:p>
            <a:pPr indent="-342900" lvl="0" marL="457200" rtl="0" algn="l">
              <a:spcBef>
                <a:spcPts val="0"/>
              </a:spcBef>
              <a:spcAft>
                <a:spcPts val="0"/>
              </a:spcAft>
              <a:buClr>
                <a:schemeClr val="dk1"/>
              </a:buClr>
              <a:buSzPts val="1800"/>
              <a:buFont typeface="Times New Roman"/>
              <a:buChar char="-"/>
            </a:pPr>
            <a:r>
              <a:rPr lang="pt-BR">
                <a:solidFill>
                  <a:schemeClr val="dk1"/>
                </a:solidFill>
                <a:latin typeface="Times New Roman"/>
                <a:ea typeface="Times New Roman"/>
                <a:cs typeface="Times New Roman"/>
                <a:sym typeface="Times New Roman"/>
              </a:rPr>
              <a:t>Se a rede entra em colapso e se recusa a reagir à repetidas investidas de comunicação, o provedor de serviço de transporte pode usar de tal primitiva para restabelecer a ordem no ambiente de comunicação.</a:t>
            </a:r>
            <a:endParaRPr>
              <a:solidFill>
                <a:schemeClr val="dk1"/>
              </a:solidFill>
              <a:latin typeface="Times New Roman"/>
              <a:ea typeface="Times New Roman"/>
              <a:cs typeface="Times New Roman"/>
              <a:sym typeface="Times New Roman"/>
            </a:endParaRPr>
          </a:p>
          <a:p>
            <a:pPr indent="-342900" lvl="0" marL="457200" rtl="0" algn="l">
              <a:spcBef>
                <a:spcPts val="0"/>
              </a:spcBef>
              <a:spcAft>
                <a:spcPts val="0"/>
              </a:spcAft>
              <a:buClr>
                <a:schemeClr val="dk1"/>
              </a:buClr>
              <a:buSzPts val="1800"/>
              <a:buFont typeface="Times New Roman"/>
              <a:buChar char="●"/>
            </a:pPr>
            <a:r>
              <a:rPr lang="pt-BR">
                <a:solidFill>
                  <a:schemeClr val="dk1"/>
                </a:solidFill>
                <a:latin typeface="Times New Roman"/>
                <a:ea typeface="Times New Roman"/>
                <a:cs typeface="Times New Roman"/>
                <a:sym typeface="Times New Roman"/>
              </a:rPr>
              <a:t>Nesse sentido, tem-se a quebra da conexão atual devido ao colapso da rede e uma nova conexão pode ser estabelecida.</a:t>
            </a:r>
            <a:endParaRPr>
              <a:solidFill>
                <a:schemeClr val="dk1"/>
              </a:solidFill>
              <a:latin typeface="Times New Roman"/>
              <a:ea typeface="Times New Roman"/>
              <a:cs typeface="Times New Roman"/>
              <a:sym typeface="Times New Roman"/>
            </a:endParaRPr>
          </a:p>
        </p:txBody>
      </p:sp>
      <p:sp>
        <p:nvSpPr>
          <p:cNvPr id="146" name="Google Shape;146;p26"/>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r>
              <a:rPr lang="pt-BR"/>
              <a:t>13</a:t>
            </a:r>
            <a:endParaRPr/>
          </a:p>
        </p:txBody>
      </p:sp>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0" name="Shape 150"/>
        <p:cNvGrpSpPr/>
        <p:nvPr/>
      </p:nvGrpSpPr>
      <p:grpSpPr>
        <a:xfrm>
          <a:off x="0" y="0"/>
          <a:ext cx="0" cy="0"/>
          <a:chOff x="0" y="0"/>
          <a:chExt cx="0" cy="0"/>
        </a:xfrm>
      </p:grpSpPr>
      <p:sp>
        <p:nvSpPr>
          <p:cNvPr id="151" name="Google Shape;151;p27"/>
          <p:cNvSpPr txBox="1"/>
          <p:nvPr>
            <p:ph type="title"/>
          </p:nvPr>
        </p:nvSpPr>
        <p:spPr>
          <a:xfrm>
            <a:off x="311700" y="445025"/>
            <a:ext cx="8520600" cy="572700"/>
          </a:xfrm>
          <a:prstGeom prst="rect">
            <a:avLst/>
          </a:prstGeom>
        </p:spPr>
        <p:txBody>
          <a:bodyPr anchorCtr="0" anchor="t" bIns="91425" lIns="91425" spcFirstLastPara="1" rIns="91425" wrap="square" tIns="91425">
            <a:noAutofit/>
          </a:bodyPr>
          <a:lstStyle/>
          <a:p>
            <a:pPr indent="-387350" lvl="1" marL="914400" rtl="0" algn="l">
              <a:lnSpc>
                <a:spcPct val="115000"/>
              </a:lnSpc>
              <a:spcBef>
                <a:spcPts val="0"/>
              </a:spcBef>
              <a:spcAft>
                <a:spcPts val="0"/>
              </a:spcAft>
              <a:buClr>
                <a:schemeClr val="dk1"/>
              </a:buClr>
              <a:buSzPts val="2500"/>
              <a:buFont typeface="Times New Roman"/>
              <a:buChar char="○"/>
            </a:pPr>
            <a:r>
              <a:rPr lang="pt-BR" sz="2500">
                <a:latin typeface="Times New Roman"/>
                <a:ea typeface="Times New Roman"/>
                <a:cs typeface="Times New Roman"/>
                <a:sym typeface="Times New Roman"/>
              </a:rPr>
              <a:t>6.1.3 - As primitivas de serviços de transporte OSI</a:t>
            </a:r>
            <a:endParaRPr sz="2500">
              <a:latin typeface="Times New Roman"/>
              <a:ea typeface="Times New Roman"/>
              <a:cs typeface="Times New Roman"/>
              <a:sym typeface="Times New Roman"/>
            </a:endParaRPr>
          </a:p>
          <a:p>
            <a:pPr indent="0" lvl="0" marL="0" rtl="0" algn="l">
              <a:spcBef>
                <a:spcPts val="1200"/>
              </a:spcBef>
              <a:spcAft>
                <a:spcPts val="0"/>
              </a:spcAft>
              <a:buClr>
                <a:schemeClr val="dk1"/>
              </a:buClr>
              <a:buSzPts val="1100"/>
              <a:buFont typeface="Arial"/>
              <a:buNone/>
            </a:pPr>
            <a:r>
              <a:t/>
            </a:r>
            <a:endParaRPr sz="2500"/>
          </a:p>
          <a:p>
            <a:pPr indent="0" lvl="0" marL="0" rtl="0" algn="l">
              <a:spcBef>
                <a:spcPts val="0"/>
              </a:spcBef>
              <a:spcAft>
                <a:spcPts val="0"/>
              </a:spcAft>
              <a:buNone/>
            </a:pPr>
            <a:r>
              <a:t/>
            </a:r>
            <a:endParaRPr sz="2500"/>
          </a:p>
        </p:txBody>
      </p:sp>
      <p:sp>
        <p:nvSpPr>
          <p:cNvPr id="152" name="Google Shape;152;p27"/>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342900" lvl="0" marL="457200" rtl="0" algn="l">
              <a:spcBef>
                <a:spcPts val="0"/>
              </a:spcBef>
              <a:spcAft>
                <a:spcPts val="0"/>
              </a:spcAft>
              <a:buClr>
                <a:schemeClr val="dk1"/>
              </a:buClr>
              <a:buSzPts val="1800"/>
              <a:buFont typeface="Times New Roman"/>
              <a:buChar char="●"/>
            </a:pPr>
            <a:r>
              <a:rPr lang="pt-BR">
                <a:solidFill>
                  <a:schemeClr val="dk1"/>
                </a:solidFill>
                <a:latin typeface="Times New Roman"/>
                <a:ea typeface="Times New Roman"/>
                <a:cs typeface="Times New Roman"/>
                <a:sym typeface="Times New Roman"/>
              </a:rPr>
              <a:t>O ponto final da conexão possui 4 estados possíveis em um TSAP</a:t>
            </a:r>
            <a:endParaRPr>
              <a:solidFill>
                <a:schemeClr val="dk1"/>
              </a:solidFill>
              <a:latin typeface="Times New Roman"/>
              <a:ea typeface="Times New Roman"/>
              <a:cs typeface="Times New Roman"/>
              <a:sym typeface="Times New Roman"/>
            </a:endParaRPr>
          </a:p>
          <a:p>
            <a:pPr indent="-342900" lvl="0" marL="457200" rtl="0" algn="l">
              <a:spcBef>
                <a:spcPts val="0"/>
              </a:spcBef>
              <a:spcAft>
                <a:spcPts val="0"/>
              </a:spcAft>
              <a:buClr>
                <a:schemeClr val="dk1"/>
              </a:buClr>
              <a:buSzPts val="1800"/>
              <a:buFont typeface="Times New Roman"/>
              <a:buChar char="-"/>
            </a:pPr>
            <a:r>
              <a:rPr i="1" lang="pt-BR">
                <a:solidFill>
                  <a:schemeClr val="dk1"/>
                </a:solidFill>
                <a:latin typeface="Times New Roman"/>
                <a:ea typeface="Times New Roman"/>
                <a:cs typeface="Times New Roman"/>
                <a:sym typeface="Times New Roman"/>
              </a:rPr>
              <a:t>IDLE</a:t>
            </a:r>
            <a:r>
              <a:rPr lang="pt-BR">
                <a:solidFill>
                  <a:schemeClr val="dk1"/>
                </a:solidFill>
                <a:latin typeface="Times New Roman"/>
                <a:ea typeface="Times New Roman"/>
                <a:cs typeface="Times New Roman"/>
                <a:sym typeface="Times New Roman"/>
              </a:rPr>
              <a:t>: Nenhuma conexão foi estabelecida ou está tentando ser estabelecida. Ambos os sentidos de conexão são possíveis.</a:t>
            </a:r>
            <a:endParaRPr>
              <a:solidFill>
                <a:schemeClr val="dk1"/>
              </a:solidFill>
              <a:latin typeface="Times New Roman"/>
              <a:ea typeface="Times New Roman"/>
              <a:cs typeface="Times New Roman"/>
              <a:sym typeface="Times New Roman"/>
            </a:endParaRPr>
          </a:p>
          <a:p>
            <a:pPr indent="-342900" lvl="0" marL="457200" rtl="0" algn="l">
              <a:spcBef>
                <a:spcPts val="0"/>
              </a:spcBef>
              <a:spcAft>
                <a:spcPts val="0"/>
              </a:spcAft>
              <a:buClr>
                <a:schemeClr val="dk1"/>
              </a:buClr>
              <a:buSzPts val="1800"/>
              <a:buFont typeface="Times New Roman"/>
              <a:buChar char="-"/>
            </a:pPr>
            <a:r>
              <a:rPr i="1" lang="pt-BR">
                <a:solidFill>
                  <a:schemeClr val="dk1"/>
                </a:solidFill>
                <a:latin typeface="Times New Roman"/>
                <a:ea typeface="Times New Roman"/>
                <a:cs typeface="Times New Roman"/>
                <a:sym typeface="Times New Roman"/>
              </a:rPr>
              <a:t>Outgoing Connection Pending</a:t>
            </a:r>
            <a:r>
              <a:rPr lang="pt-BR">
                <a:solidFill>
                  <a:schemeClr val="dk1"/>
                </a:solidFill>
                <a:latin typeface="Times New Roman"/>
                <a:ea typeface="Times New Roman"/>
                <a:cs typeface="Times New Roman"/>
                <a:sym typeface="Times New Roman"/>
              </a:rPr>
              <a:t>: Uma primitiva T.DISCONNECT.request foi realizada, contudo, a resposta do par remoto não foi obtida ainda.</a:t>
            </a:r>
            <a:endParaRPr>
              <a:solidFill>
                <a:schemeClr val="dk1"/>
              </a:solidFill>
              <a:latin typeface="Times New Roman"/>
              <a:ea typeface="Times New Roman"/>
              <a:cs typeface="Times New Roman"/>
              <a:sym typeface="Times New Roman"/>
            </a:endParaRPr>
          </a:p>
          <a:p>
            <a:pPr indent="-342900" lvl="0" marL="457200" rtl="0" algn="l">
              <a:spcBef>
                <a:spcPts val="0"/>
              </a:spcBef>
              <a:spcAft>
                <a:spcPts val="0"/>
              </a:spcAft>
              <a:buClr>
                <a:schemeClr val="dk1"/>
              </a:buClr>
              <a:buSzPts val="1800"/>
              <a:buFont typeface="Times New Roman"/>
              <a:buChar char="-"/>
            </a:pPr>
            <a:r>
              <a:rPr i="1" lang="pt-BR">
                <a:solidFill>
                  <a:schemeClr val="dk1"/>
                </a:solidFill>
                <a:latin typeface="Times New Roman"/>
                <a:ea typeface="Times New Roman"/>
                <a:cs typeface="Times New Roman"/>
                <a:sym typeface="Times New Roman"/>
              </a:rPr>
              <a:t>Incoming Connection Pending</a:t>
            </a:r>
            <a:r>
              <a:rPr lang="pt-BR">
                <a:solidFill>
                  <a:schemeClr val="dk1"/>
                </a:solidFill>
                <a:latin typeface="Times New Roman"/>
                <a:ea typeface="Times New Roman"/>
                <a:cs typeface="Times New Roman"/>
                <a:sym typeface="Times New Roman"/>
              </a:rPr>
              <a:t>: Uma primitiva T.DISCONNECT.indication foi obtida, contudo, ainda não foi aceita ou rejeitada.</a:t>
            </a:r>
            <a:endParaRPr>
              <a:solidFill>
                <a:schemeClr val="dk1"/>
              </a:solidFill>
              <a:latin typeface="Times New Roman"/>
              <a:ea typeface="Times New Roman"/>
              <a:cs typeface="Times New Roman"/>
              <a:sym typeface="Times New Roman"/>
            </a:endParaRPr>
          </a:p>
          <a:p>
            <a:pPr indent="-342900" lvl="0" marL="457200" rtl="0" algn="l">
              <a:spcBef>
                <a:spcPts val="0"/>
              </a:spcBef>
              <a:spcAft>
                <a:spcPts val="0"/>
              </a:spcAft>
              <a:buClr>
                <a:schemeClr val="dk1"/>
              </a:buClr>
              <a:buSzPts val="1800"/>
              <a:buFont typeface="Times New Roman"/>
              <a:buChar char="-"/>
            </a:pPr>
            <a:r>
              <a:rPr i="1" lang="pt-BR">
                <a:solidFill>
                  <a:schemeClr val="dk1"/>
                </a:solidFill>
                <a:latin typeface="Times New Roman"/>
                <a:ea typeface="Times New Roman"/>
                <a:cs typeface="Times New Roman"/>
                <a:sym typeface="Times New Roman"/>
              </a:rPr>
              <a:t>Connection Established</a:t>
            </a:r>
            <a:r>
              <a:rPr lang="pt-BR">
                <a:solidFill>
                  <a:schemeClr val="dk1"/>
                </a:solidFill>
                <a:latin typeface="Times New Roman"/>
                <a:ea typeface="Times New Roman"/>
                <a:cs typeface="Times New Roman"/>
                <a:sym typeface="Times New Roman"/>
              </a:rPr>
              <a:t>: Uma conexão válida foi estabelecida com sucesso e a parte de troca de dados já pode se iniciar.</a:t>
            </a:r>
            <a:endParaRPr>
              <a:solidFill>
                <a:schemeClr val="dk1"/>
              </a:solidFill>
              <a:latin typeface="Times New Roman"/>
              <a:ea typeface="Times New Roman"/>
              <a:cs typeface="Times New Roman"/>
              <a:sym typeface="Times New Roman"/>
            </a:endParaRPr>
          </a:p>
        </p:txBody>
      </p:sp>
      <p:sp>
        <p:nvSpPr>
          <p:cNvPr id="153" name="Google Shape;153;p27"/>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r>
              <a:rPr lang="pt-BR"/>
              <a:t>14</a:t>
            </a:r>
            <a:endParaRPr/>
          </a:p>
        </p:txBody>
      </p:sp>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7" name="Shape 157"/>
        <p:cNvGrpSpPr/>
        <p:nvPr/>
      </p:nvGrpSpPr>
      <p:grpSpPr>
        <a:xfrm>
          <a:off x="0" y="0"/>
          <a:ext cx="0" cy="0"/>
          <a:chOff x="0" y="0"/>
          <a:chExt cx="0" cy="0"/>
        </a:xfrm>
      </p:grpSpPr>
      <p:sp>
        <p:nvSpPr>
          <p:cNvPr id="158" name="Google Shape;158;p28"/>
          <p:cNvSpPr txBox="1"/>
          <p:nvPr>
            <p:ph type="title"/>
          </p:nvPr>
        </p:nvSpPr>
        <p:spPr>
          <a:xfrm>
            <a:off x="311700" y="445025"/>
            <a:ext cx="8520600" cy="572700"/>
          </a:xfrm>
          <a:prstGeom prst="rect">
            <a:avLst/>
          </a:prstGeom>
        </p:spPr>
        <p:txBody>
          <a:bodyPr anchorCtr="0" anchor="t" bIns="91425" lIns="91425" spcFirstLastPara="1" rIns="91425" wrap="square" tIns="91425">
            <a:noAutofit/>
          </a:bodyPr>
          <a:lstStyle/>
          <a:p>
            <a:pPr indent="-387350" lvl="1" marL="914400" rtl="0" algn="l">
              <a:lnSpc>
                <a:spcPct val="115000"/>
              </a:lnSpc>
              <a:spcBef>
                <a:spcPts val="0"/>
              </a:spcBef>
              <a:spcAft>
                <a:spcPts val="0"/>
              </a:spcAft>
              <a:buClr>
                <a:schemeClr val="dk1"/>
              </a:buClr>
              <a:buSzPts val="2500"/>
              <a:buFont typeface="Times New Roman"/>
              <a:buChar char="○"/>
            </a:pPr>
            <a:r>
              <a:rPr lang="pt-BR" sz="2500">
                <a:latin typeface="Times New Roman"/>
                <a:ea typeface="Times New Roman"/>
                <a:cs typeface="Times New Roman"/>
                <a:sym typeface="Times New Roman"/>
              </a:rPr>
              <a:t>6.1.3 - As primitivas de serviços de transporte OSI</a:t>
            </a:r>
            <a:endParaRPr sz="2500">
              <a:latin typeface="Times New Roman"/>
              <a:ea typeface="Times New Roman"/>
              <a:cs typeface="Times New Roman"/>
              <a:sym typeface="Times New Roman"/>
            </a:endParaRPr>
          </a:p>
          <a:p>
            <a:pPr indent="0" lvl="0" marL="0" rtl="0" algn="l">
              <a:spcBef>
                <a:spcPts val="1200"/>
              </a:spcBef>
              <a:spcAft>
                <a:spcPts val="0"/>
              </a:spcAft>
              <a:buNone/>
            </a:pPr>
            <a:r>
              <a:t/>
            </a:r>
            <a:endParaRPr sz="2500"/>
          </a:p>
        </p:txBody>
      </p:sp>
      <p:sp>
        <p:nvSpPr>
          <p:cNvPr id="159" name="Google Shape;159;p28"/>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342900" lvl="0" marL="457200" rtl="0" algn="l">
              <a:spcBef>
                <a:spcPts val="0"/>
              </a:spcBef>
              <a:spcAft>
                <a:spcPts val="0"/>
              </a:spcAft>
              <a:buClr>
                <a:schemeClr val="dk1"/>
              </a:buClr>
              <a:buSzPts val="1800"/>
              <a:buFont typeface="Times New Roman"/>
              <a:buChar char="●"/>
            </a:pPr>
            <a:r>
              <a:rPr lang="pt-BR">
                <a:solidFill>
                  <a:schemeClr val="dk1"/>
                </a:solidFill>
                <a:latin typeface="Times New Roman"/>
                <a:ea typeface="Times New Roman"/>
                <a:cs typeface="Times New Roman"/>
                <a:sym typeface="Times New Roman"/>
              </a:rPr>
              <a:t>Existem dois caminho para se chegar ao estado de “</a:t>
            </a:r>
            <a:r>
              <a:rPr i="1" lang="pt-BR">
                <a:solidFill>
                  <a:schemeClr val="dk1"/>
                </a:solidFill>
                <a:latin typeface="Times New Roman"/>
                <a:ea typeface="Times New Roman"/>
                <a:cs typeface="Times New Roman"/>
                <a:sym typeface="Times New Roman"/>
              </a:rPr>
              <a:t>Connection Established</a:t>
            </a:r>
            <a:r>
              <a:rPr lang="pt-BR">
                <a:solidFill>
                  <a:schemeClr val="dk1"/>
                </a:solidFill>
                <a:latin typeface="Times New Roman"/>
                <a:ea typeface="Times New Roman"/>
                <a:cs typeface="Times New Roman"/>
                <a:sym typeface="Times New Roman"/>
              </a:rPr>
              <a:t>” partindo do estado </a:t>
            </a:r>
            <a:r>
              <a:rPr i="1" lang="pt-BR">
                <a:solidFill>
                  <a:schemeClr val="dk1"/>
                </a:solidFill>
                <a:latin typeface="Times New Roman"/>
                <a:ea typeface="Times New Roman"/>
                <a:cs typeface="Times New Roman"/>
                <a:sym typeface="Times New Roman"/>
              </a:rPr>
              <a:t>IDLE</a:t>
            </a:r>
            <a:r>
              <a:rPr lang="pt-BR">
                <a:solidFill>
                  <a:schemeClr val="dk1"/>
                </a:solidFill>
                <a:latin typeface="Times New Roman"/>
                <a:ea typeface="Times New Roman"/>
                <a:cs typeface="Times New Roman"/>
                <a:sym typeface="Times New Roman"/>
              </a:rPr>
              <a:t>:</a:t>
            </a:r>
            <a:endParaRPr>
              <a:solidFill>
                <a:schemeClr val="dk1"/>
              </a:solidFill>
              <a:latin typeface="Times New Roman"/>
              <a:ea typeface="Times New Roman"/>
              <a:cs typeface="Times New Roman"/>
              <a:sym typeface="Times New Roman"/>
            </a:endParaRPr>
          </a:p>
          <a:p>
            <a:pPr indent="-342900" lvl="0" marL="457200" rtl="0" algn="l">
              <a:spcBef>
                <a:spcPts val="0"/>
              </a:spcBef>
              <a:spcAft>
                <a:spcPts val="0"/>
              </a:spcAft>
              <a:buClr>
                <a:schemeClr val="dk1"/>
              </a:buClr>
              <a:buSzPts val="1800"/>
              <a:buChar char="-"/>
            </a:pPr>
            <a:r>
              <a:rPr lang="pt-BR">
                <a:solidFill>
                  <a:schemeClr val="dk1"/>
                </a:solidFill>
                <a:latin typeface="Times New Roman"/>
                <a:ea typeface="Times New Roman"/>
                <a:cs typeface="Times New Roman"/>
                <a:sym typeface="Times New Roman"/>
              </a:rPr>
              <a:t>Caminho pela esquerda: Usado quando a chamada de saída está sendo alocada. O estado intermediário é introduzido depois de uma primitiva </a:t>
            </a:r>
            <a:r>
              <a:rPr lang="pt-BR">
                <a:solidFill>
                  <a:schemeClr val="dk1"/>
                </a:solidFill>
                <a:latin typeface="Times New Roman"/>
                <a:ea typeface="Times New Roman"/>
                <a:cs typeface="Times New Roman"/>
                <a:sym typeface="Times New Roman"/>
              </a:rPr>
              <a:t>T.CONNECT.request ser emitida e espera até que uma primitiva T.CONNECT.confirm apareça. </a:t>
            </a:r>
            <a:endParaRPr>
              <a:solidFill>
                <a:schemeClr val="dk1"/>
              </a:solidFill>
              <a:latin typeface="Times New Roman"/>
              <a:ea typeface="Times New Roman"/>
              <a:cs typeface="Times New Roman"/>
              <a:sym typeface="Times New Roman"/>
            </a:endParaRPr>
          </a:p>
          <a:p>
            <a:pPr indent="-342900" lvl="0" marL="457200" rtl="0" algn="l">
              <a:spcBef>
                <a:spcPts val="0"/>
              </a:spcBef>
              <a:spcAft>
                <a:spcPts val="0"/>
              </a:spcAft>
              <a:buClr>
                <a:schemeClr val="dk1"/>
              </a:buClr>
              <a:buSzPts val="1800"/>
              <a:buFont typeface="Times New Roman"/>
              <a:buChar char="-"/>
            </a:pPr>
            <a:r>
              <a:rPr lang="pt-BR">
                <a:solidFill>
                  <a:schemeClr val="dk1"/>
                </a:solidFill>
                <a:latin typeface="Times New Roman"/>
                <a:ea typeface="Times New Roman"/>
                <a:cs typeface="Times New Roman"/>
                <a:sym typeface="Times New Roman"/>
              </a:rPr>
              <a:t>Caminho pela direita: Usado quando uma chamada é recebida. O estado intermediário é introduzido depois de uma primitiva T.CONNECT.indication aparecer. Se a conexão for intencionalmente rejeitada ou uma primitiva T.DISCONNECT.indication aparecer, retornamos para o estado IDLE. Caso a conexão seja aceita, o estado “</a:t>
            </a:r>
            <a:r>
              <a:rPr i="1" lang="pt-BR">
                <a:solidFill>
                  <a:schemeClr val="dk1"/>
                </a:solidFill>
                <a:latin typeface="Times New Roman"/>
                <a:ea typeface="Times New Roman"/>
                <a:cs typeface="Times New Roman"/>
                <a:sym typeface="Times New Roman"/>
              </a:rPr>
              <a:t>Connection Established”</a:t>
            </a:r>
            <a:r>
              <a:rPr lang="pt-BR">
                <a:solidFill>
                  <a:schemeClr val="dk1"/>
                </a:solidFill>
                <a:latin typeface="Times New Roman"/>
                <a:ea typeface="Times New Roman"/>
                <a:cs typeface="Times New Roman"/>
                <a:sym typeface="Times New Roman"/>
              </a:rPr>
              <a:t> é alcançado.</a:t>
            </a:r>
            <a:endParaRPr>
              <a:solidFill>
                <a:schemeClr val="dk1"/>
              </a:solidFill>
              <a:latin typeface="Times New Roman"/>
              <a:ea typeface="Times New Roman"/>
              <a:cs typeface="Times New Roman"/>
              <a:sym typeface="Times New Roman"/>
            </a:endParaRPr>
          </a:p>
        </p:txBody>
      </p:sp>
      <p:sp>
        <p:nvSpPr>
          <p:cNvPr id="160" name="Google Shape;160;p28"/>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r>
              <a:rPr lang="pt-BR"/>
              <a:t>15</a:t>
            </a:r>
            <a:endParaRPr/>
          </a:p>
        </p:txBody>
      </p:sp>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4" name="Shape 164"/>
        <p:cNvGrpSpPr/>
        <p:nvPr/>
      </p:nvGrpSpPr>
      <p:grpSpPr>
        <a:xfrm>
          <a:off x="0" y="0"/>
          <a:ext cx="0" cy="0"/>
          <a:chOff x="0" y="0"/>
          <a:chExt cx="0" cy="0"/>
        </a:xfrm>
      </p:grpSpPr>
      <p:sp>
        <p:nvSpPr>
          <p:cNvPr id="165" name="Google Shape;165;p29"/>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p>
            <a:pPr indent="-387350" lvl="1" marL="914400" rtl="0" algn="l">
              <a:lnSpc>
                <a:spcPct val="115000"/>
              </a:lnSpc>
              <a:spcBef>
                <a:spcPts val="0"/>
              </a:spcBef>
              <a:spcAft>
                <a:spcPts val="0"/>
              </a:spcAft>
              <a:buClr>
                <a:schemeClr val="dk1"/>
              </a:buClr>
              <a:buSzPts val="2500"/>
              <a:buFont typeface="Times New Roman"/>
              <a:buChar char="○"/>
            </a:pPr>
            <a:r>
              <a:rPr lang="pt-BR" sz="2500">
                <a:latin typeface="Times New Roman"/>
                <a:ea typeface="Times New Roman"/>
                <a:cs typeface="Times New Roman"/>
                <a:sym typeface="Times New Roman"/>
              </a:rPr>
              <a:t>6.1.4 - Protocolos de transporte</a:t>
            </a:r>
            <a:endParaRPr sz="2500"/>
          </a:p>
        </p:txBody>
      </p:sp>
      <p:sp>
        <p:nvSpPr>
          <p:cNvPr id="166" name="Google Shape;166;p29"/>
          <p:cNvSpPr txBox="1"/>
          <p:nvPr>
            <p:ph idx="1" type="body"/>
          </p:nvPr>
        </p:nvSpPr>
        <p:spPr>
          <a:xfrm>
            <a:off x="311700" y="1152475"/>
            <a:ext cx="8520600" cy="3829800"/>
          </a:xfrm>
          <a:prstGeom prst="rect">
            <a:avLst/>
          </a:prstGeom>
        </p:spPr>
        <p:txBody>
          <a:bodyPr anchorCtr="0" anchor="t" bIns="91425" lIns="91425" spcFirstLastPara="1" rIns="91425" wrap="square" tIns="91425">
            <a:normAutofit lnSpcReduction="10000"/>
          </a:bodyPr>
          <a:lstStyle/>
          <a:p>
            <a:pPr indent="-342900" lvl="0" marL="457200" rtl="0" algn="l">
              <a:spcBef>
                <a:spcPts val="0"/>
              </a:spcBef>
              <a:spcAft>
                <a:spcPts val="0"/>
              </a:spcAft>
              <a:buClr>
                <a:schemeClr val="dk1"/>
              </a:buClr>
              <a:buSzPts val="1800"/>
              <a:buFont typeface="Times New Roman"/>
              <a:buChar char="●"/>
            </a:pPr>
            <a:r>
              <a:rPr lang="pt-BR">
                <a:solidFill>
                  <a:schemeClr val="dk1"/>
                </a:solidFill>
                <a:latin typeface="Times New Roman"/>
                <a:ea typeface="Times New Roman"/>
                <a:cs typeface="Times New Roman"/>
                <a:sym typeface="Times New Roman"/>
              </a:rPr>
              <a:t>O serviço de transporte é implementado por meio de um protocolo de transporte, utilizado entre as duas entidades de transporte.</a:t>
            </a:r>
            <a:endParaRPr>
              <a:solidFill>
                <a:schemeClr val="dk1"/>
              </a:solidFill>
              <a:latin typeface="Times New Roman"/>
              <a:ea typeface="Times New Roman"/>
              <a:cs typeface="Times New Roman"/>
              <a:sym typeface="Times New Roman"/>
            </a:endParaRPr>
          </a:p>
          <a:p>
            <a:pPr indent="-342900" lvl="0" marL="457200" rtl="0" algn="l">
              <a:spcBef>
                <a:spcPts val="0"/>
              </a:spcBef>
              <a:spcAft>
                <a:spcPts val="0"/>
              </a:spcAft>
              <a:buClr>
                <a:schemeClr val="dk1"/>
              </a:buClr>
              <a:buSzPts val="1800"/>
              <a:buFont typeface="Times New Roman"/>
              <a:buChar char="●"/>
            </a:pPr>
            <a:r>
              <a:rPr lang="pt-BR">
                <a:solidFill>
                  <a:schemeClr val="dk1"/>
                </a:solidFill>
                <a:latin typeface="Times New Roman"/>
                <a:ea typeface="Times New Roman"/>
                <a:cs typeface="Times New Roman"/>
                <a:sym typeface="Times New Roman"/>
              </a:rPr>
              <a:t>Os protocolos precisam lidar com controle de erro, sequenciamento, controle de fluxo e outras questões.</a:t>
            </a:r>
            <a:endParaRPr>
              <a:solidFill>
                <a:schemeClr val="dk1"/>
              </a:solidFill>
              <a:latin typeface="Times New Roman"/>
              <a:ea typeface="Times New Roman"/>
              <a:cs typeface="Times New Roman"/>
              <a:sym typeface="Times New Roman"/>
            </a:endParaRPr>
          </a:p>
          <a:p>
            <a:pPr indent="-342900" lvl="0" marL="457200" rtl="0" algn="l">
              <a:spcBef>
                <a:spcPts val="0"/>
              </a:spcBef>
              <a:spcAft>
                <a:spcPts val="0"/>
              </a:spcAft>
              <a:buClr>
                <a:schemeClr val="dk1"/>
              </a:buClr>
              <a:buSzPts val="1800"/>
              <a:buFont typeface="Times New Roman"/>
              <a:buChar char="●"/>
            </a:pPr>
            <a:r>
              <a:rPr lang="pt-BR">
                <a:solidFill>
                  <a:schemeClr val="dk1"/>
                </a:solidFill>
                <a:latin typeface="Times New Roman"/>
                <a:ea typeface="Times New Roman"/>
                <a:cs typeface="Times New Roman"/>
                <a:sym typeface="Times New Roman"/>
              </a:rPr>
              <a:t>São parecidos com protocolos da camada de enlace, porém, possuem diferenças importantes como o fato de que na camada de enlace, dois processadores de mensagem de interface (IMP) se comunicam diretamente por meio de um canal físico. Já na camada de transporte, esse canal físico é substituído pela </a:t>
            </a:r>
            <a:r>
              <a:rPr lang="pt-BR">
                <a:solidFill>
                  <a:schemeClr val="dk1"/>
                </a:solidFill>
                <a:latin typeface="Times New Roman"/>
                <a:ea typeface="Times New Roman"/>
                <a:cs typeface="Times New Roman"/>
                <a:sym typeface="Times New Roman"/>
              </a:rPr>
              <a:t>sub rede</a:t>
            </a:r>
            <a:r>
              <a:rPr lang="pt-BR">
                <a:solidFill>
                  <a:schemeClr val="dk1"/>
                </a:solidFill>
                <a:latin typeface="Times New Roman"/>
                <a:ea typeface="Times New Roman"/>
                <a:cs typeface="Times New Roman"/>
                <a:sym typeface="Times New Roman"/>
              </a:rPr>
              <a:t> inteira.</a:t>
            </a:r>
            <a:endParaRPr>
              <a:solidFill>
                <a:schemeClr val="dk1"/>
              </a:solidFill>
              <a:latin typeface="Times New Roman"/>
              <a:ea typeface="Times New Roman"/>
              <a:cs typeface="Times New Roman"/>
              <a:sym typeface="Times New Roman"/>
            </a:endParaRPr>
          </a:p>
          <a:p>
            <a:pPr indent="-342900" lvl="0" marL="457200" rtl="0" algn="l">
              <a:spcBef>
                <a:spcPts val="0"/>
              </a:spcBef>
              <a:spcAft>
                <a:spcPts val="0"/>
              </a:spcAft>
              <a:buClr>
                <a:schemeClr val="dk1"/>
              </a:buClr>
              <a:buSzPts val="1800"/>
              <a:buFont typeface="Times New Roman"/>
              <a:buChar char="●"/>
            </a:pPr>
            <a:r>
              <a:rPr lang="pt-BR">
                <a:solidFill>
                  <a:schemeClr val="dk1"/>
                </a:solidFill>
                <a:latin typeface="Times New Roman"/>
                <a:ea typeface="Times New Roman"/>
                <a:cs typeface="Times New Roman"/>
                <a:sym typeface="Times New Roman"/>
              </a:rPr>
              <a:t>Isso gera implicações como o fato de que na camada de enlace, um IMP não precisa especificar com qual IMP o primeiro deseja se comunicar. No caso da camada de transporte, é necessário um endereçamento de destinos </a:t>
            </a:r>
            <a:r>
              <a:rPr lang="pt-BR">
                <a:solidFill>
                  <a:schemeClr val="dk1"/>
                </a:solidFill>
                <a:latin typeface="Times New Roman"/>
                <a:ea typeface="Times New Roman"/>
                <a:cs typeface="Times New Roman"/>
                <a:sym typeface="Times New Roman"/>
              </a:rPr>
              <a:t>explícito</a:t>
            </a:r>
            <a:r>
              <a:rPr lang="pt-BR">
                <a:solidFill>
                  <a:schemeClr val="dk1"/>
                </a:solidFill>
                <a:latin typeface="Times New Roman"/>
                <a:ea typeface="Times New Roman"/>
                <a:cs typeface="Times New Roman"/>
                <a:sym typeface="Times New Roman"/>
              </a:rPr>
              <a:t> para que a comunicação possa ocorrer.</a:t>
            </a:r>
            <a:endParaRPr>
              <a:solidFill>
                <a:schemeClr val="dk1"/>
              </a:solidFill>
              <a:latin typeface="Times New Roman"/>
              <a:ea typeface="Times New Roman"/>
              <a:cs typeface="Times New Roman"/>
              <a:sym typeface="Times New Roman"/>
            </a:endParaRPr>
          </a:p>
        </p:txBody>
      </p:sp>
      <p:sp>
        <p:nvSpPr>
          <p:cNvPr id="167" name="Google Shape;167;p29"/>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r>
              <a:rPr lang="pt-BR"/>
              <a:t>16</a:t>
            </a:r>
            <a:endParaRPr/>
          </a:p>
        </p:txBody>
      </p:sp>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1" name="Shape 171"/>
        <p:cNvGrpSpPr/>
        <p:nvPr/>
      </p:nvGrpSpPr>
      <p:grpSpPr>
        <a:xfrm>
          <a:off x="0" y="0"/>
          <a:ext cx="0" cy="0"/>
          <a:chOff x="0" y="0"/>
          <a:chExt cx="0" cy="0"/>
        </a:xfrm>
      </p:grpSpPr>
      <p:sp>
        <p:nvSpPr>
          <p:cNvPr id="172" name="Google Shape;172;p30"/>
          <p:cNvSpPr txBox="1"/>
          <p:nvPr>
            <p:ph type="title"/>
          </p:nvPr>
        </p:nvSpPr>
        <p:spPr>
          <a:xfrm>
            <a:off x="311700" y="445025"/>
            <a:ext cx="8520600" cy="572700"/>
          </a:xfrm>
          <a:prstGeom prst="rect">
            <a:avLst/>
          </a:prstGeom>
        </p:spPr>
        <p:txBody>
          <a:bodyPr anchorCtr="0" anchor="t" bIns="91425" lIns="91425" spcFirstLastPara="1" rIns="91425" wrap="square" tIns="91425">
            <a:noAutofit/>
          </a:bodyPr>
          <a:lstStyle/>
          <a:p>
            <a:pPr indent="-387350" lvl="1" marL="914400" rtl="0" algn="l">
              <a:lnSpc>
                <a:spcPct val="115000"/>
              </a:lnSpc>
              <a:spcBef>
                <a:spcPts val="0"/>
              </a:spcBef>
              <a:spcAft>
                <a:spcPts val="0"/>
              </a:spcAft>
              <a:buClr>
                <a:schemeClr val="dk1"/>
              </a:buClr>
              <a:buSzPts val="2500"/>
              <a:buFont typeface="Times New Roman"/>
              <a:buChar char="○"/>
            </a:pPr>
            <a:r>
              <a:rPr lang="pt-BR" sz="2500">
                <a:latin typeface="Times New Roman"/>
                <a:ea typeface="Times New Roman"/>
                <a:cs typeface="Times New Roman"/>
                <a:sym typeface="Times New Roman"/>
              </a:rPr>
              <a:t>6.1.4 - Protocolos de transporte</a:t>
            </a:r>
            <a:endParaRPr sz="2500"/>
          </a:p>
          <a:p>
            <a:pPr indent="0" lvl="0" marL="0" rtl="0" algn="l">
              <a:spcBef>
                <a:spcPts val="1200"/>
              </a:spcBef>
              <a:spcAft>
                <a:spcPts val="0"/>
              </a:spcAft>
              <a:buNone/>
            </a:pPr>
            <a:r>
              <a:t/>
            </a:r>
            <a:endParaRPr sz="2500"/>
          </a:p>
        </p:txBody>
      </p:sp>
      <p:sp>
        <p:nvSpPr>
          <p:cNvPr id="173" name="Google Shape;173;p30"/>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342900" lvl="0" marL="457200" rtl="0" algn="l">
              <a:spcBef>
                <a:spcPts val="0"/>
              </a:spcBef>
              <a:spcAft>
                <a:spcPts val="0"/>
              </a:spcAft>
              <a:buClr>
                <a:schemeClr val="dk1"/>
              </a:buClr>
              <a:buSzPts val="1800"/>
              <a:buFont typeface="Times New Roman"/>
              <a:buChar char="●"/>
            </a:pPr>
            <a:r>
              <a:rPr lang="pt-BR">
                <a:solidFill>
                  <a:schemeClr val="dk1"/>
                </a:solidFill>
                <a:latin typeface="Times New Roman"/>
                <a:ea typeface="Times New Roman"/>
                <a:cs typeface="Times New Roman"/>
                <a:sym typeface="Times New Roman"/>
              </a:rPr>
              <a:t>A figura abaixo ilustra a diferença existente no ambiente de comunicação entre entidades IMP. Percebe-se que ao lado esquerdo, tem-se a representação do ambiente na camada de enlace e no lado direito da imagem, o ambiente na camada de transporte.</a:t>
            </a:r>
            <a:endParaRPr>
              <a:solidFill>
                <a:schemeClr val="dk1"/>
              </a:solidFill>
              <a:latin typeface="Times New Roman"/>
              <a:ea typeface="Times New Roman"/>
              <a:cs typeface="Times New Roman"/>
              <a:sym typeface="Times New Roman"/>
            </a:endParaRPr>
          </a:p>
        </p:txBody>
      </p:sp>
      <p:pic>
        <p:nvPicPr>
          <p:cNvPr id="174" name="Google Shape;174;p30"/>
          <p:cNvPicPr preferRelativeResize="0"/>
          <p:nvPr/>
        </p:nvPicPr>
        <p:blipFill>
          <a:blip r:embed="rId3">
            <a:alphaModFix/>
          </a:blip>
          <a:stretch>
            <a:fillRect/>
          </a:stretch>
        </p:blipFill>
        <p:spPr>
          <a:xfrm>
            <a:off x="1321137" y="2667900"/>
            <a:ext cx="6501740" cy="1900975"/>
          </a:xfrm>
          <a:prstGeom prst="rect">
            <a:avLst/>
          </a:prstGeom>
          <a:noFill/>
          <a:ln>
            <a:noFill/>
          </a:ln>
        </p:spPr>
      </p:pic>
      <p:sp>
        <p:nvSpPr>
          <p:cNvPr id="175" name="Google Shape;175;p30"/>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r>
              <a:rPr lang="pt-BR"/>
              <a:t>17</a:t>
            </a:r>
            <a:endParaRPr/>
          </a:p>
        </p:txBody>
      </p:sp>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9" name="Shape 179"/>
        <p:cNvGrpSpPr/>
        <p:nvPr/>
      </p:nvGrpSpPr>
      <p:grpSpPr>
        <a:xfrm>
          <a:off x="0" y="0"/>
          <a:ext cx="0" cy="0"/>
          <a:chOff x="0" y="0"/>
          <a:chExt cx="0" cy="0"/>
        </a:xfrm>
      </p:grpSpPr>
      <p:sp>
        <p:nvSpPr>
          <p:cNvPr id="180" name="Google Shape;180;p31"/>
          <p:cNvSpPr txBox="1"/>
          <p:nvPr>
            <p:ph type="title"/>
          </p:nvPr>
        </p:nvSpPr>
        <p:spPr>
          <a:xfrm>
            <a:off x="311700" y="445025"/>
            <a:ext cx="8520600" cy="572700"/>
          </a:xfrm>
          <a:prstGeom prst="rect">
            <a:avLst/>
          </a:prstGeom>
        </p:spPr>
        <p:txBody>
          <a:bodyPr anchorCtr="0" anchor="t" bIns="91425" lIns="91425" spcFirstLastPara="1" rIns="91425" wrap="square" tIns="91425">
            <a:noAutofit/>
          </a:bodyPr>
          <a:lstStyle/>
          <a:p>
            <a:pPr indent="-387350" lvl="1" marL="914400" rtl="0" algn="l">
              <a:lnSpc>
                <a:spcPct val="115000"/>
              </a:lnSpc>
              <a:spcBef>
                <a:spcPts val="0"/>
              </a:spcBef>
              <a:spcAft>
                <a:spcPts val="0"/>
              </a:spcAft>
              <a:buClr>
                <a:schemeClr val="dk1"/>
              </a:buClr>
              <a:buSzPts val="2500"/>
              <a:buFont typeface="Times New Roman"/>
              <a:buChar char="○"/>
            </a:pPr>
            <a:r>
              <a:rPr lang="pt-BR" sz="2500">
                <a:latin typeface="Times New Roman"/>
                <a:ea typeface="Times New Roman"/>
                <a:cs typeface="Times New Roman"/>
                <a:sym typeface="Times New Roman"/>
              </a:rPr>
              <a:t>6.1.4 - Protocolos de transporte</a:t>
            </a:r>
            <a:endParaRPr sz="2500"/>
          </a:p>
          <a:p>
            <a:pPr indent="0" lvl="0" marL="0" rtl="0" algn="l">
              <a:spcBef>
                <a:spcPts val="1200"/>
              </a:spcBef>
              <a:spcAft>
                <a:spcPts val="0"/>
              </a:spcAft>
              <a:buNone/>
            </a:pPr>
            <a:r>
              <a:t/>
            </a:r>
            <a:endParaRPr sz="2500"/>
          </a:p>
        </p:txBody>
      </p:sp>
      <p:sp>
        <p:nvSpPr>
          <p:cNvPr id="181" name="Google Shape;181;p31"/>
          <p:cNvSpPr txBox="1"/>
          <p:nvPr>
            <p:ph idx="1" type="body"/>
          </p:nvPr>
        </p:nvSpPr>
        <p:spPr>
          <a:xfrm>
            <a:off x="311700" y="1152475"/>
            <a:ext cx="8649300" cy="3867000"/>
          </a:xfrm>
          <a:prstGeom prst="rect">
            <a:avLst/>
          </a:prstGeom>
        </p:spPr>
        <p:txBody>
          <a:bodyPr anchorCtr="0" anchor="t" bIns="91425" lIns="91425" spcFirstLastPara="1" rIns="91425" wrap="square" tIns="91425">
            <a:normAutofit lnSpcReduction="20000"/>
          </a:bodyPr>
          <a:lstStyle/>
          <a:p>
            <a:pPr indent="-342900" lvl="0" marL="457200" rtl="0" algn="l">
              <a:spcBef>
                <a:spcPts val="0"/>
              </a:spcBef>
              <a:spcAft>
                <a:spcPts val="0"/>
              </a:spcAft>
              <a:buClr>
                <a:schemeClr val="dk1"/>
              </a:buClr>
              <a:buSzPts val="1800"/>
              <a:buFont typeface="Times New Roman"/>
              <a:buChar char="●"/>
            </a:pPr>
            <a:r>
              <a:rPr lang="pt-BR">
                <a:solidFill>
                  <a:schemeClr val="dk1"/>
                </a:solidFill>
                <a:latin typeface="Times New Roman"/>
                <a:ea typeface="Times New Roman"/>
                <a:cs typeface="Times New Roman"/>
                <a:sym typeface="Times New Roman"/>
              </a:rPr>
              <a:t>Outra grande diferença entre a camada de enlace e a de transporte é a existência potencial de capacidade de armazenamento na sub rede. Quando um IMP envia um “</a:t>
            </a:r>
            <a:r>
              <a:rPr i="1" lang="pt-BR">
                <a:solidFill>
                  <a:schemeClr val="dk1"/>
                </a:solidFill>
                <a:latin typeface="Times New Roman"/>
                <a:ea typeface="Times New Roman"/>
                <a:cs typeface="Times New Roman"/>
                <a:sym typeface="Times New Roman"/>
              </a:rPr>
              <a:t>frame”</a:t>
            </a:r>
            <a:r>
              <a:rPr lang="pt-BR">
                <a:solidFill>
                  <a:schemeClr val="dk1"/>
                </a:solidFill>
                <a:latin typeface="Times New Roman"/>
                <a:ea typeface="Times New Roman"/>
                <a:cs typeface="Times New Roman"/>
                <a:sym typeface="Times New Roman"/>
              </a:rPr>
              <a:t>, ele pode chegar ou ser perdido e não pode ficar “circulando” por um determinado período de tempo e então surgir de forma repentina.</a:t>
            </a:r>
            <a:endParaRPr>
              <a:solidFill>
                <a:schemeClr val="dk1"/>
              </a:solidFill>
              <a:latin typeface="Times New Roman"/>
              <a:ea typeface="Times New Roman"/>
              <a:cs typeface="Times New Roman"/>
              <a:sym typeface="Times New Roman"/>
            </a:endParaRPr>
          </a:p>
          <a:p>
            <a:pPr indent="-342900" lvl="0" marL="457200" rtl="0" algn="l">
              <a:spcBef>
                <a:spcPts val="0"/>
              </a:spcBef>
              <a:spcAft>
                <a:spcPts val="0"/>
              </a:spcAft>
              <a:buClr>
                <a:schemeClr val="dk1"/>
              </a:buClr>
              <a:buSzPts val="1800"/>
              <a:buFont typeface="Times New Roman"/>
              <a:buChar char="●"/>
            </a:pPr>
            <a:r>
              <a:rPr lang="pt-BR">
                <a:solidFill>
                  <a:schemeClr val="dk1"/>
                </a:solidFill>
                <a:latin typeface="Times New Roman"/>
                <a:ea typeface="Times New Roman"/>
                <a:cs typeface="Times New Roman"/>
                <a:sym typeface="Times New Roman"/>
              </a:rPr>
              <a:t>Na camada de transporte, o grande número de conexões que precisam ser gerenciadas, criam a ideia de dedicar vários </a:t>
            </a:r>
            <a:r>
              <a:rPr i="1" lang="pt-BR">
                <a:solidFill>
                  <a:schemeClr val="dk1"/>
                </a:solidFill>
                <a:latin typeface="Times New Roman"/>
                <a:ea typeface="Times New Roman"/>
                <a:cs typeface="Times New Roman"/>
                <a:sym typeface="Times New Roman"/>
              </a:rPr>
              <a:t>buffers</a:t>
            </a:r>
            <a:r>
              <a:rPr lang="pt-BR">
                <a:solidFill>
                  <a:schemeClr val="dk1"/>
                </a:solidFill>
                <a:latin typeface="Times New Roman"/>
                <a:ea typeface="Times New Roman"/>
                <a:cs typeface="Times New Roman"/>
                <a:sym typeface="Times New Roman"/>
              </a:rPr>
              <a:t> para cada conexão menos atrativa.</a:t>
            </a:r>
            <a:endParaRPr>
              <a:solidFill>
                <a:schemeClr val="dk1"/>
              </a:solidFill>
              <a:latin typeface="Times New Roman"/>
              <a:ea typeface="Times New Roman"/>
              <a:cs typeface="Times New Roman"/>
              <a:sym typeface="Times New Roman"/>
            </a:endParaRPr>
          </a:p>
          <a:p>
            <a:pPr indent="-342900" lvl="0" marL="457200" rtl="0" algn="l">
              <a:spcBef>
                <a:spcPts val="0"/>
              </a:spcBef>
              <a:spcAft>
                <a:spcPts val="0"/>
              </a:spcAft>
              <a:buClr>
                <a:schemeClr val="dk1"/>
              </a:buClr>
              <a:buSzPts val="1800"/>
              <a:buFont typeface="Times New Roman"/>
              <a:buChar char="●"/>
            </a:pPr>
            <a:r>
              <a:rPr lang="pt-BR">
                <a:solidFill>
                  <a:schemeClr val="dk1"/>
                </a:solidFill>
                <a:latin typeface="Times New Roman"/>
                <a:ea typeface="Times New Roman"/>
                <a:cs typeface="Times New Roman"/>
                <a:sym typeface="Times New Roman"/>
              </a:rPr>
              <a:t>Para o estudo de protocolos de transporte, tem-se 3 tipos de serviços de rede: </a:t>
            </a:r>
            <a:endParaRPr>
              <a:solidFill>
                <a:schemeClr val="dk1"/>
              </a:solidFill>
              <a:latin typeface="Times New Roman"/>
              <a:ea typeface="Times New Roman"/>
              <a:cs typeface="Times New Roman"/>
              <a:sym typeface="Times New Roman"/>
            </a:endParaRPr>
          </a:p>
          <a:p>
            <a:pPr indent="-342900" lvl="0" marL="457200" rtl="0" algn="l">
              <a:spcBef>
                <a:spcPts val="0"/>
              </a:spcBef>
              <a:spcAft>
                <a:spcPts val="0"/>
              </a:spcAft>
              <a:buClr>
                <a:schemeClr val="dk1"/>
              </a:buClr>
              <a:buSzPts val="1800"/>
              <a:buFont typeface="Times New Roman"/>
              <a:buChar char="-"/>
            </a:pPr>
            <a:r>
              <a:rPr lang="pt-BR" u="sng">
                <a:solidFill>
                  <a:schemeClr val="dk1"/>
                </a:solidFill>
                <a:latin typeface="Times New Roman"/>
                <a:ea typeface="Times New Roman"/>
                <a:cs typeface="Times New Roman"/>
                <a:sym typeface="Times New Roman"/>
              </a:rPr>
              <a:t>Tipo A</a:t>
            </a:r>
            <a:r>
              <a:rPr lang="pt-BR">
                <a:solidFill>
                  <a:schemeClr val="dk1"/>
                </a:solidFill>
                <a:latin typeface="Times New Roman"/>
                <a:ea typeface="Times New Roman"/>
                <a:cs typeface="Times New Roman"/>
                <a:sym typeface="Times New Roman"/>
              </a:rPr>
              <a:t>: Todos os serviços fornecidos são perfeitos e os erros como perda de pacotes e duplicação são tão raros que podem ser ignorados.</a:t>
            </a:r>
            <a:endParaRPr>
              <a:solidFill>
                <a:schemeClr val="dk1"/>
              </a:solidFill>
              <a:latin typeface="Times New Roman"/>
              <a:ea typeface="Times New Roman"/>
              <a:cs typeface="Times New Roman"/>
              <a:sym typeface="Times New Roman"/>
            </a:endParaRPr>
          </a:p>
          <a:p>
            <a:pPr indent="-342900" lvl="0" marL="457200" rtl="0" algn="l">
              <a:spcBef>
                <a:spcPts val="0"/>
              </a:spcBef>
              <a:spcAft>
                <a:spcPts val="0"/>
              </a:spcAft>
              <a:buClr>
                <a:schemeClr val="dk1"/>
              </a:buClr>
              <a:buSzPts val="1800"/>
              <a:buFont typeface="Times New Roman"/>
              <a:buChar char="-"/>
            </a:pPr>
            <a:r>
              <a:rPr lang="pt-BR" u="sng">
                <a:solidFill>
                  <a:schemeClr val="dk1"/>
                </a:solidFill>
                <a:latin typeface="Times New Roman"/>
                <a:ea typeface="Times New Roman"/>
                <a:cs typeface="Times New Roman"/>
                <a:sym typeface="Times New Roman"/>
              </a:rPr>
              <a:t>Tipo B</a:t>
            </a:r>
            <a:r>
              <a:rPr lang="pt-BR">
                <a:solidFill>
                  <a:schemeClr val="dk1"/>
                </a:solidFill>
                <a:latin typeface="Times New Roman"/>
                <a:ea typeface="Times New Roman"/>
                <a:cs typeface="Times New Roman"/>
                <a:sym typeface="Times New Roman"/>
              </a:rPr>
              <a:t>: Pacotes são raramente perdidos mas de tempos em tempos pode-se ter problemas devido a congestionamento interno, problemas de </a:t>
            </a:r>
            <a:r>
              <a:rPr i="1" lang="pt-BR">
                <a:solidFill>
                  <a:schemeClr val="dk1"/>
                </a:solidFill>
                <a:latin typeface="Times New Roman"/>
                <a:ea typeface="Times New Roman"/>
                <a:cs typeface="Times New Roman"/>
                <a:sym typeface="Times New Roman"/>
              </a:rPr>
              <a:t>hardware </a:t>
            </a:r>
            <a:r>
              <a:rPr lang="pt-BR">
                <a:solidFill>
                  <a:schemeClr val="dk1"/>
                </a:solidFill>
                <a:latin typeface="Times New Roman"/>
                <a:ea typeface="Times New Roman"/>
                <a:cs typeface="Times New Roman"/>
                <a:sym typeface="Times New Roman"/>
              </a:rPr>
              <a:t>ou </a:t>
            </a:r>
            <a:r>
              <a:rPr i="1" lang="pt-BR">
                <a:solidFill>
                  <a:schemeClr val="dk1"/>
                </a:solidFill>
                <a:latin typeface="Times New Roman"/>
                <a:ea typeface="Times New Roman"/>
                <a:cs typeface="Times New Roman"/>
                <a:sym typeface="Times New Roman"/>
              </a:rPr>
              <a:t>bugs </a:t>
            </a:r>
            <a:r>
              <a:rPr lang="pt-BR">
                <a:solidFill>
                  <a:schemeClr val="dk1"/>
                </a:solidFill>
                <a:latin typeface="Times New Roman"/>
                <a:ea typeface="Times New Roman"/>
                <a:cs typeface="Times New Roman"/>
                <a:sym typeface="Times New Roman"/>
              </a:rPr>
              <a:t>de </a:t>
            </a:r>
            <a:r>
              <a:rPr i="1" lang="pt-BR">
                <a:solidFill>
                  <a:schemeClr val="dk1"/>
                </a:solidFill>
                <a:latin typeface="Times New Roman"/>
                <a:ea typeface="Times New Roman"/>
                <a:cs typeface="Times New Roman"/>
                <a:sym typeface="Times New Roman"/>
              </a:rPr>
              <a:t>software</a:t>
            </a:r>
            <a:r>
              <a:rPr lang="pt-BR">
                <a:solidFill>
                  <a:schemeClr val="dk1"/>
                </a:solidFill>
                <a:latin typeface="Times New Roman"/>
                <a:ea typeface="Times New Roman"/>
                <a:cs typeface="Times New Roman"/>
                <a:sym typeface="Times New Roman"/>
              </a:rPr>
              <a:t>. É função do protocolo de transporte reorganizar o ambiente e estabilizar uma nova conexão de rede de modo que os problemas fiquem invisíveis ao  usuário de transporte.</a:t>
            </a:r>
            <a:endParaRPr>
              <a:solidFill>
                <a:schemeClr val="dk1"/>
              </a:solidFill>
              <a:latin typeface="Times New Roman"/>
              <a:ea typeface="Times New Roman"/>
              <a:cs typeface="Times New Roman"/>
              <a:sym typeface="Times New Roman"/>
            </a:endParaRPr>
          </a:p>
        </p:txBody>
      </p:sp>
      <p:sp>
        <p:nvSpPr>
          <p:cNvPr id="182" name="Google Shape;182;p31"/>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r>
              <a:rPr lang="pt-BR"/>
              <a:t>18</a:t>
            </a:r>
            <a:endParaRPr/>
          </a:p>
        </p:txBody>
      </p:sp>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6" name="Shape 186"/>
        <p:cNvGrpSpPr/>
        <p:nvPr/>
      </p:nvGrpSpPr>
      <p:grpSpPr>
        <a:xfrm>
          <a:off x="0" y="0"/>
          <a:ext cx="0" cy="0"/>
          <a:chOff x="0" y="0"/>
          <a:chExt cx="0" cy="0"/>
        </a:xfrm>
      </p:grpSpPr>
      <p:sp>
        <p:nvSpPr>
          <p:cNvPr id="187" name="Google Shape;187;p32"/>
          <p:cNvSpPr txBox="1"/>
          <p:nvPr>
            <p:ph type="title"/>
          </p:nvPr>
        </p:nvSpPr>
        <p:spPr>
          <a:xfrm>
            <a:off x="311700" y="445025"/>
            <a:ext cx="8520600" cy="572700"/>
          </a:xfrm>
          <a:prstGeom prst="rect">
            <a:avLst/>
          </a:prstGeom>
        </p:spPr>
        <p:txBody>
          <a:bodyPr anchorCtr="0" anchor="t" bIns="91425" lIns="91425" spcFirstLastPara="1" rIns="91425" wrap="square" tIns="91425">
            <a:noAutofit/>
          </a:bodyPr>
          <a:lstStyle/>
          <a:p>
            <a:pPr indent="-387350" lvl="1" marL="914400" rtl="0" algn="l">
              <a:lnSpc>
                <a:spcPct val="115000"/>
              </a:lnSpc>
              <a:spcBef>
                <a:spcPts val="0"/>
              </a:spcBef>
              <a:spcAft>
                <a:spcPts val="0"/>
              </a:spcAft>
              <a:buClr>
                <a:schemeClr val="dk1"/>
              </a:buClr>
              <a:buSzPts val="2500"/>
              <a:buFont typeface="Times New Roman"/>
              <a:buChar char="○"/>
            </a:pPr>
            <a:r>
              <a:rPr lang="pt-BR" sz="2500">
                <a:latin typeface="Times New Roman"/>
                <a:ea typeface="Times New Roman"/>
                <a:cs typeface="Times New Roman"/>
                <a:sym typeface="Times New Roman"/>
              </a:rPr>
              <a:t>6.1.4 - Protocolos de transporte</a:t>
            </a:r>
            <a:endParaRPr sz="2500"/>
          </a:p>
          <a:p>
            <a:pPr indent="0" lvl="0" marL="0" rtl="0" algn="l">
              <a:spcBef>
                <a:spcPts val="1200"/>
              </a:spcBef>
              <a:spcAft>
                <a:spcPts val="0"/>
              </a:spcAft>
              <a:buNone/>
            </a:pPr>
            <a:r>
              <a:t/>
            </a:r>
            <a:endParaRPr/>
          </a:p>
        </p:txBody>
      </p:sp>
      <p:sp>
        <p:nvSpPr>
          <p:cNvPr id="188" name="Google Shape;188;p32"/>
          <p:cNvSpPr txBox="1"/>
          <p:nvPr>
            <p:ph idx="1" type="body"/>
          </p:nvPr>
        </p:nvSpPr>
        <p:spPr>
          <a:xfrm>
            <a:off x="311700" y="1152475"/>
            <a:ext cx="8520600" cy="3867000"/>
          </a:xfrm>
          <a:prstGeom prst="rect">
            <a:avLst/>
          </a:prstGeom>
        </p:spPr>
        <p:txBody>
          <a:bodyPr anchorCtr="0" anchor="t" bIns="91425" lIns="91425" spcFirstLastPara="1" rIns="91425" wrap="square" tIns="91425">
            <a:normAutofit lnSpcReduction="10000"/>
          </a:bodyPr>
          <a:lstStyle/>
          <a:p>
            <a:pPr indent="-342900" lvl="0" marL="457200" rtl="0" algn="l">
              <a:spcBef>
                <a:spcPts val="0"/>
              </a:spcBef>
              <a:spcAft>
                <a:spcPts val="0"/>
              </a:spcAft>
              <a:buClr>
                <a:schemeClr val="dk1"/>
              </a:buClr>
              <a:buSzPts val="1800"/>
              <a:buFont typeface="Times New Roman"/>
              <a:buChar char="-"/>
            </a:pPr>
            <a:r>
              <a:rPr lang="pt-BR">
                <a:solidFill>
                  <a:schemeClr val="dk1"/>
                </a:solidFill>
                <a:latin typeface="Times New Roman"/>
                <a:ea typeface="Times New Roman"/>
                <a:cs typeface="Times New Roman"/>
                <a:sym typeface="Times New Roman"/>
              </a:rPr>
              <a:t>A maioria das redes públicas X.25 são do tipo B e os protocolos necessários para o tipo B são mais complexos que os necessários para o tipo A.</a:t>
            </a:r>
            <a:endParaRPr>
              <a:solidFill>
                <a:schemeClr val="dk1"/>
              </a:solidFill>
              <a:latin typeface="Times New Roman"/>
              <a:ea typeface="Times New Roman"/>
              <a:cs typeface="Times New Roman"/>
              <a:sym typeface="Times New Roman"/>
            </a:endParaRPr>
          </a:p>
          <a:p>
            <a:pPr indent="-342900" lvl="0" marL="457200" rtl="0" algn="l">
              <a:spcBef>
                <a:spcPts val="0"/>
              </a:spcBef>
              <a:spcAft>
                <a:spcPts val="0"/>
              </a:spcAft>
              <a:buClr>
                <a:schemeClr val="dk1"/>
              </a:buClr>
              <a:buSzPts val="1800"/>
              <a:buFont typeface="Times New Roman"/>
              <a:buChar char="-"/>
            </a:pPr>
            <a:r>
              <a:rPr lang="pt-BR" u="sng">
                <a:solidFill>
                  <a:schemeClr val="dk1"/>
                </a:solidFill>
                <a:latin typeface="Times New Roman"/>
                <a:ea typeface="Times New Roman"/>
                <a:cs typeface="Times New Roman"/>
                <a:sym typeface="Times New Roman"/>
              </a:rPr>
              <a:t>Tipo C</a:t>
            </a:r>
            <a:r>
              <a:rPr lang="pt-BR">
                <a:solidFill>
                  <a:schemeClr val="dk1"/>
                </a:solidFill>
                <a:latin typeface="Times New Roman"/>
                <a:ea typeface="Times New Roman"/>
                <a:cs typeface="Times New Roman"/>
                <a:sym typeface="Times New Roman"/>
              </a:rPr>
              <a:t>: Representa os serviços de rede que não são confiáveis o suficiente. Os protocolos para o tipo C são os mais complexos de todos e precisam lidar com vários tipos de problemas.</a:t>
            </a:r>
            <a:endParaRPr>
              <a:solidFill>
                <a:schemeClr val="dk1"/>
              </a:solidFill>
              <a:latin typeface="Times New Roman"/>
              <a:ea typeface="Times New Roman"/>
              <a:cs typeface="Times New Roman"/>
              <a:sym typeface="Times New Roman"/>
            </a:endParaRPr>
          </a:p>
          <a:p>
            <a:pPr indent="-342900" lvl="0" marL="457200" rtl="0" algn="l">
              <a:spcBef>
                <a:spcPts val="0"/>
              </a:spcBef>
              <a:spcAft>
                <a:spcPts val="0"/>
              </a:spcAft>
              <a:buClr>
                <a:schemeClr val="dk1"/>
              </a:buClr>
              <a:buSzPts val="1800"/>
              <a:buFont typeface="Times New Roman"/>
              <a:buChar char="●"/>
            </a:pPr>
            <a:r>
              <a:rPr lang="pt-BR">
                <a:solidFill>
                  <a:schemeClr val="dk1"/>
                </a:solidFill>
                <a:latin typeface="Times New Roman"/>
                <a:ea typeface="Times New Roman"/>
                <a:cs typeface="Times New Roman"/>
                <a:sym typeface="Times New Roman"/>
              </a:rPr>
              <a:t>Ou seja, quanto pior o serviço de rede, mais complexo será o protocolo de transporte.</a:t>
            </a:r>
            <a:endParaRPr>
              <a:solidFill>
                <a:schemeClr val="dk1"/>
              </a:solidFill>
              <a:latin typeface="Times New Roman"/>
              <a:ea typeface="Times New Roman"/>
              <a:cs typeface="Times New Roman"/>
              <a:sym typeface="Times New Roman"/>
            </a:endParaRPr>
          </a:p>
          <a:p>
            <a:pPr indent="-342900" lvl="0" marL="457200" rtl="0" algn="l">
              <a:spcBef>
                <a:spcPts val="0"/>
              </a:spcBef>
              <a:spcAft>
                <a:spcPts val="0"/>
              </a:spcAft>
              <a:buClr>
                <a:schemeClr val="dk1"/>
              </a:buClr>
              <a:buSzPts val="1800"/>
              <a:buFont typeface="Times New Roman"/>
              <a:buChar char="●"/>
            </a:pPr>
            <a:r>
              <a:rPr lang="pt-BR">
                <a:solidFill>
                  <a:schemeClr val="dk1"/>
                </a:solidFill>
                <a:latin typeface="Times New Roman"/>
                <a:ea typeface="Times New Roman"/>
                <a:cs typeface="Times New Roman"/>
                <a:sym typeface="Times New Roman"/>
              </a:rPr>
              <a:t>O modelo OSI idealizou o protocolo de transporte com 5 variáveis (classes).</a:t>
            </a:r>
            <a:endParaRPr>
              <a:solidFill>
                <a:schemeClr val="dk1"/>
              </a:solidFill>
              <a:latin typeface="Times New Roman"/>
              <a:ea typeface="Times New Roman"/>
              <a:cs typeface="Times New Roman"/>
              <a:sym typeface="Times New Roman"/>
            </a:endParaRPr>
          </a:p>
          <a:p>
            <a:pPr indent="-342900" lvl="0" marL="457200" rtl="0" algn="l">
              <a:spcBef>
                <a:spcPts val="0"/>
              </a:spcBef>
              <a:spcAft>
                <a:spcPts val="0"/>
              </a:spcAft>
              <a:buClr>
                <a:schemeClr val="dk1"/>
              </a:buClr>
              <a:buSzPts val="1800"/>
              <a:buFont typeface="Times New Roman"/>
              <a:buChar char="-"/>
            </a:pPr>
            <a:r>
              <a:rPr lang="pt-BR" u="sng">
                <a:solidFill>
                  <a:schemeClr val="dk1"/>
                </a:solidFill>
                <a:latin typeface="Times New Roman"/>
                <a:ea typeface="Times New Roman"/>
                <a:cs typeface="Times New Roman"/>
                <a:sym typeface="Times New Roman"/>
              </a:rPr>
              <a:t>Classe 0</a:t>
            </a:r>
            <a:r>
              <a:rPr lang="pt-BR">
                <a:solidFill>
                  <a:schemeClr val="dk1"/>
                </a:solidFill>
                <a:latin typeface="Times New Roman"/>
                <a:ea typeface="Times New Roman"/>
                <a:cs typeface="Times New Roman"/>
                <a:sym typeface="Times New Roman"/>
              </a:rPr>
              <a:t>: É a classe mais simples. Ela configura uma conexão de rede para cada conexão de transporte requerida e assume que a conexão de rede não comete erros. O protocolo de transporte não realiza nenhum tipo de sequenciamento ou controle de fluxo.</a:t>
            </a:r>
            <a:endParaRPr>
              <a:solidFill>
                <a:schemeClr val="dk1"/>
              </a:solidFill>
              <a:latin typeface="Times New Roman"/>
              <a:ea typeface="Times New Roman"/>
              <a:cs typeface="Times New Roman"/>
              <a:sym typeface="Times New Roman"/>
            </a:endParaRPr>
          </a:p>
          <a:p>
            <a:pPr indent="0" lvl="0" marL="914400" rtl="0" algn="l">
              <a:spcBef>
                <a:spcPts val="1200"/>
              </a:spcBef>
              <a:spcAft>
                <a:spcPts val="1200"/>
              </a:spcAft>
              <a:buNone/>
            </a:pPr>
            <a:r>
              <a:t/>
            </a:r>
            <a:endParaRPr>
              <a:solidFill>
                <a:schemeClr val="dk1"/>
              </a:solidFill>
              <a:latin typeface="Times New Roman"/>
              <a:ea typeface="Times New Roman"/>
              <a:cs typeface="Times New Roman"/>
              <a:sym typeface="Times New Roman"/>
            </a:endParaRPr>
          </a:p>
        </p:txBody>
      </p:sp>
      <p:sp>
        <p:nvSpPr>
          <p:cNvPr id="189" name="Google Shape;189;p3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r>
              <a:rPr lang="pt-BR"/>
              <a:t>19</a:t>
            </a:r>
            <a:endParaRPr/>
          </a:p>
        </p:txBody>
      </p:sp>
    </p:spTree>
  </p:cSld>
  <p:clrMapOvr>
    <a:masterClrMapping/>
  </p:clrMapOvr>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3" name="Shape 193"/>
        <p:cNvGrpSpPr/>
        <p:nvPr/>
      </p:nvGrpSpPr>
      <p:grpSpPr>
        <a:xfrm>
          <a:off x="0" y="0"/>
          <a:ext cx="0" cy="0"/>
          <a:chOff x="0" y="0"/>
          <a:chExt cx="0" cy="0"/>
        </a:xfrm>
      </p:grpSpPr>
      <p:sp>
        <p:nvSpPr>
          <p:cNvPr id="194" name="Google Shape;194;p33"/>
          <p:cNvSpPr txBox="1"/>
          <p:nvPr>
            <p:ph type="title"/>
          </p:nvPr>
        </p:nvSpPr>
        <p:spPr>
          <a:xfrm>
            <a:off x="311700" y="445025"/>
            <a:ext cx="8520600" cy="572700"/>
          </a:xfrm>
          <a:prstGeom prst="rect">
            <a:avLst/>
          </a:prstGeom>
        </p:spPr>
        <p:txBody>
          <a:bodyPr anchorCtr="0" anchor="t" bIns="91425" lIns="91425" spcFirstLastPara="1" rIns="91425" wrap="square" tIns="91425">
            <a:noAutofit/>
          </a:bodyPr>
          <a:lstStyle/>
          <a:p>
            <a:pPr indent="-387350" lvl="1" marL="914400" rtl="0" algn="l">
              <a:lnSpc>
                <a:spcPct val="115000"/>
              </a:lnSpc>
              <a:spcBef>
                <a:spcPts val="0"/>
              </a:spcBef>
              <a:spcAft>
                <a:spcPts val="0"/>
              </a:spcAft>
              <a:buClr>
                <a:schemeClr val="dk1"/>
              </a:buClr>
              <a:buSzPts val="2500"/>
              <a:buFont typeface="Times New Roman"/>
              <a:buChar char="○"/>
            </a:pPr>
            <a:r>
              <a:rPr lang="pt-BR" sz="2500">
                <a:latin typeface="Times New Roman"/>
                <a:ea typeface="Times New Roman"/>
                <a:cs typeface="Times New Roman"/>
                <a:sym typeface="Times New Roman"/>
              </a:rPr>
              <a:t>6.1.4 - Protocolos de transporte</a:t>
            </a:r>
            <a:endParaRPr sz="2500"/>
          </a:p>
          <a:p>
            <a:pPr indent="0" lvl="0" marL="0" rtl="0" algn="l">
              <a:spcBef>
                <a:spcPts val="1200"/>
              </a:spcBef>
              <a:spcAft>
                <a:spcPts val="0"/>
              </a:spcAft>
              <a:buClr>
                <a:schemeClr val="dk1"/>
              </a:buClr>
              <a:buSzPts val="1100"/>
              <a:buFont typeface="Arial"/>
              <a:buNone/>
            </a:pPr>
            <a:r>
              <a:t/>
            </a:r>
            <a:endParaRPr sz="2500"/>
          </a:p>
          <a:p>
            <a:pPr indent="0" lvl="0" marL="0" rtl="0" algn="l">
              <a:spcBef>
                <a:spcPts val="0"/>
              </a:spcBef>
              <a:spcAft>
                <a:spcPts val="0"/>
              </a:spcAft>
              <a:buNone/>
            </a:pPr>
            <a:r>
              <a:t/>
            </a:r>
            <a:endParaRPr sz="2500"/>
          </a:p>
        </p:txBody>
      </p:sp>
      <p:sp>
        <p:nvSpPr>
          <p:cNvPr id="195" name="Google Shape;195;p33"/>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342900" lvl="0" marL="457200" rtl="0" algn="l">
              <a:spcBef>
                <a:spcPts val="0"/>
              </a:spcBef>
              <a:spcAft>
                <a:spcPts val="0"/>
              </a:spcAft>
              <a:buClr>
                <a:schemeClr val="dk1"/>
              </a:buClr>
              <a:buSzPts val="1800"/>
              <a:buFont typeface="Times New Roman"/>
              <a:buChar char="-"/>
            </a:pPr>
            <a:r>
              <a:rPr lang="pt-BR" u="sng">
                <a:solidFill>
                  <a:schemeClr val="dk1"/>
                </a:solidFill>
                <a:latin typeface="Times New Roman"/>
                <a:ea typeface="Times New Roman"/>
                <a:cs typeface="Times New Roman"/>
                <a:sym typeface="Times New Roman"/>
              </a:rPr>
              <a:t>Classe 1</a:t>
            </a:r>
            <a:r>
              <a:rPr lang="pt-BR">
                <a:solidFill>
                  <a:schemeClr val="dk1"/>
                </a:solidFill>
                <a:latin typeface="Times New Roman"/>
                <a:ea typeface="Times New Roman"/>
                <a:cs typeface="Times New Roman"/>
                <a:sym typeface="Times New Roman"/>
              </a:rPr>
              <a:t>: Parecido com a Classe 0, exceto pelo fato de que ela foi idealizada para que fosse capaz de se recuperar de “</a:t>
            </a:r>
            <a:r>
              <a:rPr i="1" lang="pt-BR">
                <a:solidFill>
                  <a:schemeClr val="dk1"/>
                </a:solidFill>
                <a:latin typeface="Times New Roman"/>
                <a:ea typeface="Times New Roman"/>
                <a:cs typeface="Times New Roman"/>
                <a:sym typeface="Times New Roman"/>
              </a:rPr>
              <a:t>N-RESETs</a:t>
            </a:r>
            <a:r>
              <a:rPr lang="pt-BR">
                <a:solidFill>
                  <a:schemeClr val="dk1"/>
                </a:solidFill>
                <a:latin typeface="Times New Roman"/>
                <a:ea typeface="Times New Roman"/>
                <a:cs typeface="Times New Roman"/>
                <a:sym typeface="Times New Roman"/>
              </a:rPr>
              <a:t>”. Se uma conexão de rede usada para uma dada conexão de transporte fica sujeita a um </a:t>
            </a:r>
            <a:r>
              <a:rPr i="1" lang="pt-BR">
                <a:solidFill>
                  <a:schemeClr val="dk1"/>
                </a:solidFill>
                <a:latin typeface="Times New Roman"/>
                <a:ea typeface="Times New Roman"/>
                <a:cs typeface="Times New Roman"/>
                <a:sym typeface="Times New Roman"/>
              </a:rPr>
              <a:t>N-RESET</a:t>
            </a:r>
            <a:r>
              <a:rPr lang="pt-BR">
                <a:solidFill>
                  <a:schemeClr val="dk1"/>
                </a:solidFill>
                <a:latin typeface="Times New Roman"/>
                <a:ea typeface="Times New Roman"/>
                <a:cs typeface="Times New Roman"/>
                <a:sym typeface="Times New Roman"/>
              </a:rPr>
              <a:t>, as duas entidades de transporte são sincronizadas novamente e então podem continuar de onde pararam. A Classe 1 não fornece nenhum tipo de controle de erro ou fluxo.</a:t>
            </a:r>
            <a:endParaRPr>
              <a:solidFill>
                <a:schemeClr val="dk1"/>
              </a:solidFill>
              <a:latin typeface="Times New Roman"/>
              <a:ea typeface="Times New Roman"/>
              <a:cs typeface="Times New Roman"/>
              <a:sym typeface="Times New Roman"/>
            </a:endParaRPr>
          </a:p>
          <a:p>
            <a:pPr indent="-342900" lvl="0" marL="457200" rtl="0" algn="l">
              <a:spcBef>
                <a:spcPts val="0"/>
              </a:spcBef>
              <a:spcAft>
                <a:spcPts val="0"/>
              </a:spcAft>
              <a:buClr>
                <a:schemeClr val="dk1"/>
              </a:buClr>
              <a:buSzPts val="1800"/>
              <a:buFont typeface="Times New Roman"/>
              <a:buChar char="-"/>
            </a:pPr>
            <a:r>
              <a:rPr lang="pt-BR" u="sng">
                <a:solidFill>
                  <a:schemeClr val="dk1"/>
                </a:solidFill>
                <a:latin typeface="Times New Roman"/>
                <a:ea typeface="Times New Roman"/>
                <a:cs typeface="Times New Roman"/>
                <a:sym typeface="Times New Roman"/>
              </a:rPr>
              <a:t>Classe 2</a:t>
            </a:r>
            <a:r>
              <a:rPr lang="pt-BR">
                <a:solidFill>
                  <a:schemeClr val="dk1"/>
                </a:solidFill>
                <a:latin typeface="Times New Roman"/>
                <a:ea typeface="Times New Roman"/>
                <a:cs typeface="Times New Roman"/>
                <a:sym typeface="Times New Roman"/>
              </a:rPr>
              <a:t>: Desenvolvido para ser usado com redes confiáveis (Tipo A). Se difere da Classe 0 pois duas ou mais conexões de transporte precisam ser enviadas (multiplexadas) na mesma conexão de rede.</a:t>
            </a:r>
            <a:endParaRPr>
              <a:solidFill>
                <a:schemeClr val="dk1"/>
              </a:solidFill>
              <a:latin typeface="Times New Roman"/>
              <a:ea typeface="Times New Roman"/>
              <a:cs typeface="Times New Roman"/>
              <a:sym typeface="Times New Roman"/>
            </a:endParaRPr>
          </a:p>
          <a:p>
            <a:pPr indent="-342900" lvl="0" marL="457200" rtl="0" algn="l">
              <a:spcBef>
                <a:spcPts val="0"/>
              </a:spcBef>
              <a:spcAft>
                <a:spcPts val="0"/>
              </a:spcAft>
              <a:buClr>
                <a:schemeClr val="dk1"/>
              </a:buClr>
              <a:buSzPts val="1800"/>
              <a:buFont typeface="Times New Roman"/>
              <a:buChar char="-"/>
            </a:pPr>
            <a:r>
              <a:rPr lang="pt-BR" u="sng">
                <a:solidFill>
                  <a:schemeClr val="dk1"/>
                </a:solidFill>
                <a:latin typeface="Times New Roman"/>
                <a:ea typeface="Times New Roman"/>
                <a:cs typeface="Times New Roman"/>
                <a:sym typeface="Times New Roman"/>
              </a:rPr>
              <a:t>Classe 3</a:t>
            </a:r>
            <a:r>
              <a:rPr lang="pt-BR">
                <a:solidFill>
                  <a:schemeClr val="dk1"/>
                </a:solidFill>
                <a:latin typeface="Times New Roman"/>
                <a:ea typeface="Times New Roman"/>
                <a:cs typeface="Times New Roman"/>
                <a:sym typeface="Times New Roman"/>
              </a:rPr>
              <a:t>: Esta classe permite multiplexação e também é capaz de se recuperar de </a:t>
            </a:r>
            <a:r>
              <a:rPr i="1" lang="pt-BR">
                <a:solidFill>
                  <a:schemeClr val="dk1"/>
                </a:solidFill>
                <a:latin typeface="Times New Roman"/>
                <a:ea typeface="Times New Roman"/>
                <a:cs typeface="Times New Roman"/>
                <a:sym typeface="Times New Roman"/>
              </a:rPr>
              <a:t>N-RESETs</a:t>
            </a:r>
            <a:r>
              <a:rPr lang="pt-BR">
                <a:solidFill>
                  <a:schemeClr val="dk1"/>
                </a:solidFill>
                <a:latin typeface="Times New Roman"/>
                <a:ea typeface="Times New Roman"/>
                <a:cs typeface="Times New Roman"/>
                <a:sym typeface="Times New Roman"/>
              </a:rPr>
              <a:t> ao passo que faz uso de controle de fluxo explícito.</a:t>
            </a:r>
            <a:endParaRPr>
              <a:solidFill>
                <a:schemeClr val="dk1"/>
              </a:solidFill>
              <a:latin typeface="Times New Roman"/>
              <a:ea typeface="Times New Roman"/>
              <a:cs typeface="Times New Roman"/>
              <a:sym typeface="Times New Roman"/>
            </a:endParaRPr>
          </a:p>
        </p:txBody>
      </p:sp>
      <p:sp>
        <p:nvSpPr>
          <p:cNvPr id="196" name="Google Shape;196;p33"/>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r>
              <a:rPr lang="pt-BR"/>
              <a:t>20</a:t>
            </a:r>
            <a:endParaRPr/>
          </a:p>
        </p:txBody>
      </p:sp>
    </p:spTree>
  </p:cSld>
  <p:clrMapOvr>
    <a:masterClrMapping/>
  </p:clrMapOvr>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0" name="Shape 200"/>
        <p:cNvGrpSpPr/>
        <p:nvPr/>
      </p:nvGrpSpPr>
      <p:grpSpPr>
        <a:xfrm>
          <a:off x="0" y="0"/>
          <a:ext cx="0" cy="0"/>
          <a:chOff x="0" y="0"/>
          <a:chExt cx="0" cy="0"/>
        </a:xfrm>
      </p:grpSpPr>
      <p:sp>
        <p:nvSpPr>
          <p:cNvPr id="201" name="Google Shape;201;p34"/>
          <p:cNvSpPr txBox="1"/>
          <p:nvPr>
            <p:ph type="title"/>
          </p:nvPr>
        </p:nvSpPr>
        <p:spPr>
          <a:xfrm>
            <a:off x="311700" y="445025"/>
            <a:ext cx="8520600" cy="572700"/>
          </a:xfrm>
          <a:prstGeom prst="rect">
            <a:avLst/>
          </a:prstGeom>
        </p:spPr>
        <p:txBody>
          <a:bodyPr anchorCtr="0" anchor="t" bIns="91425" lIns="91425" spcFirstLastPara="1" rIns="91425" wrap="square" tIns="91425">
            <a:noAutofit/>
          </a:bodyPr>
          <a:lstStyle/>
          <a:p>
            <a:pPr indent="-387350" lvl="1" marL="914400" rtl="0" algn="l">
              <a:lnSpc>
                <a:spcPct val="115000"/>
              </a:lnSpc>
              <a:spcBef>
                <a:spcPts val="0"/>
              </a:spcBef>
              <a:spcAft>
                <a:spcPts val="0"/>
              </a:spcAft>
              <a:buClr>
                <a:schemeClr val="dk1"/>
              </a:buClr>
              <a:buSzPts val="2500"/>
              <a:buFont typeface="Times New Roman"/>
              <a:buChar char="○"/>
            </a:pPr>
            <a:r>
              <a:rPr lang="pt-BR" sz="2500">
                <a:latin typeface="Times New Roman"/>
                <a:ea typeface="Times New Roman"/>
                <a:cs typeface="Times New Roman"/>
                <a:sym typeface="Times New Roman"/>
              </a:rPr>
              <a:t>6.1.4 - Protocolos de transporte</a:t>
            </a:r>
            <a:endParaRPr sz="2500"/>
          </a:p>
          <a:p>
            <a:pPr indent="0" lvl="0" marL="0" rtl="0" algn="l">
              <a:spcBef>
                <a:spcPts val="1200"/>
              </a:spcBef>
              <a:spcAft>
                <a:spcPts val="0"/>
              </a:spcAft>
              <a:buNone/>
            </a:pPr>
            <a:r>
              <a:t/>
            </a:r>
            <a:endParaRPr sz="2500"/>
          </a:p>
        </p:txBody>
      </p:sp>
      <p:sp>
        <p:nvSpPr>
          <p:cNvPr id="202" name="Google Shape;202;p34"/>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342900" lvl="0" marL="457200" rtl="0" algn="l">
              <a:spcBef>
                <a:spcPts val="0"/>
              </a:spcBef>
              <a:spcAft>
                <a:spcPts val="0"/>
              </a:spcAft>
              <a:buClr>
                <a:schemeClr val="dk1"/>
              </a:buClr>
              <a:buSzPts val="1800"/>
              <a:buFont typeface="Times New Roman"/>
              <a:buChar char="-"/>
            </a:pPr>
            <a:r>
              <a:rPr lang="pt-BR" u="sng">
                <a:solidFill>
                  <a:schemeClr val="dk1"/>
                </a:solidFill>
                <a:latin typeface="Times New Roman"/>
                <a:ea typeface="Times New Roman"/>
                <a:cs typeface="Times New Roman"/>
                <a:sym typeface="Times New Roman"/>
              </a:rPr>
              <a:t>Classe 4</a:t>
            </a:r>
            <a:r>
              <a:rPr lang="pt-BR">
                <a:solidFill>
                  <a:schemeClr val="dk1"/>
                </a:solidFill>
                <a:latin typeface="Times New Roman"/>
                <a:ea typeface="Times New Roman"/>
                <a:cs typeface="Times New Roman"/>
                <a:sym typeface="Times New Roman"/>
              </a:rPr>
              <a:t>: Foi desenvolvido para serviços de rede do Tipo C. É capaz de lidar com perdas, duplicações, </a:t>
            </a:r>
            <a:r>
              <a:rPr i="1" lang="pt-BR">
                <a:solidFill>
                  <a:schemeClr val="dk1"/>
                </a:solidFill>
                <a:latin typeface="Times New Roman"/>
                <a:ea typeface="Times New Roman"/>
                <a:cs typeface="Times New Roman"/>
                <a:sym typeface="Times New Roman"/>
              </a:rPr>
              <a:t>N-RESETs</a:t>
            </a:r>
            <a:r>
              <a:rPr lang="pt-BR">
                <a:solidFill>
                  <a:schemeClr val="dk1"/>
                </a:solidFill>
                <a:latin typeface="Times New Roman"/>
                <a:ea typeface="Times New Roman"/>
                <a:cs typeface="Times New Roman"/>
                <a:sym typeface="Times New Roman"/>
              </a:rPr>
              <a:t>, entre outros. Os protocolos da Classe 4 são os mais complexos de todos</a:t>
            </a:r>
            <a:endParaRPr>
              <a:solidFill>
                <a:schemeClr val="dk1"/>
              </a:solidFill>
              <a:latin typeface="Times New Roman"/>
              <a:ea typeface="Times New Roman"/>
              <a:cs typeface="Times New Roman"/>
              <a:sym typeface="Times New Roman"/>
            </a:endParaRPr>
          </a:p>
          <a:p>
            <a:pPr indent="-342900" lvl="0" marL="457200" rtl="0" algn="l">
              <a:spcBef>
                <a:spcPts val="0"/>
              </a:spcBef>
              <a:spcAft>
                <a:spcPts val="0"/>
              </a:spcAft>
              <a:buClr>
                <a:schemeClr val="dk1"/>
              </a:buClr>
              <a:buSzPts val="1800"/>
              <a:buFont typeface="Times New Roman"/>
              <a:buChar char="●"/>
            </a:pPr>
            <a:r>
              <a:rPr lang="pt-BR">
                <a:solidFill>
                  <a:schemeClr val="dk1"/>
                </a:solidFill>
                <a:latin typeface="Times New Roman"/>
                <a:ea typeface="Times New Roman"/>
                <a:cs typeface="Times New Roman"/>
                <a:sym typeface="Times New Roman"/>
              </a:rPr>
              <a:t>A escolha de qual classe de protocolo será usada em uma conexão é determinada pelas entidades de transporte no momento em que a conexão é estabelecida. O iniciador </a:t>
            </a:r>
            <a:r>
              <a:rPr lang="pt-BR">
                <a:solidFill>
                  <a:schemeClr val="dk1"/>
                </a:solidFill>
                <a:latin typeface="Times New Roman"/>
                <a:ea typeface="Times New Roman"/>
                <a:cs typeface="Times New Roman"/>
                <a:sym typeface="Times New Roman"/>
              </a:rPr>
              <a:t>propõe</a:t>
            </a:r>
            <a:r>
              <a:rPr lang="pt-BR">
                <a:solidFill>
                  <a:schemeClr val="dk1"/>
                </a:solidFill>
                <a:latin typeface="Times New Roman"/>
                <a:ea typeface="Times New Roman"/>
                <a:cs typeface="Times New Roman"/>
                <a:sym typeface="Times New Roman"/>
              </a:rPr>
              <a:t> uma classe preferida e outras possíveis alternativas enquanto que o outro lado escolhe uma classe de protocolo da lista fornecida. Se nenhuma das opções forem aceitas, a conexão é rejeitada.</a:t>
            </a:r>
            <a:endParaRPr>
              <a:solidFill>
                <a:schemeClr val="dk1"/>
              </a:solidFill>
              <a:latin typeface="Times New Roman"/>
              <a:ea typeface="Times New Roman"/>
              <a:cs typeface="Times New Roman"/>
              <a:sym typeface="Times New Roman"/>
            </a:endParaRPr>
          </a:p>
          <a:p>
            <a:pPr indent="-342900" lvl="0" marL="457200" rtl="0" algn="l">
              <a:spcBef>
                <a:spcPts val="0"/>
              </a:spcBef>
              <a:spcAft>
                <a:spcPts val="0"/>
              </a:spcAft>
              <a:buClr>
                <a:schemeClr val="dk1"/>
              </a:buClr>
              <a:buSzPts val="1800"/>
              <a:buFont typeface="Times New Roman"/>
              <a:buChar char="●"/>
            </a:pPr>
            <a:r>
              <a:rPr lang="pt-BR">
                <a:solidFill>
                  <a:schemeClr val="dk1"/>
                </a:solidFill>
                <a:latin typeface="Times New Roman"/>
                <a:ea typeface="Times New Roman"/>
                <a:cs typeface="Times New Roman"/>
                <a:sym typeface="Times New Roman"/>
              </a:rPr>
              <a:t>Essa negociação é necessária pois diferentes usuários podem possuir diferentes visões do que possa ser considerado “confiável”.</a:t>
            </a:r>
            <a:endParaRPr>
              <a:solidFill>
                <a:schemeClr val="dk1"/>
              </a:solidFill>
              <a:latin typeface="Times New Roman"/>
              <a:ea typeface="Times New Roman"/>
              <a:cs typeface="Times New Roman"/>
              <a:sym typeface="Times New Roman"/>
            </a:endParaRPr>
          </a:p>
        </p:txBody>
      </p:sp>
      <p:sp>
        <p:nvSpPr>
          <p:cNvPr id="203" name="Google Shape;203;p34"/>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r>
              <a:rPr lang="pt-BR"/>
              <a:t>21</a:t>
            </a:r>
            <a:endParaRPr/>
          </a:p>
        </p:txBody>
      </p:sp>
    </p:spTree>
  </p:cSld>
  <p:clrMapOvr>
    <a:masterClrMapping/>
  </p:clrMapOvr>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7" name="Shape 207"/>
        <p:cNvGrpSpPr/>
        <p:nvPr/>
      </p:nvGrpSpPr>
      <p:grpSpPr>
        <a:xfrm>
          <a:off x="0" y="0"/>
          <a:ext cx="0" cy="0"/>
          <a:chOff x="0" y="0"/>
          <a:chExt cx="0" cy="0"/>
        </a:xfrm>
      </p:grpSpPr>
      <p:sp>
        <p:nvSpPr>
          <p:cNvPr id="208" name="Google Shape;208;p35"/>
          <p:cNvSpPr txBox="1"/>
          <p:nvPr>
            <p:ph type="title"/>
          </p:nvPr>
        </p:nvSpPr>
        <p:spPr>
          <a:xfrm>
            <a:off x="311700" y="445025"/>
            <a:ext cx="8520600" cy="572700"/>
          </a:xfrm>
          <a:prstGeom prst="rect">
            <a:avLst/>
          </a:prstGeom>
        </p:spPr>
        <p:txBody>
          <a:bodyPr anchorCtr="0" anchor="t" bIns="91425" lIns="91425" spcFirstLastPara="1" rIns="91425" wrap="square" tIns="91425">
            <a:noAutofit/>
          </a:bodyPr>
          <a:lstStyle/>
          <a:p>
            <a:pPr indent="-387350" lvl="1" marL="914400" rtl="0" algn="l">
              <a:lnSpc>
                <a:spcPct val="115000"/>
              </a:lnSpc>
              <a:spcBef>
                <a:spcPts val="0"/>
              </a:spcBef>
              <a:spcAft>
                <a:spcPts val="0"/>
              </a:spcAft>
              <a:buClr>
                <a:schemeClr val="dk1"/>
              </a:buClr>
              <a:buSzPts val="2500"/>
              <a:buFont typeface="Times New Roman"/>
              <a:buChar char="○"/>
            </a:pPr>
            <a:r>
              <a:rPr lang="pt-BR" sz="2500">
                <a:latin typeface="Times New Roman"/>
                <a:ea typeface="Times New Roman"/>
                <a:cs typeface="Times New Roman"/>
                <a:sym typeface="Times New Roman"/>
              </a:rPr>
              <a:t>6.1.5 - Elementos de protocolos de transporte</a:t>
            </a:r>
            <a:endParaRPr sz="2500">
              <a:latin typeface="Times New Roman"/>
              <a:ea typeface="Times New Roman"/>
              <a:cs typeface="Times New Roman"/>
              <a:sym typeface="Times New Roman"/>
            </a:endParaRPr>
          </a:p>
          <a:p>
            <a:pPr indent="0" lvl="0" marL="0" rtl="0" algn="l">
              <a:spcBef>
                <a:spcPts val="1200"/>
              </a:spcBef>
              <a:spcAft>
                <a:spcPts val="0"/>
              </a:spcAft>
              <a:buNone/>
            </a:pPr>
            <a:r>
              <a:t/>
            </a:r>
            <a:endParaRPr sz="2500"/>
          </a:p>
        </p:txBody>
      </p:sp>
      <p:sp>
        <p:nvSpPr>
          <p:cNvPr id="209" name="Google Shape;209;p35"/>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342900" lvl="0" marL="457200" rtl="0" algn="l">
              <a:spcBef>
                <a:spcPts val="0"/>
              </a:spcBef>
              <a:spcAft>
                <a:spcPts val="0"/>
              </a:spcAft>
              <a:buClr>
                <a:schemeClr val="dk1"/>
              </a:buClr>
              <a:buSzPts val="1800"/>
              <a:buFont typeface="Times New Roman"/>
              <a:buChar char="●"/>
            </a:pPr>
            <a:r>
              <a:rPr lang="pt-BR">
                <a:solidFill>
                  <a:schemeClr val="dk1"/>
                </a:solidFill>
                <a:latin typeface="Times New Roman"/>
                <a:ea typeface="Times New Roman"/>
                <a:cs typeface="Times New Roman"/>
                <a:sym typeface="Times New Roman"/>
              </a:rPr>
              <a:t>As características exatas fornecidas por um protocolo de transporte depende do ambiente em que ele está operando e do tipo de serviço que será oferecido. Contudo, é possível listar elementos básicos que são comuns para vários protocolos de transporte e ainda suas relações com as classe do modelo OSI. Essa lista inclui elementos como “estabelecimento de conexão” , “recusa de conexão”, “</a:t>
            </a:r>
            <a:r>
              <a:rPr lang="pt-BR">
                <a:solidFill>
                  <a:schemeClr val="dk1"/>
                </a:solidFill>
                <a:latin typeface="Times New Roman"/>
                <a:ea typeface="Times New Roman"/>
                <a:cs typeface="Times New Roman"/>
                <a:sym typeface="Times New Roman"/>
              </a:rPr>
              <a:t>transferência</a:t>
            </a:r>
            <a:r>
              <a:rPr lang="pt-BR">
                <a:solidFill>
                  <a:schemeClr val="dk1"/>
                </a:solidFill>
                <a:latin typeface="Times New Roman"/>
                <a:ea typeface="Times New Roman"/>
                <a:cs typeface="Times New Roman"/>
                <a:sym typeface="Times New Roman"/>
              </a:rPr>
              <a:t> TPDU (unidade de dado de protocolo de transporte)”, entre outros.</a:t>
            </a:r>
            <a:endParaRPr>
              <a:solidFill>
                <a:schemeClr val="dk1"/>
              </a:solidFill>
              <a:latin typeface="Times New Roman"/>
              <a:ea typeface="Times New Roman"/>
              <a:cs typeface="Times New Roman"/>
              <a:sym typeface="Times New Roman"/>
            </a:endParaRPr>
          </a:p>
          <a:p>
            <a:pPr indent="-342900" lvl="0" marL="457200" rtl="0" algn="l">
              <a:spcBef>
                <a:spcPts val="0"/>
              </a:spcBef>
              <a:spcAft>
                <a:spcPts val="0"/>
              </a:spcAft>
              <a:buClr>
                <a:schemeClr val="dk1"/>
              </a:buClr>
              <a:buSzPts val="1800"/>
              <a:buFont typeface="Times New Roman"/>
              <a:buChar char="●"/>
            </a:pPr>
            <a:r>
              <a:rPr lang="pt-BR">
                <a:solidFill>
                  <a:schemeClr val="dk1"/>
                </a:solidFill>
                <a:latin typeface="Times New Roman"/>
                <a:ea typeface="Times New Roman"/>
                <a:cs typeface="Times New Roman"/>
                <a:sym typeface="Times New Roman"/>
              </a:rPr>
              <a:t>Para realizar o movimento de bits pela rede, as entidades de transporte normalmente estabelecem uma conexão de rede. </a:t>
            </a:r>
            <a:r>
              <a:rPr lang="pt-BR">
                <a:solidFill>
                  <a:schemeClr val="dk1"/>
                </a:solidFill>
                <a:latin typeface="Times New Roman"/>
                <a:ea typeface="Times New Roman"/>
                <a:cs typeface="Times New Roman"/>
                <a:sym typeface="Times New Roman"/>
              </a:rPr>
              <a:t>Entretanto</a:t>
            </a:r>
            <a:r>
              <a:rPr lang="pt-BR">
                <a:solidFill>
                  <a:schemeClr val="dk1"/>
                </a:solidFill>
                <a:latin typeface="Times New Roman"/>
                <a:ea typeface="Times New Roman"/>
                <a:cs typeface="Times New Roman"/>
                <a:sym typeface="Times New Roman"/>
              </a:rPr>
              <a:t>, é possível o uso de um protocolo de rede sem conexão para o transporte de dados desde que o protocolo de transporte seja um Classe 4.</a:t>
            </a:r>
            <a:endParaRPr>
              <a:solidFill>
                <a:schemeClr val="dk1"/>
              </a:solidFill>
              <a:latin typeface="Times New Roman"/>
              <a:ea typeface="Times New Roman"/>
              <a:cs typeface="Times New Roman"/>
              <a:sym typeface="Times New Roman"/>
            </a:endParaRPr>
          </a:p>
        </p:txBody>
      </p:sp>
      <p:sp>
        <p:nvSpPr>
          <p:cNvPr id="210" name="Google Shape;210;p35"/>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r>
              <a:rPr lang="pt-BR"/>
              <a:t>22</a:t>
            </a:r>
            <a:endParaRPr/>
          </a:p>
        </p:txBody>
      </p:sp>
    </p:spTree>
  </p:cSld>
  <p:clrMapOvr>
    <a:masterClrMapping/>
  </p:clrMapOvr>
</p:sld>
</file>

<file path=ppt/slides/slide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4" name="Shape 214"/>
        <p:cNvGrpSpPr/>
        <p:nvPr/>
      </p:nvGrpSpPr>
      <p:grpSpPr>
        <a:xfrm>
          <a:off x="0" y="0"/>
          <a:ext cx="0" cy="0"/>
          <a:chOff x="0" y="0"/>
          <a:chExt cx="0" cy="0"/>
        </a:xfrm>
      </p:grpSpPr>
      <p:sp>
        <p:nvSpPr>
          <p:cNvPr id="215" name="Google Shape;215;p36"/>
          <p:cNvSpPr txBox="1"/>
          <p:nvPr>
            <p:ph type="title"/>
          </p:nvPr>
        </p:nvSpPr>
        <p:spPr>
          <a:xfrm>
            <a:off x="311700" y="445025"/>
            <a:ext cx="8520600" cy="572700"/>
          </a:xfrm>
          <a:prstGeom prst="rect">
            <a:avLst/>
          </a:prstGeom>
        </p:spPr>
        <p:txBody>
          <a:bodyPr anchorCtr="0" anchor="t" bIns="91425" lIns="91425" spcFirstLastPara="1" rIns="91425" wrap="square" tIns="91425">
            <a:noAutofit/>
          </a:bodyPr>
          <a:lstStyle/>
          <a:p>
            <a:pPr indent="-387350" lvl="1" marL="914400" rtl="0" algn="l">
              <a:lnSpc>
                <a:spcPct val="115000"/>
              </a:lnSpc>
              <a:spcBef>
                <a:spcPts val="0"/>
              </a:spcBef>
              <a:spcAft>
                <a:spcPts val="0"/>
              </a:spcAft>
              <a:buClr>
                <a:schemeClr val="dk1"/>
              </a:buClr>
              <a:buSzPts val="2500"/>
              <a:buFont typeface="Times New Roman"/>
              <a:buChar char="○"/>
            </a:pPr>
            <a:r>
              <a:rPr lang="pt-BR" sz="2500">
                <a:latin typeface="Times New Roman"/>
                <a:ea typeface="Times New Roman"/>
                <a:cs typeface="Times New Roman"/>
                <a:sym typeface="Times New Roman"/>
              </a:rPr>
              <a:t>6.1.5 - Elementos de protocolos de transporte</a:t>
            </a:r>
            <a:endParaRPr sz="2500">
              <a:latin typeface="Times New Roman"/>
              <a:ea typeface="Times New Roman"/>
              <a:cs typeface="Times New Roman"/>
              <a:sym typeface="Times New Roman"/>
            </a:endParaRPr>
          </a:p>
          <a:p>
            <a:pPr indent="0" lvl="0" marL="0" rtl="0" algn="l">
              <a:spcBef>
                <a:spcPts val="1200"/>
              </a:spcBef>
              <a:spcAft>
                <a:spcPts val="0"/>
              </a:spcAft>
              <a:buClr>
                <a:schemeClr val="dk1"/>
              </a:buClr>
              <a:buSzPts val="1100"/>
              <a:buFont typeface="Arial"/>
              <a:buNone/>
            </a:pPr>
            <a:r>
              <a:t/>
            </a:r>
            <a:endParaRPr sz="2500"/>
          </a:p>
          <a:p>
            <a:pPr indent="0" lvl="0" marL="0" rtl="0" algn="l">
              <a:spcBef>
                <a:spcPts val="0"/>
              </a:spcBef>
              <a:spcAft>
                <a:spcPts val="0"/>
              </a:spcAft>
              <a:buNone/>
            </a:pPr>
            <a:r>
              <a:t/>
            </a:r>
            <a:endParaRPr sz="2500"/>
          </a:p>
        </p:txBody>
      </p:sp>
      <p:sp>
        <p:nvSpPr>
          <p:cNvPr id="216" name="Google Shape;216;p36"/>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342900" lvl="0" marL="457200" rtl="0" algn="l">
              <a:spcBef>
                <a:spcPts val="0"/>
              </a:spcBef>
              <a:spcAft>
                <a:spcPts val="0"/>
              </a:spcAft>
              <a:buClr>
                <a:schemeClr val="dk1"/>
              </a:buClr>
              <a:buSzPts val="1800"/>
              <a:buFont typeface="Times New Roman"/>
              <a:buChar char="●"/>
            </a:pPr>
            <a:r>
              <a:rPr lang="pt-BR">
                <a:solidFill>
                  <a:schemeClr val="dk1"/>
                </a:solidFill>
                <a:latin typeface="Times New Roman"/>
                <a:ea typeface="Times New Roman"/>
                <a:cs typeface="Times New Roman"/>
                <a:sym typeface="Times New Roman"/>
              </a:rPr>
              <a:t>Uma das tarefas dos protocolos de transporte é a de dividir longas mensagens em partes com tamanhos compatíveis com TPDU usados pelos protocolos e então remontar essas partes na outra extremidade.</a:t>
            </a:r>
            <a:endParaRPr>
              <a:solidFill>
                <a:schemeClr val="dk1"/>
              </a:solidFill>
              <a:latin typeface="Times New Roman"/>
              <a:ea typeface="Times New Roman"/>
              <a:cs typeface="Times New Roman"/>
              <a:sym typeface="Times New Roman"/>
            </a:endParaRPr>
          </a:p>
          <a:p>
            <a:pPr indent="-342900" lvl="0" marL="457200" rtl="0" algn="l">
              <a:spcBef>
                <a:spcPts val="0"/>
              </a:spcBef>
              <a:spcAft>
                <a:spcPts val="0"/>
              </a:spcAft>
              <a:buClr>
                <a:schemeClr val="dk1"/>
              </a:buClr>
              <a:buSzPts val="1800"/>
              <a:buFont typeface="Times New Roman"/>
              <a:buChar char="●"/>
            </a:pPr>
            <a:r>
              <a:rPr lang="pt-BR">
                <a:solidFill>
                  <a:schemeClr val="dk1"/>
                </a:solidFill>
                <a:latin typeface="Times New Roman"/>
                <a:ea typeface="Times New Roman"/>
                <a:cs typeface="Times New Roman"/>
                <a:sym typeface="Times New Roman"/>
              </a:rPr>
              <a:t>Em um cenário de várias conexões, as entidades de transporte darão um número a cada conexão e o colocarão em cada TPDU, de modo que quando este alcançar a outra extremidade, o receptor possa saber qual conexão está associada a ele.</a:t>
            </a:r>
            <a:endParaRPr>
              <a:solidFill>
                <a:schemeClr val="dk1"/>
              </a:solidFill>
              <a:latin typeface="Times New Roman"/>
              <a:ea typeface="Times New Roman"/>
              <a:cs typeface="Times New Roman"/>
              <a:sym typeface="Times New Roman"/>
            </a:endParaRPr>
          </a:p>
          <a:p>
            <a:pPr indent="-342900" lvl="0" marL="457200" rtl="0" algn="l">
              <a:spcBef>
                <a:spcPts val="0"/>
              </a:spcBef>
              <a:spcAft>
                <a:spcPts val="0"/>
              </a:spcAft>
              <a:buClr>
                <a:schemeClr val="dk1"/>
              </a:buClr>
              <a:buSzPts val="1800"/>
              <a:buFont typeface="Times New Roman"/>
              <a:buChar char="●"/>
            </a:pPr>
            <a:r>
              <a:rPr lang="pt-BR">
                <a:solidFill>
                  <a:schemeClr val="dk1"/>
                </a:solidFill>
                <a:latin typeface="Times New Roman"/>
                <a:ea typeface="Times New Roman"/>
                <a:cs typeface="Times New Roman"/>
                <a:sym typeface="Times New Roman"/>
              </a:rPr>
              <a:t>Portanto, o transporte de TPDUs é uma característica de todos os protocolos de transporte.</a:t>
            </a:r>
            <a:endParaRPr>
              <a:solidFill>
                <a:schemeClr val="dk1"/>
              </a:solidFill>
              <a:latin typeface="Times New Roman"/>
              <a:ea typeface="Times New Roman"/>
              <a:cs typeface="Times New Roman"/>
              <a:sym typeface="Times New Roman"/>
            </a:endParaRPr>
          </a:p>
          <a:p>
            <a:pPr indent="-342900" lvl="0" marL="457200" rtl="0" algn="l">
              <a:spcBef>
                <a:spcPts val="0"/>
              </a:spcBef>
              <a:spcAft>
                <a:spcPts val="0"/>
              </a:spcAft>
              <a:buClr>
                <a:schemeClr val="dk1"/>
              </a:buClr>
              <a:buSzPts val="1800"/>
              <a:buFont typeface="Times New Roman"/>
              <a:buChar char="●"/>
            </a:pPr>
            <a:r>
              <a:rPr lang="pt-BR">
                <a:solidFill>
                  <a:schemeClr val="dk1"/>
                </a:solidFill>
                <a:latin typeface="Times New Roman"/>
                <a:ea typeface="Times New Roman"/>
                <a:cs typeface="Times New Roman"/>
                <a:sym typeface="Times New Roman"/>
              </a:rPr>
              <a:t>Todos os protocolos de transporte também devem estar aptos a lidar com erros de protocolo de modo a ignorar TPDUs inválidos ou terminar conexões.</a:t>
            </a:r>
            <a:endParaRPr>
              <a:solidFill>
                <a:schemeClr val="dk1"/>
              </a:solidFill>
              <a:latin typeface="Times New Roman"/>
              <a:ea typeface="Times New Roman"/>
              <a:cs typeface="Times New Roman"/>
              <a:sym typeface="Times New Roman"/>
            </a:endParaRPr>
          </a:p>
        </p:txBody>
      </p:sp>
      <p:sp>
        <p:nvSpPr>
          <p:cNvPr id="217" name="Google Shape;217;p36"/>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r>
              <a:rPr lang="pt-BR"/>
              <a:t>23</a:t>
            </a:r>
            <a:endParaRPr/>
          </a:p>
        </p:txBody>
      </p:sp>
    </p:spTree>
  </p:cSld>
  <p:clrMapOvr>
    <a:masterClrMapping/>
  </p:clrMapOvr>
</p:sld>
</file>

<file path=ppt/slides/slide2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1" name="Shape 221"/>
        <p:cNvGrpSpPr/>
        <p:nvPr/>
      </p:nvGrpSpPr>
      <p:grpSpPr>
        <a:xfrm>
          <a:off x="0" y="0"/>
          <a:ext cx="0" cy="0"/>
          <a:chOff x="0" y="0"/>
          <a:chExt cx="0" cy="0"/>
        </a:xfrm>
      </p:grpSpPr>
      <p:sp>
        <p:nvSpPr>
          <p:cNvPr id="222" name="Google Shape;222;p37"/>
          <p:cNvSpPr txBox="1"/>
          <p:nvPr>
            <p:ph type="title"/>
          </p:nvPr>
        </p:nvSpPr>
        <p:spPr>
          <a:xfrm>
            <a:off x="311700" y="445025"/>
            <a:ext cx="8520600" cy="572700"/>
          </a:xfrm>
          <a:prstGeom prst="rect">
            <a:avLst/>
          </a:prstGeom>
        </p:spPr>
        <p:txBody>
          <a:bodyPr anchorCtr="0" anchor="t" bIns="91425" lIns="91425" spcFirstLastPara="1" rIns="91425" wrap="square" tIns="91425">
            <a:noAutofit/>
          </a:bodyPr>
          <a:lstStyle/>
          <a:p>
            <a:pPr indent="-387350" lvl="1" marL="914400" rtl="0" algn="l">
              <a:lnSpc>
                <a:spcPct val="115000"/>
              </a:lnSpc>
              <a:spcBef>
                <a:spcPts val="0"/>
              </a:spcBef>
              <a:spcAft>
                <a:spcPts val="0"/>
              </a:spcAft>
              <a:buClr>
                <a:schemeClr val="dk1"/>
              </a:buClr>
              <a:buSzPts val="2500"/>
              <a:buFont typeface="Times New Roman"/>
              <a:buChar char="○"/>
            </a:pPr>
            <a:r>
              <a:rPr lang="pt-BR" sz="2500">
                <a:latin typeface="Times New Roman"/>
                <a:ea typeface="Times New Roman"/>
                <a:cs typeface="Times New Roman"/>
                <a:sym typeface="Times New Roman"/>
              </a:rPr>
              <a:t>6.1.5 - Elementos de protocolos de transporte</a:t>
            </a:r>
            <a:endParaRPr sz="2500">
              <a:latin typeface="Times New Roman"/>
              <a:ea typeface="Times New Roman"/>
              <a:cs typeface="Times New Roman"/>
              <a:sym typeface="Times New Roman"/>
            </a:endParaRPr>
          </a:p>
          <a:p>
            <a:pPr indent="0" lvl="0" marL="0" rtl="0" algn="l">
              <a:spcBef>
                <a:spcPts val="1200"/>
              </a:spcBef>
              <a:spcAft>
                <a:spcPts val="0"/>
              </a:spcAft>
              <a:buNone/>
            </a:pPr>
            <a:r>
              <a:t/>
            </a:r>
            <a:endParaRPr sz="2500"/>
          </a:p>
        </p:txBody>
      </p:sp>
      <p:sp>
        <p:nvSpPr>
          <p:cNvPr id="223" name="Google Shape;223;p37"/>
          <p:cNvSpPr txBox="1"/>
          <p:nvPr>
            <p:ph idx="1" type="body"/>
          </p:nvPr>
        </p:nvSpPr>
        <p:spPr>
          <a:xfrm>
            <a:off x="311700" y="1152475"/>
            <a:ext cx="8520600" cy="3668700"/>
          </a:xfrm>
          <a:prstGeom prst="rect">
            <a:avLst/>
          </a:prstGeom>
        </p:spPr>
        <p:txBody>
          <a:bodyPr anchorCtr="0" anchor="t" bIns="91425" lIns="91425" spcFirstLastPara="1" rIns="91425" wrap="square" tIns="91425">
            <a:noAutofit/>
          </a:bodyPr>
          <a:lstStyle/>
          <a:p>
            <a:pPr indent="-342900" lvl="0" marL="457200" rtl="0" algn="l">
              <a:spcBef>
                <a:spcPts val="0"/>
              </a:spcBef>
              <a:spcAft>
                <a:spcPts val="0"/>
              </a:spcAft>
              <a:buClr>
                <a:schemeClr val="dk1"/>
              </a:buClr>
              <a:buSzPts val="1800"/>
              <a:buFont typeface="Times New Roman"/>
              <a:buChar char="●"/>
            </a:pPr>
            <a:r>
              <a:rPr lang="pt-BR">
                <a:solidFill>
                  <a:schemeClr val="dk1"/>
                </a:solidFill>
                <a:latin typeface="Times New Roman"/>
                <a:ea typeface="Times New Roman"/>
                <a:cs typeface="Times New Roman"/>
                <a:sym typeface="Times New Roman"/>
              </a:rPr>
              <a:t>Alguns elementos da lista não se aplicam para todas as classes de protocolos. Um exemplo é o elemento “concatenação de TPDUs”, que é aplicado às classes 1 a 4 mas não à classe 0. Sua função é de permitir que entidades de transporte colete vários TPDUs e envie-os juntos como um único pacote. Isso reduz o número de chamadas da camada de rede.</a:t>
            </a:r>
            <a:endParaRPr>
              <a:solidFill>
                <a:schemeClr val="dk1"/>
              </a:solidFill>
              <a:latin typeface="Times New Roman"/>
              <a:ea typeface="Times New Roman"/>
              <a:cs typeface="Times New Roman"/>
              <a:sym typeface="Times New Roman"/>
            </a:endParaRPr>
          </a:p>
          <a:p>
            <a:pPr indent="-342900" lvl="0" marL="457200" rtl="0" algn="l">
              <a:spcBef>
                <a:spcPts val="0"/>
              </a:spcBef>
              <a:spcAft>
                <a:spcPts val="0"/>
              </a:spcAft>
              <a:buClr>
                <a:schemeClr val="dk1"/>
              </a:buClr>
              <a:buSzPts val="1800"/>
              <a:buFont typeface="Times New Roman"/>
              <a:buChar char="●"/>
            </a:pPr>
            <a:r>
              <a:rPr lang="pt-BR">
                <a:solidFill>
                  <a:schemeClr val="dk1"/>
                </a:solidFill>
                <a:latin typeface="Times New Roman"/>
                <a:ea typeface="Times New Roman"/>
                <a:cs typeface="Times New Roman"/>
                <a:sym typeface="Times New Roman"/>
              </a:rPr>
              <a:t>Abaixo seguem alguns elementos e sua funções.</a:t>
            </a:r>
            <a:endParaRPr>
              <a:solidFill>
                <a:schemeClr val="dk1"/>
              </a:solidFill>
              <a:latin typeface="Times New Roman"/>
              <a:ea typeface="Times New Roman"/>
              <a:cs typeface="Times New Roman"/>
              <a:sym typeface="Times New Roman"/>
            </a:endParaRPr>
          </a:p>
          <a:p>
            <a:pPr indent="-342900" lvl="0" marL="457200" rtl="0" algn="l">
              <a:spcBef>
                <a:spcPts val="0"/>
              </a:spcBef>
              <a:spcAft>
                <a:spcPts val="0"/>
              </a:spcAft>
              <a:buClr>
                <a:schemeClr val="dk1"/>
              </a:buClr>
              <a:buSzPts val="1800"/>
              <a:buFont typeface="Times New Roman"/>
              <a:buChar char="-"/>
            </a:pPr>
            <a:r>
              <a:rPr lang="pt-BR">
                <a:solidFill>
                  <a:schemeClr val="dk1"/>
                </a:solidFill>
                <a:latin typeface="Times New Roman"/>
                <a:ea typeface="Times New Roman"/>
                <a:cs typeface="Times New Roman"/>
                <a:sym typeface="Times New Roman"/>
              </a:rPr>
              <a:t>“Controle de fluxo da camada de transporte”: Consiste em se ter uma parte explícita do protocolo de transporte lidando com a questão de quantos TPDUs devem ser enviados a cada instante. Um esquema de janela deslizante pode ser usado.</a:t>
            </a:r>
            <a:endParaRPr>
              <a:solidFill>
                <a:schemeClr val="dk1"/>
              </a:solidFill>
              <a:latin typeface="Times New Roman"/>
              <a:ea typeface="Times New Roman"/>
              <a:cs typeface="Times New Roman"/>
              <a:sym typeface="Times New Roman"/>
            </a:endParaRPr>
          </a:p>
          <a:p>
            <a:pPr indent="-342900" lvl="0" marL="457200" rtl="0" algn="l">
              <a:spcBef>
                <a:spcPts val="0"/>
              </a:spcBef>
              <a:spcAft>
                <a:spcPts val="0"/>
              </a:spcAft>
              <a:buClr>
                <a:schemeClr val="dk1"/>
              </a:buClr>
              <a:buSzPts val="1800"/>
              <a:buFont typeface="Times New Roman"/>
              <a:buChar char="-"/>
            </a:pPr>
            <a:r>
              <a:rPr lang="pt-BR">
                <a:solidFill>
                  <a:schemeClr val="dk1"/>
                </a:solidFill>
                <a:latin typeface="Times New Roman"/>
                <a:ea typeface="Times New Roman"/>
                <a:cs typeface="Times New Roman"/>
                <a:sym typeface="Times New Roman"/>
              </a:rPr>
              <a:t>“Ressincronização depois de N-RESET”: Permite a cada extremidade saber qual dos TPDUs enviados chegaram ao destino. Existe nas classes 1, 3 e 4.</a:t>
            </a:r>
            <a:endParaRPr>
              <a:solidFill>
                <a:schemeClr val="dk1"/>
              </a:solidFill>
              <a:latin typeface="Times New Roman"/>
              <a:ea typeface="Times New Roman"/>
              <a:cs typeface="Times New Roman"/>
              <a:sym typeface="Times New Roman"/>
            </a:endParaRPr>
          </a:p>
          <a:p>
            <a:pPr indent="0" lvl="0" marL="914400" rtl="0" algn="l">
              <a:spcBef>
                <a:spcPts val="1200"/>
              </a:spcBef>
              <a:spcAft>
                <a:spcPts val="1200"/>
              </a:spcAft>
              <a:buNone/>
            </a:pPr>
            <a:r>
              <a:t/>
            </a:r>
            <a:endParaRPr>
              <a:solidFill>
                <a:schemeClr val="dk1"/>
              </a:solidFill>
              <a:latin typeface="Times New Roman"/>
              <a:ea typeface="Times New Roman"/>
              <a:cs typeface="Times New Roman"/>
              <a:sym typeface="Times New Roman"/>
            </a:endParaRPr>
          </a:p>
        </p:txBody>
      </p:sp>
      <p:sp>
        <p:nvSpPr>
          <p:cNvPr id="224" name="Google Shape;224;p37"/>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r>
              <a:rPr lang="pt-BR"/>
              <a:t>24</a:t>
            </a:r>
            <a:endParaRPr/>
          </a:p>
        </p:txBody>
      </p:sp>
    </p:spTree>
  </p:cSld>
  <p:clrMapOvr>
    <a:masterClrMapping/>
  </p:clrMapOvr>
</p:sld>
</file>

<file path=ppt/slides/slide2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8" name="Shape 228"/>
        <p:cNvGrpSpPr/>
        <p:nvPr/>
      </p:nvGrpSpPr>
      <p:grpSpPr>
        <a:xfrm>
          <a:off x="0" y="0"/>
          <a:ext cx="0" cy="0"/>
          <a:chOff x="0" y="0"/>
          <a:chExt cx="0" cy="0"/>
        </a:xfrm>
      </p:grpSpPr>
      <p:sp>
        <p:nvSpPr>
          <p:cNvPr id="229" name="Google Shape;229;p38"/>
          <p:cNvSpPr txBox="1"/>
          <p:nvPr>
            <p:ph type="title"/>
          </p:nvPr>
        </p:nvSpPr>
        <p:spPr>
          <a:xfrm>
            <a:off x="311700" y="445025"/>
            <a:ext cx="8520600" cy="572700"/>
          </a:xfrm>
          <a:prstGeom prst="rect">
            <a:avLst/>
          </a:prstGeom>
        </p:spPr>
        <p:txBody>
          <a:bodyPr anchorCtr="0" anchor="t" bIns="91425" lIns="91425" spcFirstLastPara="1" rIns="91425" wrap="square" tIns="91425">
            <a:noAutofit/>
          </a:bodyPr>
          <a:lstStyle/>
          <a:p>
            <a:pPr indent="-387350" lvl="1" marL="914400" rtl="0" algn="l">
              <a:lnSpc>
                <a:spcPct val="115000"/>
              </a:lnSpc>
              <a:spcBef>
                <a:spcPts val="0"/>
              </a:spcBef>
              <a:spcAft>
                <a:spcPts val="0"/>
              </a:spcAft>
              <a:buClr>
                <a:schemeClr val="dk1"/>
              </a:buClr>
              <a:buSzPts val="2500"/>
              <a:buFont typeface="Times New Roman"/>
              <a:buChar char="○"/>
            </a:pPr>
            <a:r>
              <a:rPr lang="pt-BR" sz="2500">
                <a:latin typeface="Times New Roman"/>
                <a:ea typeface="Times New Roman"/>
                <a:cs typeface="Times New Roman"/>
                <a:sym typeface="Times New Roman"/>
              </a:rPr>
              <a:t>6.1.5 - Elementos de protocolos de transporte</a:t>
            </a:r>
            <a:endParaRPr sz="2500">
              <a:latin typeface="Times New Roman"/>
              <a:ea typeface="Times New Roman"/>
              <a:cs typeface="Times New Roman"/>
              <a:sym typeface="Times New Roman"/>
            </a:endParaRPr>
          </a:p>
          <a:p>
            <a:pPr indent="0" lvl="0" marL="0" rtl="0" algn="l">
              <a:spcBef>
                <a:spcPts val="1200"/>
              </a:spcBef>
              <a:spcAft>
                <a:spcPts val="0"/>
              </a:spcAft>
              <a:buNone/>
            </a:pPr>
            <a:r>
              <a:t/>
            </a:r>
            <a:endParaRPr sz="2500"/>
          </a:p>
        </p:txBody>
      </p:sp>
      <p:sp>
        <p:nvSpPr>
          <p:cNvPr id="230" name="Google Shape;230;p38"/>
          <p:cNvSpPr txBox="1"/>
          <p:nvPr>
            <p:ph idx="1" type="body"/>
          </p:nvPr>
        </p:nvSpPr>
        <p:spPr>
          <a:xfrm>
            <a:off x="311700" y="1152475"/>
            <a:ext cx="8520600" cy="3805200"/>
          </a:xfrm>
          <a:prstGeom prst="rect">
            <a:avLst/>
          </a:prstGeom>
        </p:spPr>
        <p:txBody>
          <a:bodyPr anchorCtr="0" anchor="t" bIns="91425" lIns="91425" spcFirstLastPara="1" rIns="91425" wrap="square" tIns="91425">
            <a:normAutofit/>
          </a:bodyPr>
          <a:lstStyle/>
          <a:p>
            <a:pPr indent="-342900" lvl="0" marL="457200" rtl="0" algn="l">
              <a:spcBef>
                <a:spcPts val="0"/>
              </a:spcBef>
              <a:spcAft>
                <a:spcPts val="0"/>
              </a:spcAft>
              <a:buClr>
                <a:schemeClr val="dk1"/>
              </a:buClr>
              <a:buSzPts val="1800"/>
              <a:buFont typeface="Times New Roman"/>
              <a:buChar char="-"/>
            </a:pPr>
            <a:r>
              <a:rPr lang="pt-BR">
                <a:solidFill>
                  <a:schemeClr val="dk1"/>
                </a:solidFill>
                <a:latin typeface="Times New Roman"/>
                <a:ea typeface="Times New Roman"/>
                <a:cs typeface="Times New Roman"/>
                <a:sym typeface="Times New Roman"/>
              </a:rPr>
              <a:t>“Retransmissão após tempo limite”: Só é necessário para Classe 4 pois é a única classe em que a perda de pacotes é comum o suficiente para necessitar de controle de erro na camada de transporte. A figura abaixo demonstra parte da lista de elementos de protocolo e as classes em que estão presentes.</a:t>
            </a:r>
            <a:endParaRPr>
              <a:solidFill>
                <a:schemeClr val="dk1"/>
              </a:solidFill>
              <a:latin typeface="Times New Roman"/>
              <a:ea typeface="Times New Roman"/>
              <a:cs typeface="Times New Roman"/>
              <a:sym typeface="Times New Roman"/>
            </a:endParaRPr>
          </a:p>
          <a:p>
            <a:pPr indent="0" lvl="0" marL="457200" rtl="0" algn="l">
              <a:spcBef>
                <a:spcPts val="1200"/>
              </a:spcBef>
              <a:spcAft>
                <a:spcPts val="1200"/>
              </a:spcAft>
              <a:buNone/>
            </a:pPr>
            <a:r>
              <a:t/>
            </a:r>
            <a:endParaRPr>
              <a:solidFill>
                <a:schemeClr val="dk1"/>
              </a:solidFill>
              <a:latin typeface="Times New Roman"/>
              <a:ea typeface="Times New Roman"/>
              <a:cs typeface="Times New Roman"/>
              <a:sym typeface="Times New Roman"/>
            </a:endParaRPr>
          </a:p>
        </p:txBody>
      </p:sp>
      <p:pic>
        <p:nvPicPr>
          <p:cNvPr id="231" name="Google Shape;231;p38"/>
          <p:cNvPicPr preferRelativeResize="0"/>
          <p:nvPr/>
        </p:nvPicPr>
        <p:blipFill>
          <a:blip r:embed="rId3">
            <a:alphaModFix/>
          </a:blip>
          <a:stretch>
            <a:fillRect/>
          </a:stretch>
        </p:blipFill>
        <p:spPr>
          <a:xfrm>
            <a:off x="1387675" y="2571750"/>
            <a:ext cx="6096000" cy="2254800"/>
          </a:xfrm>
          <a:prstGeom prst="rect">
            <a:avLst/>
          </a:prstGeom>
          <a:noFill/>
          <a:ln>
            <a:noFill/>
          </a:ln>
        </p:spPr>
      </p:pic>
      <p:sp>
        <p:nvSpPr>
          <p:cNvPr id="232" name="Google Shape;232;p38"/>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r>
              <a:rPr lang="pt-BR"/>
              <a:t>25</a:t>
            </a:r>
            <a:endParaRPr/>
          </a:p>
        </p:txBody>
      </p:sp>
    </p:spTree>
  </p:cSld>
  <p:clrMapOvr>
    <a:masterClrMapping/>
  </p:clrMapOvr>
</p:sld>
</file>

<file path=ppt/slides/slide2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6" name="Shape 236"/>
        <p:cNvGrpSpPr/>
        <p:nvPr/>
      </p:nvGrpSpPr>
      <p:grpSpPr>
        <a:xfrm>
          <a:off x="0" y="0"/>
          <a:ext cx="0" cy="0"/>
          <a:chOff x="0" y="0"/>
          <a:chExt cx="0" cy="0"/>
        </a:xfrm>
      </p:grpSpPr>
      <p:sp>
        <p:nvSpPr>
          <p:cNvPr id="237" name="Google Shape;237;p39"/>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p>
            <a:pPr indent="-387350" lvl="0" marL="457200" rtl="0" algn="ctr">
              <a:lnSpc>
                <a:spcPct val="115000"/>
              </a:lnSpc>
              <a:spcBef>
                <a:spcPts val="0"/>
              </a:spcBef>
              <a:spcAft>
                <a:spcPts val="0"/>
              </a:spcAft>
              <a:buSzPts val="2500"/>
              <a:buFont typeface="Times New Roman"/>
              <a:buChar char="●"/>
            </a:pPr>
            <a:r>
              <a:rPr lang="pt-BR" sz="2500">
                <a:latin typeface="Times New Roman"/>
                <a:ea typeface="Times New Roman"/>
                <a:cs typeface="Times New Roman"/>
                <a:sym typeface="Times New Roman"/>
              </a:rPr>
              <a:t>6.2 - Gerenciamento de conexão</a:t>
            </a:r>
            <a:endParaRPr sz="2500">
              <a:latin typeface="Times New Roman"/>
              <a:ea typeface="Times New Roman"/>
              <a:cs typeface="Times New Roman"/>
              <a:sym typeface="Times New Roman"/>
            </a:endParaRPr>
          </a:p>
        </p:txBody>
      </p:sp>
      <p:sp>
        <p:nvSpPr>
          <p:cNvPr id="238" name="Google Shape;238;p39"/>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342900" lvl="0" marL="457200" rtl="0" algn="l">
              <a:spcBef>
                <a:spcPts val="0"/>
              </a:spcBef>
              <a:spcAft>
                <a:spcPts val="0"/>
              </a:spcAft>
              <a:buClr>
                <a:schemeClr val="dk1"/>
              </a:buClr>
              <a:buSzPts val="1800"/>
              <a:buFont typeface="Times New Roman"/>
              <a:buChar char="●"/>
            </a:pPr>
            <a:r>
              <a:rPr lang="pt-BR">
                <a:solidFill>
                  <a:schemeClr val="dk1"/>
                </a:solidFill>
                <a:latin typeface="Times New Roman"/>
                <a:ea typeface="Times New Roman"/>
                <a:cs typeface="Times New Roman"/>
                <a:sym typeface="Times New Roman"/>
              </a:rPr>
              <a:t>De vários modos, os protocolos de transporte se assemelham com os protocolos da camada de enlace. Um exemplo disso são os protocolos de janelas deslizantes que podem ser usados nas duas camadas (transporte e enlace).</a:t>
            </a:r>
            <a:endParaRPr>
              <a:solidFill>
                <a:schemeClr val="dk1"/>
              </a:solidFill>
              <a:latin typeface="Times New Roman"/>
              <a:ea typeface="Times New Roman"/>
              <a:cs typeface="Times New Roman"/>
              <a:sym typeface="Times New Roman"/>
            </a:endParaRPr>
          </a:p>
          <a:p>
            <a:pPr indent="-342900" lvl="0" marL="457200" rtl="0" algn="l">
              <a:spcBef>
                <a:spcPts val="0"/>
              </a:spcBef>
              <a:spcAft>
                <a:spcPts val="0"/>
              </a:spcAft>
              <a:buClr>
                <a:schemeClr val="dk1"/>
              </a:buClr>
              <a:buSzPts val="1800"/>
              <a:buFont typeface="Times New Roman"/>
              <a:buChar char="●"/>
            </a:pPr>
            <a:r>
              <a:rPr lang="pt-BR">
                <a:solidFill>
                  <a:schemeClr val="dk1"/>
                </a:solidFill>
                <a:latin typeface="Times New Roman"/>
                <a:ea typeface="Times New Roman"/>
                <a:cs typeface="Times New Roman"/>
                <a:sym typeface="Times New Roman"/>
              </a:rPr>
              <a:t>Uma diferença fundamental está em como as conexões são gerenciadas pois na </a:t>
            </a:r>
            <a:r>
              <a:rPr lang="pt-BR">
                <a:solidFill>
                  <a:schemeClr val="dk1"/>
                </a:solidFill>
                <a:latin typeface="Times New Roman"/>
                <a:ea typeface="Times New Roman"/>
                <a:cs typeface="Times New Roman"/>
                <a:sym typeface="Times New Roman"/>
              </a:rPr>
              <a:t>c</a:t>
            </a:r>
            <a:r>
              <a:rPr lang="pt-BR">
                <a:solidFill>
                  <a:schemeClr val="dk1"/>
                </a:solidFill>
                <a:latin typeface="Times New Roman"/>
                <a:ea typeface="Times New Roman"/>
                <a:cs typeface="Times New Roman"/>
                <a:sym typeface="Times New Roman"/>
              </a:rPr>
              <a:t>amada de </a:t>
            </a:r>
            <a:r>
              <a:rPr lang="pt-BR">
                <a:solidFill>
                  <a:schemeClr val="dk1"/>
                </a:solidFill>
                <a:latin typeface="Times New Roman"/>
                <a:ea typeface="Times New Roman"/>
                <a:cs typeface="Times New Roman"/>
                <a:sym typeface="Times New Roman"/>
              </a:rPr>
              <a:t>e</a:t>
            </a:r>
            <a:r>
              <a:rPr lang="pt-BR">
                <a:solidFill>
                  <a:schemeClr val="dk1"/>
                </a:solidFill>
                <a:latin typeface="Times New Roman"/>
                <a:ea typeface="Times New Roman"/>
                <a:cs typeface="Times New Roman"/>
                <a:sym typeface="Times New Roman"/>
              </a:rPr>
              <a:t>nlace, tem-se um pequeno gerenciamento de conexão em que as linhas entre os IMPs estão sempre prontas para uso. Já na </a:t>
            </a:r>
            <a:r>
              <a:rPr lang="pt-BR">
                <a:solidFill>
                  <a:schemeClr val="dk1"/>
                </a:solidFill>
                <a:latin typeface="Times New Roman"/>
                <a:ea typeface="Times New Roman"/>
                <a:cs typeface="Times New Roman"/>
                <a:sym typeface="Times New Roman"/>
              </a:rPr>
              <a:t>c</a:t>
            </a:r>
            <a:r>
              <a:rPr lang="pt-BR">
                <a:solidFill>
                  <a:schemeClr val="dk1"/>
                </a:solidFill>
                <a:latin typeface="Times New Roman"/>
                <a:ea typeface="Times New Roman"/>
                <a:cs typeface="Times New Roman"/>
                <a:sym typeface="Times New Roman"/>
              </a:rPr>
              <a:t>amada de </a:t>
            </a:r>
            <a:r>
              <a:rPr lang="pt-BR">
                <a:solidFill>
                  <a:schemeClr val="dk1"/>
                </a:solidFill>
                <a:latin typeface="Times New Roman"/>
                <a:ea typeface="Times New Roman"/>
                <a:cs typeface="Times New Roman"/>
                <a:sym typeface="Times New Roman"/>
              </a:rPr>
              <a:t>t</a:t>
            </a:r>
            <a:r>
              <a:rPr lang="pt-BR">
                <a:solidFill>
                  <a:schemeClr val="dk1"/>
                </a:solidFill>
                <a:latin typeface="Times New Roman"/>
                <a:ea typeface="Times New Roman"/>
                <a:cs typeface="Times New Roman"/>
                <a:sym typeface="Times New Roman"/>
              </a:rPr>
              <a:t>ransporte, o estabelecimento, a liberação e o gerenciamento das conexões são bem mais complexos. Nesta parte do trabalho, será discutido algumas questões que envolvem o gerenciamento de conexões na camada de transporte bem como os protocolos especiais que são utilizados.</a:t>
            </a:r>
            <a:endParaRPr>
              <a:solidFill>
                <a:schemeClr val="dk1"/>
              </a:solidFill>
              <a:latin typeface="Times New Roman"/>
              <a:ea typeface="Times New Roman"/>
              <a:cs typeface="Times New Roman"/>
              <a:sym typeface="Times New Roman"/>
            </a:endParaRPr>
          </a:p>
        </p:txBody>
      </p:sp>
      <p:sp>
        <p:nvSpPr>
          <p:cNvPr id="239" name="Google Shape;239;p39"/>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r>
              <a:rPr lang="pt-BR"/>
              <a:t>26</a:t>
            </a:r>
            <a:endParaRPr/>
          </a:p>
        </p:txBody>
      </p:sp>
    </p:spTree>
  </p:cSld>
  <p:clrMapOvr>
    <a:masterClrMapping/>
  </p:clrMapOvr>
</p:sld>
</file>

<file path=ppt/slides/slide2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3" name="Shape 243"/>
        <p:cNvGrpSpPr/>
        <p:nvPr/>
      </p:nvGrpSpPr>
      <p:grpSpPr>
        <a:xfrm>
          <a:off x="0" y="0"/>
          <a:ext cx="0" cy="0"/>
          <a:chOff x="0" y="0"/>
          <a:chExt cx="0" cy="0"/>
        </a:xfrm>
      </p:grpSpPr>
      <p:sp>
        <p:nvSpPr>
          <p:cNvPr id="244" name="Google Shape;244;p40"/>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p>
            <a:pPr indent="-387350" lvl="1" marL="914400" rtl="0" algn="l">
              <a:lnSpc>
                <a:spcPct val="115000"/>
              </a:lnSpc>
              <a:spcBef>
                <a:spcPts val="0"/>
              </a:spcBef>
              <a:spcAft>
                <a:spcPts val="0"/>
              </a:spcAft>
              <a:buClr>
                <a:schemeClr val="dk1"/>
              </a:buClr>
              <a:buSzPts val="2500"/>
              <a:buFont typeface="Times New Roman"/>
              <a:buChar char="○"/>
            </a:pPr>
            <a:r>
              <a:rPr lang="pt-BR" sz="2500">
                <a:latin typeface="Times New Roman"/>
                <a:ea typeface="Times New Roman"/>
                <a:cs typeface="Times New Roman"/>
                <a:sym typeface="Times New Roman"/>
              </a:rPr>
              <a:t>6.2.1 - Endereçamento</a:t>
            </a:r>
            <a:endParaRPr sz="2500"/>
          </a:p>
        </p:txBody>
      </p:sp>
      <p:sp>
        <p:nvSpPr>
          <p:cNvPr id="245" name="Google Shape;245;p40"/>
          <p:cNvSpPr txBox="1"/>
          <p:nvPr>
            <p:ph idx="1" type="body"/>
          </p:nvPr>
        </p:nvSpPr>
        <p:spPr>
          <a:xfrm>
            <a:off x="311700" y="1152475"/>
            <a:ext cx="8520600" cy="3817500"/>
          </a:xfrm>
          <a:prstGeom prst="rect">
            <a:avLst/>
          </a:prstGeom>
        </p:spPr>
        <p:txBody>
          <a:bodyPr anchorCtr="0" anchor="t" bIns="91425" lIns="91425" spcFirstLastPara="1" rIns="91425" wrap="square" tIns="91425">
            <a:normAutofit lnSpcReduction="10000"/>
          </a:bodyPr>
          <a:lstStyle/>
          <a:p>
            <a:pPr indent="-342900" lvl="0" marL="457200" rtl="0" algn="l">
              <a:spcBef>
                <a:spcPts val="0"/>
              </a:spcBef>
              <a:spcAft>
                <a:spcPts val="0"/>
              </a:spcAft>
              <a:buClr>
                <a:schemeClr val="dk1"/>
              </a:buClr>
              <a:buSzPts val="1800"/>
              <a:buFont typeface="Times New Roman"/>
              <a:buChar char="●"/>
            </a:pPr>
            <a:r>
              <a:rPr lang="pt-BR">
                <a:solidFill>
                  <a:schemeClr val="dk1"/>
                </a:solidFill>
                <a:latin typeface="Times New Roman"/>
                <a:ea typeface="Times New Roman"/>
                <a:cs typeface="Times New Roman"/>
                <a:sym typeface="Times New Roman"/>
              </a:rPr>
              <a:t>Quando um usuário de transporte quer estabelecer uma conexão com outro, ele deve especificar o usuário remoto para se conectar. O método geralmente usado é o de definir acessos de pontos de serviços de transporte (TSAPs) a quais processos pode ser ligar e esperar pelas requisições de conexões chegarem.</a:t>
            </a:r>
            <a:endParaRPr>
              <a:solidFill>
                <a:schemeClr val="dk1"/>
              </a:solidFill>
              <a:latin typeface="Times New Roman"/>
              <a:ea typeface="Times New Roman"/>
              <a:cs typeface="Times New Roman"/>
              <a:sym typeface="Times New Roman"/>
            </a:endParaRPr>
          </a:p>
          <a:p>
            <a:pPr indent="-342900" lvl="0" marL="457200" rtl="0" algn="l">
              <a:spcBef>
                <a:spcPts val="0"/>
              </a:spcBef>
              <a:spcAft>
                <a:spcPts val="0"/>
              </a:spcAft>
              <a:buClr>
                <a:schemeClr val="dk1"/>
              </a:buClr>
              <a:buSzPts val="1800"/>
              <a:buFont typeface="Times New Roman"/>
              <a:buChar char="●"/>
            </a:pPr>
            <a:r>
              <a:rPr lang="pt-BR">
                <a:solidFill>
                  <a:schemeClr val="dk1"/>
                </a:solidFill>
                <a:latin typeface="Times New Roman"/>
                <a:ea typeface="Times New Roman"/>
                <a:cs typeface="Times New Roman"/>
                <a:sym typeface="Times New Roman"/>
              </a:rPr>
              <a:t>Conexões de transporte vão de TSAP para TSAP enquanto conexões de rede vão de NSAP para NSAP (</a:t>
            </a:r>
            <a:r>
              <a:rPr lang="pt-BR">
                <a:solidFill>
                  <a:schemeClr val="dk1"/>
                </a:solidFill>
                <a:latin typeface="Times New Roman"/>
                <a:ea typeface="Times New Roman"/>
                <a:cs typeface="Times New Roman"/>
                <a:sym typeface="Times New Roman"/>
              </a:rPr>
              <a:t>acessos de pontos de serviços de rede).</a:t>
            </a:r>
            <a:endParaRPr>
              <a:solidFill>
                <a:schemeClr val="dk1"/>
              </a:solidFill>
              <a:latin typeface="Times New Roman"/>
              <a:ea typeface="Times New Roman"/>
              <a:cs typeface="Times New Roman"/>
              <a:sym typeface="Times New Roman"/>
            </a:endParaRPr>
          </a:p>
          <a:p>
            <a:pPr indent="-342900" lvl="0" marL="457200" rtl="0" algn="l">
              <a:spcBef>
                <a:spcPts val="0"/>
              </a:spcBef>
              <a:spcAft>
                <a:spcPts val="0"/>
              </a:spcAft>
              <a:buClr>
                <a:schemeClr val="dk1"/>
              </a:buClr>
              <a:buSzPts val="1800"/>
              <a:buFont typeface="Times New Roman"/>
              <a:buChar char="●"/>
            </a:pPr>
            <a:r>
              <a:rPr lang="pt-BR">
                <a:solidFill>
                  <a:schemeClr val="dk1"/>
                </a:solidFill>
                <a:latin typeface="Times New Roman"/>
                <a:ea typeface="Times New Roman"/>
                <a:cs typeface="Times New Roman"/>
                <a:sym typeface="Times New Roman"/>
              </a:rPr>
              <a:t>Se existe muitos processos de servidor que são raramente usados, não é interessante ter todos eles ativos e escutando um endereço TSAP.</a:t>
            </a:r>
            <a:endParaRPr>
              <a:solidFill>
                <a:schemeClr val="dk1"/>
              </a:solidFill>
              <a:latin typeface="Times New Roman"/>
              <a:ea typeface="Times New Roman"/>
              <a:cs typeface="Times New Roman"/>
              <a:sym typeface="Times New Roman"/>
            </a:endParaRPr>
          </a:p>
          <a:p>
            <a:pPr indent="-342900" lvl="0" marL="457200" rtl="0" algn="l">
              <a:spcBef>
                <a:spcPts val="0"/>
              </a:spcBef>
              <a:spcAft>
                <a:spcPts val="0"/>
              </a:spcAft>
              <a:buClr>
                <a:schemeClr val="dk1"/>
              </a:buClr>
              <a:buSzPts val="1800"/>
              <a:buFont typeface="Times New Roman"/>
              <a:buChar char="●"/>
            </a:pPr>
            <a:r>
              <a:rPr lang="pt-BR">
                <a:solidFill>
                  <a:schemeClr val="dk1"/>
                </a:solidFill>
                <a:latin typeface="Times New Roman"/>
                <a:ea typeface="Times New Roman"/>
                <a:cs typeface="Times New Roman"/>
                <a:sym typeface="Times New Roman"/>
              </a:rPr>
              <a:t>Uma outra abordagem é conhecida como “Protocolo de conexão inicial” da ARPANET. Aqui, cada máquina que deseja oferecer serviço a um usuário remoto possui um processo de servidor especial pelo qual todos os serviços devem ser requeridos.</a:t>
            </a:r>
            <a:endParaRPr>
              <a:solidFill>
                <a:schemeClr val="dk1"/>
              </a:solidFill>
              <a:latin typeface="Times New Roman"/>
              <a:ea typeface="Times New Roman"/>
              <a:cs typeface="Times New Roman"/>
              <a:sym typeface="Times New Roman"/>
            </a:endParaRPr>
          </a:p>
        </p:txBody>
      </p:sp>
      <p:sp>
        <p:nvSpPr>
          <p:cNvPr id="246" name="Google Shape;246;p40"/>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r>
              <a:rPr lang="pt-BR"/>
              <a:t>27</a:t>
            </a:r>
            <a:endParaRPr/>
          </a:p>
        </p:txBody>
      </p:sp>
    </p:spTree>
  </p:cSld>
  <p:clrMapOvr>
    <a:masterClrMapping/>
  </p:clrMapOvr>
</p:sld>
</file>

<file path=ppt/slides/slide2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50" name="Shape 250"/>
        <p:cNvGrpSpPr/>
        <p:nvPr/>
      </p:nvGrpSpPr>
      <p:grpSpPr>
        <a:xfrm>
          <a:off x="0" y="0"/>
          <a:ext cx="0" cy="0"/>
          <a:chOff x="0" y="0"/>
          <a:chExt cx="0" cy="0"/>
        </a:xfrm>
      </p:grpSpPr>
      <p:sp>
        <p:nvSpPr>
          <p:cNvPr id="251" name="Google Shape;251;p41"/>
          <p:cNvSpPr txBox="1"/>
          <p:nvPr>
            <p:ph type="title"/>
          </p:nvPr>
        </p:nvSpPr>
        <p:spPr>
          <a:xfrm>
            <a:off x="311700" y="445025"/>
            <a:ext cx="8520600" cy="572700"/>
          </a:xfrm>
          <a:prstGeom prst="rect">
            <a:avLst/>
          </a:prstGeom>
        </p:spPr>
        <p:txBody>
          <a:bodyPr anchorCtr="0" anchor="t" bIns="91425" lIns="91425" spcFirstLastPara="1" rIns="91425" wrap="square" tIns="91425">
            <a:noAutofit/>
          </a:bodyPr>
          <a:lstStyle/>
          <a:p>
            <a:pPr indent="-387350" lvl="1" marL="914400" rtl="0" algn="l">
              <a:lnSpc>
                <a:spcPct val="115000"/>
              </a:lnSpc>
              <a:spcBef>
                <a:spcPts val="0"/>
              </a:spcBef>
              <a:spcAft>
                <a:spcPts val="0"/>
              </a:spcAft>
              <a:buClr>
                <a:schemeClr val="dk1"/>
              </a:buClr>
              <a:buSzPts val="2500"/>
              <a:buFont typeface="Times New Roman"/>
              <a:buChar char="○"/>
            </a:pPr>
            <a:r>
              <a:rPr lang="pt-BR" sz="2500">
                <a:latin typeface="Times New Roman"/>
                <a:ea typeface="Times New Roman"/>
                <a:cs typeface="Times New Roman"/>
                <a:sym typeface="Times New Roman"/>
              </a:rPr>
              <a:t>6.2.1 - Endereçamento</a:t>
            </a:r>
            <a:endParaRPr sz="2500"/>
          </a:p>
          <a:p>
            <a:pPr indent="0" lvl="0" marL="0" rtl="0" algn="l">
              <a:spcBef>
                <a:spcPts val="1200"/>
              </a:spcBef>
              <a:spcAft>
                <a:spcPts val="0"/>
              </a:spcAft>
              <a:buNone/>
            </a:pPr>
            <a:r>
              <a:t/>
            </a:r>
            <a:endParaRPr sz="2500"/>
          </a:p>
        </p:txBody>
      </p:sp>
      <p:sp>
        <p:nvSpPr>
          <p:cNvPr id="252" name="Google Shape;252;p41"/>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342900" lvl="0" marL="457200" rtl="0" algn="l">
              <a:spcBef>
                <a:spcPts val="0"/>
              </a:spcBef>
              <a:spcAft>
                <a:spcPts val="0"/>
              </a:spcAft>
              <a:buClr>
                <a:schemeClr val="dk1"/>
              </a:buClr>
              <a:buSzPts val="1800"/>
              <a:buFont typeface="Times New Roman"/>
              <a:buChar char="●"/>
            </a:pPr>
            <a:r>
              <a:rPr lang="pt-BR">
                <a:solidFill>
                  <a:schemeClr val="dk1"/>
                </a:solidFill>
                <a:latin typeface="Times New Roman"/>
                <a:ea typeface="Times New Roman"/>
                <a:cs typeface="Times New Roman"/>
                <a:sym typeface="Times New Roman"/>
              </a:rPr>
              <a:t>Essa abordagem da ARPANET funciona bem para servidores que podem ser criados quando necessário, porém existem várias situações em que serviços não existem independente do servidor do processo como por exemplo um servidor de arquivo.</a:t>
            </a:r>
            <a:endParaRPr>
              <a:solidFill>
                <a:schemeClr val="dk1"/>
              </a:solidFill>
              <a:latin typeface="Times New Roman"/>
              <a:ea typeface="Times New Roman"/>
              <a:cs typeface="Times New Roman"/>
              <a:sym typeface="Times New Roman"/>
            </a:endParaRPr>
          </a:p>
          <a:p>
            <a:pPr indent="-342900" lvl="0" marL="457200" rtl="0" algn="l">
              <a:spcBef>
                <a:spcPts val="0"/>
              </a:spcBef>
              <a:spcAft>
                <a:spcPts val="0"/>
              </a:spcAft>
              <a:buClr>
                <a:schemeClr val="dk1"/>
              </a:buClr>
              <a:buSzPts val="1800"/>
              <a:buFont typeface="Times New Roman"/>
              <a:buChar char="●"/>
            </a:pPr>
            <a:r>
              <a:rPr lang="pt-BR">
                <a:solidFill>
                  <a:schemeClr val="dk1"/>
                </a:solidFill>
                <a:latin typeface="Times New Roman"/>
                <a:ea typeface="Times New Roman"/>
                <a:cs typeface="Times New Roman"/>
                <a:sym typeface="Times New Roman"/>
              </a:rPr>
              <a:t>Para lidar com essa situação, tem-se uma opção alternativa em que existem processos especiais chamados de “servidor nome” ou “servidor diretório”. Para encontrar o endereço TSAP correspondente ao servidor nome, é feito uma conexão do usuário com o servidor nome. O usuário envia uma mensagem especificando o nome do serviço e o servidor nome envia o endereço TSAP. Finalmente, o usuário libera sua conexão com o servidor nome e estabelece outra com o serviço de desejo.</a:t>
            </a:r>
            <a:endParaRPr>
              <a:solidFill>
                <a:schemeClr val="dk1"/>
              </a:solidFill>
              <a:latin typeface="Times New Roman"/>
              <a:ea typeface="Times New Roman"/>
              <a:cs typeface="Times New Roman"/>
              <a:sym typeface="Times New Roman"/>
            </a:endParaRPr>
          </a:p>
        </p:txBody>
      </p:sp>
      <p:sp>
        <p:nvSpPr>
          <p:cNvPr id="253" name="Google Shape;253;p41"/>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r>
              <a:rPr lang="pt-BR"/>
              <a:t>28</a:t>
            </a:r>
            <a:endParaRPr/>
          </a:p>
        </p:txBody>
      </p:sp>
    </p:spTree>
  </p:cSld>
  <p:clrMapOvr>
    <a:masterClrMapping/>
  </p:clrMapOvr>
</p:sld>
</file>

<file path=ppt/slides/slide3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57" name="Shape 257"/>
        <p:cNvGrpSpPr/>
        <p:nvPr/>
      </p:nvGrpSpPr>
      <p:grpSpPr>
        <a:xfrm>
          <a:off x="0" y="0"/>
          <a:ext cx="0" cy="0"/>
          <a:chOff x="0" y="0"/>
          <a:chExt cx="0" cy="0"/>
        </a:xfrm>
      </p:grpSpPr>
      <p:sp>
        <p:nvSpPr>
          <p:cNvPr id="258" name="Google Shape;258;p42"/>
          <p:cNvSpPr txBox="1"/>
          <p:nvPr>
            <p:ph type="title"/>
          </p:nvPr>
        </p:nvSpPr>
        <p:spPr>
          <a:xfrm>
            <a:off x="311700" y="445025"/>
            <a:ext cx="8520600" cy="572700"/>
          </a:xfrm>
          <a:prstGeom prst="rect">
            <a:avLst/>
          </a:prstGeom>
        </p:spPr>
        <p:txBody>
          <a:bodyPr anchorCtr="0" anchor="t" bIns="91425" lIns="91425" spcFirstLastPara="1" rIns="91425" wrap="square" tIns="91425">
            <a:noAutofit/>
          </a:bodyPr>
          <a:lstStyle/>
          <a:p>
            <a:pPr indent="-387350" lvl="1" marL="914400" rtl="0" algn="l">
              <a:lnSpc>
                <a:spcPct val="115000"/>
              </a:lnSpc>
              <a:spcBef>
                <a:spcPts val="0"/>
              </a:spcBef>
              <a:spcAft>
                <a:spcPts val="0"/>
              </a:spcAft>
              <a:buClr>
                <a:schemeClr val="dk1"/>
              </a:buClr>
              <a:buSzPts val="2500"/>
              <a:buFont typeface="Times New Roman"/>
              <a:buChar char="○"/>
            </a:pPr>
            <a:r>
              <a:rPr lang="pt-BR" sz="2500">
                <a:latin typeface="Times New Roman"/>
                <a:ea typeface="Times New Roman"/>
                <a:cs typeface="Times New Roman"/>
                <a:sym typeface="Times New Roman"/>
              </a:rPr>
              <a:t>6.2.1 - Endereçamento</a:t>
            </a:r>
            <a:endParaRPr sz="2500"/>
          </a:p>
          <a:p>
            <a:pPr indent="0" lvl="0" marL="0" rtl="0" algn="l">
              <a:spcBef>
                <a:spcPts val="1200"/>
              </a:spcBef>
              <a:spcAft>
                <a:spcPts val="0"/>
              </a:spcAft>
              <a:buClr>
                <a:schemeClr val="dk1"/>
              </a:buClr>
              <a:buSzPts val="1100"/>
              <a:buFont typeface="Arial"/>
              <a:buNone/>
            </a:pPr>
            <a:r>
              <a:t/>
            </a:r>
            <a:endParaRPr sz="2500"/>
          </a:p>
          <a:p>
            <a:pPr indent="0" lvl="0" marL="0" rtl="0" algn="l">
              <a:spcBef>
                <a:spcPts val="0"/>
              </a:spcBef>
              <a:spcAft>
                <a:spcPts val="0"/>
              </a:spcAft>
              <a:buNone/>
            </a:pPr>
            <a:r>
              <a:t/>
            </a:r>
            <a:endParaRPr sz="2500"/>
          </a:p>
        </p:txBody>
      </p:sp>
      <p:sp>
        <p:nvSpPr>
          <p:cNvPr id="259" name="Google Shape;259;p42"/>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342900" lvl="0" marL="457200" rtl="0" algn="l">
              <a:spcBef>
                <a:spcPts val="0"/>
              </a:spcBef>
              <a:spcAft>
                <a:spcPts val="0"/>
              </a:spcAft>
              <a:buClr>
                <a:schemeClr val="dk1"/>
              </a:buClr>
              <a:buSzPts val="1800"/>
              <a:buFont typeface="Times New Roman"/>
              <a:buChar char="●"/>
            </a:pPr>
            <a:r>
              <a:rPr lang="pt-BR">
                <a:solidFill>
                  <a:schemeClr val="dk1"/>
                </a:solidFill>
                <a:latin typeface="Times New Roman"/>
                <a:ea typeface="Times New Roman"/>
                <a:cs typeface="Times New Roman"/>
                <a:sym typeface="Times New Roman"/>
              </a:rPr>
              <a:t>Outra questão interessante seria: Como a entidade de transporte sabe em qual máquina o TSAP está localizado? Isso depende da estrutura do endereço TSAP. Uma possível estrutura são as hierarquias de endereços em que o endereço é formado por </a:t>
            </a:r>
            <a:r>
              <a:rPr lang="pt-BR">
                <a:solidFill>
                  <a:schemeClr val="dk1"/>
                </a:solidFill>
                <a:latin typeface="Times New Roman"/>
                <a:ea typeface="Times New Roman"/>
                <a:cs typeface="Times New Roman"/>
                <a:sym typeface="Times New Roman"/>
              </a:rPr>
              <a:t>sequências</a:t>
            </a:r>
            <a:r>
              <a:rPr lang="pt-BR">
                <a:solidFill>
                  <a:schemeClr val="dk1"/>
                </a:solidFill>
                <a:latin typeface="Times New Roman"/>
                <a:ea typeface="Times New Roman"/>
                <a:cs typeface="Times New Roman"/>
                <a:sym typeface="Times New Roman"/>
              </a:rPr>
              <a:t> de campos usados disjuntos que forma o endereço final.</a:t>
            </a:r>
            <a:endParaRPr>
              <a:solidFill>
                <a:schemeClr val="dk1"/>
              </a:solidFill>
              <a:latin typeface="Times New Roman"/>
              <a:ea typeface="Times New Roman"/>
              <a:cs typeface="Times New Roman"/>
              <a:sym typeface="Times New Roman"/>
            </a:endParaRPr>
          </a:p>
          <a:p>
            <a:pPr indent="-342900" lvl="0" marL="457200" rtl="0" algn="l">
              <a:spcBef>
                <a:spcPts val="0"/>
              </a:spcBef>
              <a:spcAft>
                <a:spcPts val="0"/>
              </a:spcAft>
              <a:buClr>
                <a:schemeClr val="dk1"/>
              </a:buClr>
              <a:buSzPts val="1800"/>
              <a:buFont typeface="Times New Roman"/>
              <a:buChar char="-"/>
            </a:pPr>
            <a:r>
              <a:rPr lang="pt-BR">
                <a:solidFill>
                  <a:schemeClr val="dk1"/>
                </a:solidFill>
                <a:latin typeface="Times New Roman"/>
                <a:ea typeface="Times New Roman"/>
                <a:cs typeface="Times New Roman"/>
                <a:sym typeface="Times New Roman"/>
              </a:rPr>
              <a:t>Exemplo de endereço TSAP universal: &lt;galáxia,estrela,planeta,país,rede,host,porta&gt;</a:t>
            </a:r>
            <a:endParaRPr>
              <a:solidFill>
                <a:schemeClr val="dk1"/>
              </a:solidFill>
              <a:latin typeface="Times New Roman"/>
              <a:ea typeface="Times New Roman"/>
              <a:cs typeface="Times New Roman"/>
              <a:sym typeface="Times New Roman"/>
            </a:endParaRPr>
          </a:p>
          <a:p>
            <a:pPr indent="-342900" lvl="0" marL="457200" rtl="0" algn="l">
              <a:spcBef>
                <a:spcPts val="0"/>
              </a:spcBef>
              <a:spcAft>
                <a:spcPts val="0"/>
              </a:spcAft>
              <a:buClr>
                <a:schemeClr val="dk1"/>
              </a:buClr>
              <a:buSzPts val="1800"/>
              <a:buFont typeface="Times New Roman"/>
              <a:buChar char="●"/>
            </a:pPr>
            <a:r>
              <a:rPr lang="pt-BR">
                <a:solidFill>
                  <a:schemeClr val="dk1"/>
                </a:solidFill>
                <a:latin typeface="Times New Roman"/>
                <a:ea typeface="Times New Roman"/>
                <a:cs typeface="Times New Roman"/>
                <a:sym typeface="Times New Roman"/>
              </a:rPr>
              <a:t>Uma alternativa à forma </a:t>
            </a:r>
            <a:r>
              <a:rPr lang="pt-BR">
                <a:solidFill>
                  <a:schemeClr val="dk1"/>
                </a:solidFill>
                <a:latin typeface="Times New Roman"/>
                <a:ea typeface="Times New Roman"/>
                <a:cs typeface="Times New Roman"/>
                <a:sym typeface="Times New Roman"/>
              </a:rPr>
              <a:t>hierárquica</a:t>
            </a:r>
            <a:r>
              <a:rPr lang="pt-BR">
                <a:solidFill>
                  <a:schemeClr val="dk1"/>
                </a:solidFill>
                <a:latin typeface="Times New Roman"/>
                <a:ea typeface="Times New Roman"/>
                <a:cs typeface="Times New Roman"/>
                <a:sym typeface="Times New Roman"/>
              </a:rPr>
              <a:t>, é a chamada “espaço de endereço plano”, em que um segundo nível de mapeamento é necessário para localizar a </a:t>
            </a:r>
            <a:r>
              <a:rPr lang="pt-BR">
                <a:solidFill>
                  <a:schemeClr val="dk1"/>
                </a:solidFill>
                <a:latin typeface="Times New Roman"/>
                <a:ea typeface="Times New Roman"/>
                <a:cs typeface="Times New Roman"/>
                <a:sym typeface="Times New Roman"/>
              </a:rPr>
              <a:t>máquina</a:t>
            </a:r>
            <a:r>
              <a:rPr lang="pt-BR">
                <a:solidFill>
                  <a:schemeClr val="dk1"/>
                </a:solidFill>
                <a:latin typeface="Times New Roman"/>
                <a:ea typeface="Times New Roman"/>
                <a:cs typeface="Times New Roman"/>
                <a:sym typeface="Times New Roman"/>
              </a:rPr>
              <a:t> corretamente.</a:t>
            </a:r>
            <a:endParaRPr>
              <a:solidFill>
                <a:schemeClr val="dk1"/>
              </a:solidFill>
              <a:latin typeface="Times New Roman"/>
              <a:ea typeface="Times New Roman"/>
              <a:cs typeface="Times New Roman"/>
              <a:sym typeface="Times New Roman"/>
            </a:endParaRPr>
          </a:p>
        </p:txBody>
      </p:sp>
      <p:sp>
        <p:nvSpPr>
          <p:cNvPr id="260" name="Google Shape;260;p4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r>
              <a:rPr lang="pt-BR"/>
              <a:t>29</a:t>
            </a:r>
            <a:endParaRPr/>
          </a:p>
        </p:txBody>
      </p:sp>
    </p:spTree>
  </p:cSld>
  <p:clrMapOvr>
    <a:masterClrMapping/>
  </p:clrMapOvr>
</p:sld>
</file>

<file path=ppt/slides/slide3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64" name="Shape 264"/>
        <p:cNvGrpSpPr/>
        <p:nvPr/>
      </p:nvGrpSpPr>
      <p:grpSpPr>
        <a:xfrm>
          <a:off x="0" y="0"/>
          <a:ext cx="0" cy="0"/>
          <a:chOff x="0" y="0"/>
          <a:chExt cx="0" cy="0"/>
        </a:xfrm>
      </p:grpSpPr>
      <p:sp>
        <p:nvSpPr>
          <p:cNvPr id="265" name="Google Shape;265;p43"/>
          <p:cNvSpPr txBox="1"/>
          <p:nvPr>
            <p:ph type="title"/>
          </p:nvPr>
        </p:nvSpPr>
        <p:spPr>
          <a:xfrm>
            <a:off x="311700" y="445025"/>
            <a:ext cx="8520600" cy="572700"/>
          </a:xfrm>
          <a:prstGeom prst="rect">
            <a:avLst/>
          </a:prstGeom>
        </p:spPr>
        <p:txBody>
          <a:bodyPr anchorCtr="0" anchor="t" bIns="91425" lIns="91425" spcFirstLastPara="1" rIns="91425" wrap="square" tIns="91425">
            <a:noAutofit/>
          </a:bodyPr>
          <a:lstStyle/>
          <a:p>
            <a:pPr indent="-387350" lvl="1" marL="914400" rtl="0" algn="l">
              <a:lnSpc>
                <a:spcPct val="115000"/>
              </a:lnSpc>
              <a:spcBef>
                <a:spcPts val="0"/>
              </a:spcBef>
              <a:spcAft>
                <a:spcPts val="0"/>
              </a:spcAft>
              <a:buClr>
                <a:schemeClr val="dk1"/>
              </a:buClr>
              <a:buSzPts val="2500"/>
              <a:buFont typeface="Times New Roman"/>
              <a:buChar char="○"/>
            </a:pPr>
            <a:r>
              <a:rPr lang="pt-BR" sz="2500">
                <a:latin typeface="Times New Roman"/>
                <a:ea typeface="Times New Roman"/>
                <a:cs typeface="Times New Roman"/>
                <a:sym typeface="Times New Roman"/>
              </a:rPr>
              <a:t>6.2.2 - Estabelecendo uma conexão</a:t>
            </a:r>
            <a:endParaRPr sz="2500">
              <a:latin typeface="Times New Roman"/>
              <a:ea typeface="Times New Roman"/>
              <a:cs typeface="Times New Roman"/>
              <a:sym typeface="Times New Roman"/>
            </a:endParaRPr>
          </a:p>
          <a:p>
            <a:pPr indent="0" lvl="0" marL="0" rtl="0" algn="l">
              <a:spcBef>
                <a:spcPts val="1200"/>
              </a:spcBef>
              <a:spcAft>
                <a:spcPts val="0"/>
              </a:spcAft>
              <a:buNone/>
            </a:pPr>
            <a:r>
              <a:t/>
            </a:r>
            <a:endParaRPr sz="2500"/>
          </a:p>
        </p:txBody>
      </p:sp>
      <p:sp>
        <p:nvSpPr>
          <p:cNvPr id="266" name="Google Shape;266;p43"/>
          <p:cNvSpPr txBox="1"/>
          <p:nvPr>
            <p:ph idx="1" type="body"/>
          </p:nvPr>
        </p:nvSpPr>
        <p:spPr>
          <a:xfrm>
            <a:off x="311700" y="1152475"/>
            <a:ext cx="8520600" cy="3681300"/>
          </a:xfrm>
          <a:prstGeom prst="rect">
            <a:avLst/>
          </a:prstGeom>
        </p:spPr>
        <p:txBody>
          <a:bodyPr anchorCtr="0" anchor="t" bIns="91425" lIns="91425" spcFirstLastPara="1" rIns="91425" wrap="square" tIns="91425">
            <a:normAutofit/>
          </a:bodyPr>
          <a:lstStyle/>
          <a:p>
            <a:pPr indent="-342900" lvl="0" marL="457200" rtl="0" algn="l">
              <a:spcBef>
                <a:spcPts val="0"/>
              </a:spcBef>
              <a:spcAft>
                <a:spcPts val="0"/>
              </a:spcAft>
              <a:buClr>
                <a:schemeClr val="dk1"/>
              </a:buClr>
              <a:buSzPts val="1800"/>
              <a:buFont typeface="Times New Roman"/>
              <a:buChar char="●"/>
            </a:pPr>
            <a:r>
              <a:rPr lang="pt-BR">
                <a:solidFill>
                  <a:schemeClr val="dk1"/>
                </a:solidFill>
                <a:latin typeface="Times New Roman"/>
                <a:ea typeface="Times New Roman"/>
                <a:cs typeface="Times New Roman"/>
                <a:sym typeface="Times New Roman"/>
              </a:rPr>
              <a:t>A princípio, para estabelecer uma conexão é preciso que uma entidade de transporte apenas envie um “</a:t>
            </a:r>
            <a:r>
              <a:rPr i="1" lang="pt-BR">
                <a:solidFill>
                  <a:schemeClr val="dk1"/>
                </a:solidFill>
                <a:latin typeface="Times New Roman"/>
                <a:ea typeface="Times New Roman"/>
                <a:cs typeface="Times New Roman"/>
                <a:sym typeface="Times New Roman"/>
              </a:rPr>
              <a:t>Connection request</a:t>
            </a:r>
            <a:r>
              <a:rPr lang="pt-BR">
                <a:solidFill>
                  <a:schemeClr val="dk1"/>
                </a:solidFill>
                <a:latin typeface="Times New Roman"/>
                <a:ea typeface="Times New Roman"/>
                <a:cs typeface="Times New Roman"/>
                <a:sym typeface="Times New Roman"/>
              </a:rPr>
              <a:t>” para o destino e espere por uma resposta do tipo “</a:t>
            </a:r>
            <a:r>
              <a:rPr i="1" lang="pt-BR">
                <a:solidFill>
                  <a:schemeClr val="dk1"/>
                </a:solidFill>
                <a:latin typeface="Times New Roman"/>
                <a:ea typeface="Times New Roman"/>
                <a:cs typeface="Times New Roman"/>
                <a:sym typeface="Times New Roman"/>
              </a:rPr>
              <a:t>Connection confirm</a:t>
            </a:r>
            <a:r>
              <a:rPr lang="pt-BR">
                <a:solidFill>
                  <a:schemeClr val="dk1"/>
                </a:solidFill>
                <a:latin typeface="Times New Roman"/>
                <a:ea typeface="Times New Roman"/>
                <a:cs typeface="Times New Roman"/>
                <a:sym typeface="Times New Roman"/>
              </a:rPr>
              <a:t>”. Porém, podem acontecer erros pois a rede perder ou duplicar pacotes. Um ponto crucial que deve ser atenuado é a existência de </a:t>
            </a:r>
            <a:r>
              <a:rPr lang="pt-BR">
                <a:solidFill>
                  <a:schemeClr val="dk1"/>
                </a:solidFill>
                <a:latin typeface="Times New Roman"/>
                <a:ea typeface="Times New Roman"/>
                <a:cs typeface="Times New Roman"/>
                <a:sym typeface="Times New Roman"/>
              </a:rPr>
              <a:t>duplicatas</a:t>
            </a:r>
            <a:r>
              <a:rPr lang="pt-BR">
                <a:solidFill>
                  <a:schemeClr val="dk1"/>
                </a:solidFill>
                <a:latin typeface="Times New Roman"/>
                <a:ea typeface="Times New Roman"/>
                <a:cs typeface="Times New Roman"/>
                <a:sym typeface="Times New Roman"/>
              </a:rPr>
              <a:t> atrasadas de pacotes.</a:t>
            </a:r>
            <a:endParaRPr>
              <a:solidFill>
                <a:schemeClr val="dk1"/>
              </a:solidFill>
              <a:latin typeface="Times New Roman"/>
              <a:ea typeface="Times New Roman"/>
              <a:cs typeface="Times New Roman"/>
              <a:sym typeface="Times New Roman"/>
            </a:endParaRPr>
          </a:p>
          <a:p>
            <a:pPr indent="-342900" lvl="0" marL="457200" rtl="0" algn="l">
              <a:spcBef>
                <a:spcPts val="0"/>
              </a:spcBef>
              <a:spcAft>
                <a:spcPts val="0"/>
              </a:spcAft>
              <a:buClr>
                <a:schemeClr val="dk1"/>
              </a:buClr>
              <a:buSzPts val="1800"/>
              <a:buFont typeface="Times New Roman"/>
              <a:buChar char="●"/>
            </a:pPr>
            <a:r>
              <a:rPr lang="pt-BR">
                <a:solidFill>
                  <a:schemeClr val="dk1"/>
                </a:solidFill>
                <a:latin typeface="Times New Roman"/>
                <a:ea typeface="Times New Roman"/>
                <a:cs typeface="Times New Roman"/>
                <a:sym typeface="Times New Roman"/>
              </a:rPr>
              <a:t>Ao </a:t>
            </a:r>
            <a:r>
              <a:rPr lang="pt-BR">
                <a:solidFill>
                  <a:schemeClr val="dk1"/>
                </a:solidFill>
                <a:latin typeface="Times New Roman"/>
                <a:ea typeface="Times New Roman"/>
                <a:cs typeface="Times New Roman"/>
                <a:sym typeface="Times New Roman"/>
              </a:rPr>
              <a:t>invés</a:t>
            </a:r>
            <a:r>
              <a:rPr lang="pt-BR">
                <a:solidFill>
                  <a:schemeClr val="dk1"/>
                </a:solidFill>
                <a:latin typeface="Times New Roman"/>
                <a:ea typeface="Times New Roman"/>
                <a:cs typeface="Times New Roman"/>
                <a:sym typeface="Times New Roman"/>
              </a:rPr>
              <a:t> de permitir com que os pacotes fiquem para sempre dentro da subrede, é preciso desenvolver um mecanismo de “matar” pacotes já muito velhos que ainda estão pela rede.</a:t>
            </a:r>
            <a:endParaRPr>
              <a:solidFill>
                <a:schemeClr val="dk1"/>
              </a:solidFill>
              <a:latin typeface="Times New Roman"/>
              <a:ea typeface="Times New Roman"/>
              <a:cs typeface="Times New Roman"/>
              <a:sym typeface="Times New Roman"/>
            </a:endParaRPr>
          </a:p>
          <a:p>
            <a:pPr indent="-342900" lvl="0" marL="457200" rtl="0" algn="l">
              <a:spcBef>
                <a:spcPts val="0"/>
              </a:spcBef>
              <a:spcAft>
                <a:spcPts val="0"/>
              </a:spcAft>
              <a:buClr>
                <a:schemeClr val="dk1"/>
              </a:buClr>
              <a:buSzPts val="1800"/>
              <a:buFont typeface="Times New Roman"/>
              <a:buChar char="●"/>
            </a:pPr>
            <a:r>
              <a:rPr lang="pt-BR">
                <a:solidFill>
                  <a:schemeClr val="dk1"/>
                </a:solidFill>
                <a:latin typeface="Times New Roman"/>
                <a:ea typeface="Times New Roman"/>
                <a:cs typeface="Times New Roman"/>
                <a:sym typeface="Times New Roman"/>
              </a:rPr>
              <a:t>O tempo de vida de um pacote pode ser restrito a um valor máximo seguindo algumas das seguintes técnicas:</a:t>
            </a:r>
            <a:endParaRPr>
              <a:solidFill>
                <a:schemeClr val="dk1"/>
              </a:solidFill>
              <a:latin typeface="Times New Roman"/>
              <a:ea typeface="Times New Roman"/>
              <a:cs typeface="Times New Roman"/>
              <a:sym typeface="Times New Roman"/>
            </a:endParaRPr>
          </a:p>
        </p:txBody>
      </p:sp>
      <p:sp>
        <p:nvSpPr>
          <p:cNvPr id="267" name="Google Shape;267;p43"/>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r>
              <a:rPr lang="pt-BR"/>
              <a:t>30</a:t>
            </a:r>
            <a:endParaRPr/>
          </a:p>
        </p:txBody>
      </p:sp>
    </p:spTree>
  </p:cSld>
  <p:clrMapOvr>
    <a:masterClrMapping/>
  </p:clrMapOvr>
</p:sld>
</file>

<file path=ppt/slides/slide3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71" name="Shape 271"/>
        <p:cNvGrpSpPr/>
        <p:nvPr/>
      </p:nvGrpSpPr>
      <p:grpSpPr>
        <a:xfrm>
          <a:off x="0" y="0"/>
          <a:ext cx="0" cy="0"/>
          <a:chOff x="0" y="0"/>
          <a:chExt cx="0" cy="0"/>
        </a:xfrm>
      </p:grpSpPr>
      <p:sp>
        <p:nvSpPr>
          <p:cNvPr id="272" name="Google Shape;272;p44"/>
          <p:cNvSpPr txBox="1"/>
          <p:nvPr>
            <p:ph type="title"/>
          </p:nvPr>
        </p:nvSpPr>
        <p:spPr>
          <a:xfrm>
            <a:off x="311700" y="445025"/>
            <a:ext cx="8520600" cy="572700"/>
          </a:xfrm>
          <a:prstGeom prst="rect">
            <a:avLst/>
          </a:prstGeom>
        </p:spPr>
        <p:txBody>
          <a:bodyPr anchorCtr="0" anchor="t" bIns="91425" lIns="91425" spcFirstLastPara="1" rIns="91425" wrap="square" tIns="91425">
            <a:noAutofit/>
          </a:bodyPr>
          <a:lstStyle/>
          <a:p>
            <a:pPr indent="-387350" lvl="1" marL="914400" rtl="0" algn="l">
              <a:lnSpc>
                <a:spcPct val="115000"/>
              </a:lnSpc>
              <a:spcBef>
                <a:spcPts val="0"/>
              </a:spcBef>
              <a:spcAft>
                <a:spcPts val="0"/>
              </a:spcAft>
              <a:buClr>
                <a:schemeClr val="dk1"/>
              </a:buClr>
              <a:buSzPts val="2500"/>
              <a:buFont typeface="Times New Roman"/>
              <a:buChar char="○"/>
            </a:pPr>
            <a:r>
              <a:rPr lang="pt-BR" sz="2500">
                <a:latin typeface="Times New Roman"/>
                <a:ea typeface="Times New Roman"/>
                <a:cs typeface="Times New Roman"/>
                <a:sym typeface="Times New Roman"/>
              </a:rPr>
              <a:t>6.2.2 - Estabelecendo uma conexão</a:t>
            </a:r>
            <a:endParaRPr sz="2500">
              <a:latin typeface="Times New Roman"/>
              <a:ea typeface="Times New Roman"/>
              <a:cs typeface="Times New Roman"/>
              <a:sym typeface="Times New Roman"/>
            </a:endParaRPr>
          </a:p>
          <a:p>
            <a:pPr indent="0" lvl="0" marL="0" rtl="0" algn="l">
              <a:spcBef>
                <a:spcPts val="1200"/>
              </a:spcBef>
              <a:spcAft>
                <a:spcPts val="0"/>
              </a:spcAft>
              <a:buNone/>
            </a:pPr>
            <a:r>
              <a:t/>
            </a:r>
            <a:endParaRPr sz="2500"/>
          </a:p>
        </p:txBody>
      </p:sp>
      <p:sp>
        <p:nvSpPr>
          <p:cNvPr id="273" name="Google Shape;273;p44"/>
          <p:cNvSpPr txBox="1"/>
          <p:nvPr>
            <p:ph idx="1" type="body"/>
          </p:nvPr>
        </p:nvSpPr>
        <p:spPr>
          <a:xfrm>
            <a:off x="311700" y="1152475"/>
            <a:ext cx="8520600" cy="3829800"/>
          </a:xfrm>
          <a:prstGeom prst="rect">
            <a:avLst/>
          </a:prstGeom>
        </p:spPr>
        <p:txBody>
          <a:bodyPr anchorCtr="0" anchor="t" bIns="91425" lIns="91425" spcFirstLastPara="1" rIns="91425" wrap="square" tIns="91425">
            <a:normAutofit lnSpcReduction="10000"/>
          </a:bodyPr>
          <a:lstStyle/>
          <a:p>
            <a:pPr indent="-342900" lvl="0" marL="457200" rtl="0" algn="l">
              <a:spcBef>
                <a:spcPts val="0"/>
              </a:spcBef>
              <a:spcAft>
                <a:spcPts val="0"/>
              </a:spcAft>
              <a:buClr>
                <a:schemeClr val="dk1"/>
              </a:buClr>
              <a:buSzPts val="1800"/>
              <a:buFont typeface="Times New Roman"/>
              <a:buChar char="-"/>
            </a:pPr>
            <a:r>
              <a:rPr lang="pt-BR" u="sng">
                <a:solidFill>
                  <a:schemeClr val="dk1"/>
                </a:solidFill>
                <a:latin typeface="Times New Roman"/>
                <a:ea typeface="Times New Roman"/>
                <a:cs typeface="Times New Roman"/>
                <a:sym typeface="Times New Roman"/>
              </a:rPr>
              <a:t>Design restrito de subrede</a:t>
            </a:r>
            <a:r>
              <a:rPr lang="pt-BR">
                <a:solidFill>
                  <a:schemeClr val="dk1"/>
                </a:solidFill>
                <a:latin typeface="Times New Roman"/>
                <a:ea typeface="Times New Roman"/>
                <a:cs typeface="Times New Roman"/>
                <a:sym typeface="Times New Roman"/>
              </a:rPr>
              <a:t>: Inclui qualquer método que previne que pacotes entrem em </a:t>
            </a:r>
            <a:r>
              <a:rPr i="1" lang="pt-BR">
                <a:solidFill>
                  <a:schemeClr val="dk1"/>
                </a:solidFill>
                <a:latin typeface="Times New Roman"/>
                <a:ea typeface="Times New Roman"/>
                <a:cs typeface="Times New Roman"/>
                <a:sym typeface="Times New Roman"/>
              </a:rPr>
              <a:t>looping</a:t>
            </a:r>
            <a:r>
              <a:rPr lang="pt-BR">
                <a:solidFill>
                  <a:schemeClr val="dk1"/>
                </a:solidFill>
                <a:latin typeface="Times New Roman"/>
                <a:ea typeface="Times New Roman"/>
                <a:cs typeface="Times New Roman"/>
                <a:sym typeface="Times New Roman"/>
              </a:rPr>
              <a:t>, combinado com algum tipo de atraso de congestionamento sobre o maior caminho possível.</a:t>
            </a:r>
            <a:endParaRPr>
              <a:solidFill>
                <a:schemeClr val="dk1"/>
              </a:solidFill>
              <a:latin typeface="Times New Roman"/>
              <a:ea typeface="Times New Roman"/>
              <a:cs typeface="Times New Roman"/>
              <a:sym typeface="Times New Roman"/>
            </a:endParaRPr>
          </a:p>
          <a:p>
            <a:pPr indent="-342900" lvl="0" marL="457200" rtl="0" algn="l">
              <a:spcBef>
                <a:spcPts val="0"/>
              </a:spcBef>
              <a:spcAft>
                <a:spcPts val="0"/>
              </a:spcAft>
              <a:buClr>
                <a:schemeClr val="dk1"/>
              </a:buClr>
              <a:buSzPts val="1800"/>
              <a:buFont typeface="Times New Roman"/>
              <a:buChar char="-"/>
            </a:pPr>
            <a:r>
              <a:rPr lang="pt-BR" u="sng">
                <a:solidFill>
                  <a:schemeClr val="dk1"/>
                </a:solidFill>
                <a:latin typeface="Times New Roman"/>
                <a:ea typeface="Times New Roman"/>
                <a:cs typeface="Times New Roman"/>
                <a:sym typeface="Times New Roman"/>
              </a:rPr>
              <a:t>Contador de saltos em cada pacote</a:t>
            </a:r>
            <a:r>
              <a:rPr lang="pt-BR">
                <a:solidFill>
                  <a:schemeClr val="dk1"/>
                </a:solidFill>
                <a:latin typeface="Times New Roman"/>
                <a:ea typeface="Times New Roman"/>
                <a:cs typeface="Times New Roman"/>
                <a:sym typeface="Times New Roman"/>
              </a:rPr>
              <a:t>: Ter um contador de saltos incrementado toda vez que um pacote for encaminhado.</a:t>
            </a:r>
            <a:endParaRPr>
              <a:solidFill>
                <a:schemeClr val="dk1"/>
              </a:solidFill>
              <a:latin typeface="Times New Roman"/>
              <a:ea typeface="Times New Roman"/>
              <a:cs typeface="Times New Roman"/>
              <a:sym typeface="Times New Roman"/>
            </a:endParaRPr>
          </a:p>
          <a:p>
            <a:pPr indent="-342900" lvl="0" marL="457200" rtl="0" algn="l">
              <a:spcBef>
                <a:spcPts val="0"/>
              </a:spcBef>
              <a:spcAft>
                <a:spcPts val="0"/>
              </a:spcAft>
              <a:buClr>
                <a:schemeClr val="dk1"/>
              </a:buClr>
              <a:buSzPts val="1800"/>
              <a:buFont typeface="Times New Roman"/>
              <a:buChar char="-"/>
            </a:pPr>
            <a:r>
              <a:rPr lang="pt-BR" u="sng">
                <a:solidFill>
                  <a:schemeClr val="dk1"/>
                </a:solidFill>
                <a:latin typeface="Times New Roman"/>
                <a:ea typeface="Times New Roman"/>
                <a:cs typeface="Times New Roman"/>
                <a:sym typeface="Times New Roman"/>
              </a:rPr>
              <a:t>Carimbo de tempo</a:t>
            </a:r>
            <a:r>
              <a:rPr lang="pt-BR">
                <a:solidFill>
                  <a:schemeClr val="dk1"/>
                </a:solidFill>
                <a:latin typeface="Times New Roman"/>
                <a:ea typeface="Times New Roman"/>
                <a:cs typeface="Times New Roman"/>
                <a:sym typeface="Times New Roman"/>
              </a:rPr>
              <a:t>: Requer que cada pacote possua o tempo em que foi criado e o IMP concorda com o descarte de um pacote mais velho que um determinado tempo acordado previamente.</a:t>
            </a:r>
            <a:endParaRPr>
              <a:solidFill>
                <a:schemeClr val="dk1"/>
              </a:solidFill>
              <a:latin typeface="Times New Roman"/>
              <a:ea typeface="Times New Roman"/>
              <a:cs typeface="Times New Roman"/>
              <a:sym typeface="Times New Roman"/>
            </a:endParaRPr>
          </a:p>
          <a:p>
            <a:pPr indent="-342900" lvl="0" marL="457200" rtl="0" algn="l">
              <a:spcBef>
                <a:spcPts val="0"/>
              </a:spcBef>
              <a:spcAft>
                <a:spcPts val="0"/>
              </a:spcAft>
              <a:buClr>
                <a:schemeClr val="dk1"/>
              </a:buClr>
              <a:buSzPts val="1800"/>
              <a:buFont typeface="Times New Roman"/>
              <a:buChar char="●"/>
            </a:pPr>
            <a:r>
              <a:rPr lang="pt-BR">
                <a:solidFill>
                  <a:schemeClr val="dk1"/>
                </a:solidFill>
                <a:latin typeface="Times New Roman"/>
                <a:ea typeface="Times New Roman"/>
                <a:cs typeface="Times New Roman"/>
                <a:sym typeface="Times New Roman"/>
              </a:rPr>
              <a:t>Com o tempo de vida dos pacotes limitado, é possível desenvolver uma forma infalível de estabelecer conexões de maneira segura. O método foi descrito por Tomlinson e a idéia básica é a de garantir que dois TPDUs identicamente numerados, nunca são excelentes ao mesmo tempo.</a:t>
            </a:r>
            <a:endParaRPr>
              <a:solidFill>
                <a:schemeClr val="dk1"/>
              </a:solidFill>
              <a:latin typeface="Times New Roman"/>
              <a:ea typeface="Times New Roman"/>
              <a:cs typeface="Times New Roman"/>
              <a:sym typeface="Times New Roman"/>
            </a:endParaRPr>
          </a:p>
        </p:txBody>
      </p:sp>
      <p:sp>
        <p:nvSpPr>
          <p:cNvPr id="274" name="Google Shape;274;p44"/>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r>
              <a:rPr lang="pt-BR"/>
              <a:t>31</a:t>
            </a:r>
            <a:endParaRPr/>
          </a:p>
        </p:txBody>
      </p:sp>
    </p:spTree>
  </p:cSld>
  <p:clrMapOvr>
    <a:masterClrMapping/>
  </p:clrMapOvr>
</p:sld>
</file>

<file path=ppt/slides/slide3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78" name="Shape 278"/>
        <p:cNvGrpSpPr/>
        <p:nvPr/>
      </p:nvGrpSpPr>
      <p:grpSpPr>
        <a:xfrm>
          <a:off x="0" y="0"/>
          <a:ext cx="0" cy="0"/>
          <a:chOff x="0" y="0"/>
          <a:chExt cx="0" cy="0"/>
        </a:xfrm>
      </p:grpSpPr>
      <p:sp>
        <p:nvSpPr>
          <p:cNvPr id="279" name="Google Shape;279;p45"/>
          <p:cNvSpPr txBox="1"/>
          <p:nvPr>
            <p:ph type="title"/>
          </p:nvPr>
        </p:nvSpPr>
        <p:spPr>
          <a:xfrm>
            <a:off x="311700" y="445025"/>
            <a:ext cx="8520600" cy="572700"/>
          </a:xfrm>
          <a:prstGeom prst="rect">
            <a:avLst/>
          </a:prstGeom>
        </p:spPr>
        <p:txBody>
          <a:bodyPr anchorCtr="0" anchor="t" bIns="91425" lIns="91425" spcFirstLastPara="1" rIns="91425" wrap="square" tIns="91425">
            <a:noAutofit/>
          </a:bodyPr>
          <a:lstStyle/>
          <a:p>
            <a:pPr indent="-387350" lvl="1" marL="914400" rtl="0" algn="l">
              <a:lnSpc>
                <a:spcPct val="115000"/>
              </a:lnSpc>
              <a:spcBef>
                <a:spcPts val="0"/>
              </a:spcBef>
              <a:spcAft>
                <a:spcPts val="0"/>
              </a:spcAft>
              <a:buClr>
                <a:schemeClr val="dk1"/>
              </a:buClr>
              <a:buSzPts val="2500"/>
              <a:buFont typeface="Times New Roman"/>
              <a:buChar char="○"/>
            </a:pPr>
            <a:r>
              <a:rPr lang="pt-BR" sz="2500">
                <a:latin typeface="Times New Roman"/>
                <a:ea typeface="Times New Roman"/>
                <a:cs typeface="Times New Roman"/>
                <a:sym typeface="Times New Roman"/>
              </a:rPr>
              <a:t>6.2.2 - Estabelecendo uma conexão</a:t>
            </a:r>
            <a:endParaRPr sz="2500">
              <a:latin typeface="Times New Roman"/>
              <a:ea typeface="Times New Roman"/>
              <a:cs typeface="Times New Roman"/>
              <a:sym typeface="Times New Roman"/>
            </a:endParaRPr>
          </a:p>
          <a:p>
            <a:pPr indent="0" lvl="0" marL="0" rtl="0" algn="l">
              <a:spcBef>
                <a:spcPts val="1200"/>
              </a:spcBef>
              <a:spcAft>
                <a:spcPts val="0"/>
              </a:spcAft>
              <a:buNone/>
            </a:pPr>
            <a:r>
              <a:t/>
            </a:r>
            <a:endParaRPr/>
          </a:p>
        </p:txBody>
      </p:sp>
      <p:sp>
        <p:nvSpPr>
          <p:cNvPr id="280" name="Google Shape;280;p45"/>
          <p:cNvSpPr txBox="1"/>
          <p:nvPr>
            <p:ph idx="1" type="body"/>
          </p:nvPr>
        </p:nvSpPr>
        <p:spPr>
          <a:xfrm>
            <a:off x="311700" y="1152475"/>
            <a:ext cx="8520600" cy="3904200"/>
          </a:xfrm>
          <a:prstGeom prst="rect">
            <a:avLst/>
          </a:prstGeom>
        </p:spPr>
        <p:txBody>
          <a:bodyPr anchorCtr="0" anchor="t" bIns="91425" lIns="91425" spcFirstLastPara="1" rIns="91425" wrap="square" tIns="91425">
            <a:normAutofit lnSpcReduction="10000"/>
          </a:bodyPr>
          <a:lstStyle/>
          <a:p>
            <a:pPr indent="-342900" lvl="0" marL="457200" rtl="0" algn="l">
              <a:spcBef>
                <a:spcPts val="0"/>
              </a:spcBef>
              <a:spcAft>
                <a:spcPts val="0"/>
              </a:spcAft>
              <a:buClr>
                <a:schemeClr val="dk1"/>
              </a:buClr>
              <a:buSzPts val="1800"/>
              <a:buFont typeface="Times New Roman"/>
              <a:buChar char="●"/>
            </a:pPr>
            <a:r>
              <a:rPr lang="pt-BR">
                <a:solidFill>
                  <a:schemeClr val="dk1"/>
                </a:solidFill>
                <a:latin typeface="Times New Roman"/>
                <a:ea typeface="Times New Roman"/>
                <a:cs typeface="Times New Roman"/>
                <a:sym typeface="Times New Roman"/>
              </a:rPr>
              <a:t>Quando ambas as entidades de transporte concordaram com a </a:t>
            </a:r>
            <a:r>
              <a:rPr lang="pt-BR">
                <a:solidFill>
                  <a:schemeClr val="dk1"/>
                </a:solidFill>
                <a:latin typeface="Times New Roman"/>
                <a:ea typeface="Times New Roman"/>
                <a:cs typeface="Times New Roman"/>
                <a:sym typeface="Times New Roman"/>
              </a:rPr>
              <a:t>sequência</a:t>
            </a:r>
            <a:r>
              <a:rPr lang="pt-BR">
                <a:solidFill>
                  <a:schemeClr val="dk1"/>
                </a:solidFill>
                <a:latin typeface="Times New Roman"/>
                <a:ea typeface="Times New Roman"/>
                <a:cs typeface="Times New Roman"/>
                <a:sym typeface="Times New Roman"/>
              </a:rPr>
              <a:t> de </a:t>
            </a:r>
            <a:r>
              <a:rPr lang="pt-BR">
                <a:solidFill>
                  <a:schemeClr val="dk1"/>
                </a:solidFill>
                <a:latin typeface="Times New Roman"/>
                <a:ea typeface="Times New Roman"/>
                <a:cs typeface="Times New Roman"/>
                <a:sym typeface="Times New Roman"/>
              </a:rPr>
              <a:t>números</a:t>
            </a:r>
            <a:r>
              <a:rPr lang="pt-BR">
                <a:solidFill>
                  <a:schemeClr val="dk1"/>
                </a:solidFill>
                <a:latin typeface="Times New Roman"/>
                <a:ea typeface="Times New Roman"/>
                <a:cs typeface="Times New Roman"/>
                <a:sym typeface="Times New Roman"/>
              </a:rPr>
              <a:t> iniciais, qualquer protocolo de janela deslizante pode ser usado para fluxo de dados.</a:t>
            </a:r>
            <a:endParaRPr>
              <a:solidFill>
                <a:schemeClr val="dk1"/>
              </a:solidFill>
              <a:latin typeface="Times New Roman"/>
              <a:ea typeface="Times New Roman"/>
              <a:cs typeface="Times New Roman"/>
              <a:sym typeface="Times New Roman"/>
            </a:endParaRPr>
          </a:p>
          <a:p>
            <a:pPr indent="-342900" lvl="0" marL="457200" rtl="0" algn="l">
              <a:spcBef>
                <a:spcPts val="0"/>
              </a:spcBef>
              <a:spcAft>
                <a:spcPts val="0"/>
              </a:spcAft>
              <a:buClr>
                <a:schemeClr val="dk1"/>
              </a:buClr>
              <a:buSzPts val="1800"/>
              <a:buFont typeface="Times New Roman"/>
              <a:buChar char="●"/>
            </a:pPr>
            <a:r>
              <a:rPr lang="pt-BR">
                <a:solidFill>
                  <a:schemeClr val="dk1"/>
                </a:solidFill>
                <a:latin typeface="Times New Roman"/>
                <a:ea typeface="Times New Roman"/>
                <a:cs typeface="Times New Roman"/>
                <a:sym typeface="Times New Roman"/>
              </a:rPr>
              <a:t>O problema acontece quando um host colapsa. Quando ele volta ao normal, a entidade de transporte não sabe onde ele estava anteriormente. Uma solução é exigir que as entidades de transporte fiquem ociosas por um período de tempo, contudo, em uma rede complexa, esse período de tempo pode ser grande e esta estratégia se torna ineficiente.</a:t>
            </a:r>
            <a:endParaRPr>
              <a:solidFill>
                <a:schemeClr val="dk1"/>
              </a:solidFill>
              <a:latin typeface="Times New Roman"/>
              <a:ea typeface="Times New Roman"/>
              <a:cs typeface="Times New Roman"/>
              <a:sym typeface="Times New Roman"/>
            </a:endParaRPr>
          </a:p>
          <a:p>
            <a:pPr indent="-342900" lvl="0" marL="457200" rtl="0" algn="l">
              <a:spcBef>
                <a:spcPts val="0"/>
              </a:spcBef>
              <a:spcAft>
                <a:spcPts val="0"/>
              </a:spcAft>
              <a:buClr>
                <a:schemeClr val="dk1"/>
              </a:buClr>
              <a:buSzPts val="1800"/>
              <a:buFont typeface="Times New Roman"/>
              <a:buChar char="●"/>
            </a:pPr>
            <a:r>
              <a:rPr lang="pt-BR">
                <a:solidFill>
                  <a:schemeClr val="dk1"/>
                </a:solidFill>
                <a:latin typeface="Times New Roman"/>
                <a:ea typeface="Times New Roman"/>
                <a:cs typeface="Times New Roman"/>
                <a:sym typeface="Times New Roman"/>
              </a:rPr>
              <a:t>O método baseado em </a:t>
            </a:r>
            <a:r>
              <a:rPr lang="pt-BR">
                <a:solidFill>
                  <a:schemeClr val="dk1"/>
                </a:solidFill>
                <a:latin typeface="Times New Roman"/>
                <a:ea typeface="Times New Roman"/>
                <a:cs typeface="Times New Roman"/>
                <a:sym typeface="Times New Roman"/>
              </a:rPr>
              <a:t>relógio</a:t>
            </a:r>
            <a:r>
              <a:rPr lang="pt-BR">
                <a:solidFill>
                  <a:schemeClr val="dk1"/>
                </a:solidFill>
                <a:latin typeface="Times New Roman"/>
                <a:ea typeface="Times New Roman"/>
                <a:cs typeface="Times New Roman"/>
                <a:sym typeface="Times New Roman"/>
              </a:rPr>
              <a:t> soluciona o problema de duplicação atrasada mas para que este método seja útil, é preciso que a conexão seja estabelecida primeiro. Tem-se também o problema de se ter ambos os lados concordando em uma </a:t>
            </a:r>
            <a:r>
              <a:rPr lang="pt-BR">
                <a:solidFill>
                  <a:schemeClr val="dk1"/>
                </a:solidFill>
                <a:latin typeface="Times New Roman"/>
                <a:ea typeface="Times New Roman"/>
                <a:cs typeface="Times New Roman"/>
                <a:sym typeface="Times New Roman"/>
              </a:rPr>
              <a:t>sequência</a:t>
            </a:r>
            <a:r>
              <a:rPr lang="pt-BR">
                <a:solidFill>
                  <a:schemeClr val="dk1"/>
                </a:solidFill>
                <a:latin typeface="Times New Roman"/>
                <a:ea typeface="Times New Roman"/>
                <a:cs typeface="Times New Roman"/>
                <a:sym typeface="Times New Roman"/>
              </a:rPr>
              <a:t> de  números iniciais. Para resolver este problema, temos um conceito chamado de “</a:t>
            </a:r>
            <a:r>
              <a:rPr i="1" lang="pt-BR">
                <a:solidFill>
                  <a:schemeClr val="dk1"/>
                </a:solidFill>
                <a:latin typeface="Times New Roman"/>
                <a:ea typeface="Times New Roman"/>
                <a:cs typeface="Times New Roman"/>
                <a:sym typeface="Times New Roman"/>
              </a:rPr>
              <a:t>Three-way Handshake</a:t>
            </a:r>
            <a:r>
              <a:rPr lang="pt-BR">
                <a:solidFill>
                  <a:schemeClr val="dk1"/>
                </a:solidFill>
                <a:latin typeface="Times New Roman"/>
                <a:ea typeface="Times New Roman"/>
                <a:cs typeface="Times New Roman"/>
                <a:sym typeface="Times New Roman"/>
              </a:rPr>
              <a:t>”.</a:t>
            </a:r>
            <a:endParaRPr>
              <a:solidFill>
                <a:schemeClr val="dk1"/>
              </a:solidFill>
              <a:latin typeface="Times New Roman"/>
              <a:ea typeface="Times New Roman"/>
              <a:cs typeface="Times New Roman"/>
              <a:sym typeface="Times New Roman"/>
            </a:endParaRPr>
          </a:p>
        </p:txBody>
      </p:sp>
      <p:sp>
        <p:nvSpPr>
          <p:cNvPr id="281" name="Google Shape;281;p45"/>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r>
              <a:rPr lang="pt-BR"/>
              <a:t>32</a:t>
            </a:r>
            <a:endParaRPr/>
          </a:p>
        </p:txBody>
      </p:sp>
    </p:spTree>
  </p:cSld>
  <p:clrMapOvr>
    <a:masterClrMapping/>
  </p:clrMapOvr>
</p:sld>
</file>

<file path=ppt/slides/slide3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85" name="Shape 285"/>
        <p:cNvGrpSpPr/>
        <p:nvPr/>
      </p:nvGrpSpPr>
      <p:grpSpPr>
        <a:xfrm>
          <a:off x="0" y="0"/>
          <a:ext cx="0" cy="0"/>
          <a:chOff x="0" y="0"/>
          <a:chExt cx="0" cy="0"/>
        </a:xfrm>
      </p:grpSpPr>
      <p:sp>
        <p:nvSpPr>
          <p:cNvPr id="286" name="Google Shape;286;p46"/>
          <p:cNvSpPr txBox="1"/>
          <p:nvPr>
            <p:ph type="title"/>
          </p:nvPr>
        </p:nvSpPr>
        <p:spPr>
          <a:xfrm>
            <a:off x="311700" y="445025"/>
            <a:ext cx="8520600" cy="572700"/>
          </a:xfrm>
          <a:prstGeom prst="rect">
            <a:avLst/>
          </a:prstGeom>
        </p:spPr>
        <p:txBody>
          <a:bodyPr anchorCtr="0" anchor="t" bIns="91425" lIns="91425" spcFirstLastPara="1" rIns="91425" wrap="square" tIns="91425">
            <a:noAutofit/>
          </a:bodyPr>
          <a:lstStyle/>
          <a:p>
            <a:pPr indent="-387350" lvl="1" marL="914400" rtl="0" algn="l">
              <a:lnSpc>
                <a:spcPct val="115000"/>
              </a:lnSpc>
              <a:spcBef>
                <a:spcPts val="0"/>
              </a:spcBef>
              <a:spcAft>
                <a:spcPts val="0"/>
              </a:spcAft>
              <a:buClr>
                <a:schemeClr val="dk1"/>
              </a:buClr>
              <a:buSzPts val="2500"/>
              <a:buFont typeface="Times New Roman"/>
              <a:buChar char="○"/>
            </a:pPr>
            <a:r>
              <a:rPr lang="pt-BR" sz="2500">
                <a:latin typeface="Times New Roman"/>
                <a:ea typeface="Times New Roman"/>
                <a:cs typeface="Times New Roman"/>
                <a:sym typeface="Times New Roman"/>
              </a:rPr>
              <a:t>6.2.2 - Estabelecendo uma conexão</a:t>
            </a:r>
            <a:endParaRPr sz="2500">
              <a:latin typeface="Times New Roman"/>
              <a:ea typeface="Times New Roman"/>
              <a:cs typeface="Times New Roman"/>
              <a:sym typeface="Times New Roman"/>
            </a:endParaRPr>
          </a:p>
          <a:p>
            <a:pPr indent="0" lvl="0" marL="0" rtl="0" algn="l">
              <a:spcBef>
                <a:spcPts val="1200"/>
              </a:spcBef>
              <a:spcAft>
                <a:spcPts val="0"/>
              </a:spcAft>
              <a:buClr>
                <a:schemeClr val="dk1"/>
              </a:buClr>
              <a:buSzPts val="1100"/>
              <a:buFont typeface="Arial"/>
              <a:buNone/>
            </a:pPr>
            <a:r>
              <a:t/>
            </a:r>
            <a:endParaRPr sz="2500"/>
          </a:p>
          <a:p>
            <a:pPr indent="0" lvl="0" marL="0" rtl="0" algn="l">
              <a:spcBef>
                <a:spcPts val="0"/>
              </a:spcBef>
              <a:spcAft>
                <a:spcPts val="0"/>
              </a:spcAft>
              <a:buNone/>
            </a:pPr>
            <a:r>
              <a:t/>
            </a:r>
            <a:endParaRPr sz="2500"/>
          </a:p>
        </p:txBody>
      </p:sp>
      <p:sp>
        <p:nvSpPr>
          <p:cNvPr id="287" name="Google Shape;287;p46"/>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342900" lvl="0" marL="457200" rtl="0" algn="l">
              <a:spcBef>
                <a:spcPts val="0"/>
              </a:spcBef>
              <a:spcAft>
                <a:spcPts val="0"/>
              </a:spcAft>
              <a:buClr>
                <a:schemeClr val="dk1"/>
              </a:buClr>
              <a:buSzPts val="1800"/>
              <a:buFont typeface="Times New Roman"/>
              <a:buChar char="●"/>
            </a:pPr>
            <a:r>
              <a:rPr lang="pt-BR">
                <a:solidFill>
                  <a:schemeClr val="dk1"/>
                </a:solidFill>
                <a:latin typeface="Times New Roman"/>
                <a:ea typeface="Times New Roman"/>
                <a:cs typeface="Times New Roman"/>
                <a:sym typeface="Times New Roman"/>
              </a:rPr>
              <a:t>O </a:t>
            </a:r>
            <a:r>
              <a:rPr i="1" lang="pt-BR">
                <a:solidFill>
                  <a:schemeClr val="dk1"/>
                </a:solidFill>
                <a:latin typeface="Times New Roman"/>
                <a:ea typeface="Times New Roman"/>
                <a:cs typeface="Times New Roman"/>
                <a:sym typeface="Times New Roman"/>
              </a:rPr>
              <a:t>Three-way Handshake</a:t>
            </a:r>
            <a:r>
              <a:rPr lang="pt-BR">
                <a:solidFill>
                  <a:schemeClr val="dk1"/>
                </a:solidFill>
                <a:latin typeface="Times New Roman"/>
                <a:ea typeface="Times New Roman"/>
                <a:cs typeface="Times New Roman"/>
                <a:sym typeface="Times New Roman"/>
              </a:rPr>
              <a:t> é um protocolo de estabelecimento usado em conexões no TCP que não requer que ambos os lados comecem a enviar com a mesma sequência de números, então ele pode ser usado com métodos de sincronização ao invés do método do relógio global.</a:t>
            </a:r>
            <a:endParaRPr>
              <a:solidFill>
                <a:schemeClr val="dk1"/>
              </a:solidFill>
              <a:latin typeface="Times New Roman"/>
              <a:ea typeface="Times New Roman"/>
              <a:cs typeface="Times New Roman"/>
              <a:sym typeface="Times New Roman"/>
            </a:endParaRPr>
          </a:p>
        </p:txBody>
      </p:sp>
      <p:sp>
        <p:nvSpPr>
          <p:cNvPr id="288" name="Google Shape;288;p46"/>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r>
              <a:rPr lang="pt-BR"/>
              <a:t>33</a:t>
            </a:r>
            <a:endParaRPr/>
          </a:p>
        </p:txBody>
      </p:sp>
    </p:spTree>
  </p:cSld>
  <p:clrMapOvr>
    <a:masterClrMapping/>
  </p:clrMapOvr>
</p:sld>
</file>

<file path=ppt/slides/slide3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92" name="Shape 292"/>
        <p:cNvGrpSpPr/>
        <p:nvPr/>
      </p:nvGrpSpPr>
      <p:grpSpPr>
        <a:xfrm>
          <a:off x="0" y="0"/>
          <a:ext cx="0" cy="0"/>
          <a:chOff x="0" y="0"/>
          <a:chExt cx="0" cy="0"/>
        </a:xfrm>
      </p:grpSpPr>
      <p:sp>
        <p:nvSpPr>
          <p:cNvPr id="293" name="Google Shape;293;p47"/>
          <p:cNvSpPr txBox="1"/>
          <p:nvPr>
            <p:ph type="title"/>
          </p:nvPr>
        </p:nvSpPr>
        <p:spPr>
          <a:xfrm>
            <a:off x="311700" y="445025"/>
            <a:ext cx="8520600" cy="572700"/>
          </a:xfrm>
          <a:prstGeom prst="rect">
            <a:avLst/>
          </a:prstGeom>
        </p:spPr>
        <p:txBody>
          <a:bodyPr anchorCtr="0" anchor="t" bIns="91425" lIns="91425" spcFirstLastPara="1" rIns="91425" wrap="square" tIns="91425">
            <a:noAutofit/>
          </a:bodyPr>
          <a:lstStyle/>
          <a:p>
            <a:pPr indent="-387350" lvl="1" marL="914400" rtl="0" algn="l">
              <a:lnSpc>
                <a:spcPct val="115000"/>
              </a:lnSpc>
              <a:spcBef>
                <a:spcPts val="0"/>
              </a:spcBef>
              <a:spcAft>
                <a:spcPts val="0"/>
              </a:spcAft>
              <a:buClr>
                <a:schemeClr val="dk1"/>
              </a:buClr>
              <a:buSzPts val="2500"/>
              <a:buFont typeface="Times New Roman"/>
              <a:buChar char="○"/>
            </a:pPr>
            <a:r>
              <a:rPr lang="pt-BR" sz="2500">
                <a:latin typeface="Times New Roman"/>
                <a:ea typeface="Times New Roman"/>
                <a:cs typeface="Times New Roman"/>
                <a:sym typeface="Times New Roman"/>
              </a:rPr>
              <a:t>6.2.3 -  Liberando a conexão</a:t>
            </a:r>
            <a:endParaRPr sz="2500">
              <a:latin typeface="Times New Roman"/>
              <a:ea typeface="Times New Roman"/>
              <a:cs typeface="Times New Roman"/>
              <a:sym typeface="Times New Roman"/>
            </a:endParaRPr>
          </a:p>
          <a:p>
            <a:pPr indent="0" lvl="0" marL="0" rtl="0" algn="l">
              <a:spcBef>
                <a:spcPts val="1200"/>
              </a:spcBef>
              <a:spcAft>
                <a:spcPts val="0"/>
              </a:spcAft>
              <a:buNone/>
            </a:pPr>
            <a:r>
              <a:t/>
            </a:r>
            <a:endParaRPr sz="2500"/>
          </a:p>
        </p:txBody>
      </p:sp>
      <p:sp>
        <p:nvSpPr>
          <p:cNvPr id="294" name="Google Shape;294;p47"/>
          <p:cNvSpPr txBox="1"/>
          <p:nvPr>
            <p:ph idx="1" type="body"/>
          </p:nvPr>
        </p:nvSpPr>
        <p:spPr>
          <a:xfrm>
            <a:off x="311700" y="1152475"/>
            <a:ext cx="8520600" cy="3823200"/>
          </a:xfrm>
          <a:prstGeom prst="rect">
            <a:avLst/>
          </a:prstGeom>
        </p:spPr>
        <p:txBody>
          <a:bodyPr anchorCtr="0" anchor="t" bIns="91425" lIns="91425" spcFirstLastPara="1" rIns="91425" wrap="square" tIns="91425">
            <a:normAutofit/>
          </a:bodyPr>
          <a:lstStyle/>
          <a:p>
            <a:pPr indent="-342900" lvl="0" marL="457200" rtl="0" algn="l">
              <a:spcBef>
                <a:spcPts val="0"/>
              </a:spcBef>
              <a:spcAft>
                <a:spcPts val="0"/>
              </a:spcAft>
              <a:buClr>
                <a:schemeClr val="dk1"/>
              </a:buClr>
              <a:buSzPts val="1800"/>
              <a:buFont typeface="Times New Roman"/>
              <a:buChar char="●"/>
            </a:pPr>
            <a:r>
              <a:rPr lang="pt-BR">
                <a:solidFill>
                  <a:schemeClr val="dk1"/>
                </a:solidFill>
                <a:latin typeface="Times New Roman"/>
                <a:ea typeface="Times New Roman"/>
                <a:cs typeface="Times New Roman"/>
                <a:sym typeface="Times New Roman"/>
              </a:rPr>
              <a:t>Liberar uma conexão é bem mais fácil que estabelecer uma. Tem-se 3 formas principais que uma conexão pode ser liberada;</a:t>
            </a:r>
            <a:endParaRPr>
              <a:solidFill>
                <a:schemeClr val="dk1"/>
              </a:solidFill>
              <a:latin typeface="Times New Roman"/>
              <a:ea typeface="Times New Roman"/>
              <a:cs typeface="Times New Roman"/>
              <a:sym typeface="Times New Roman"/>
            </a:endParaRPr>
          </a:p>
          <a:p>
            <a:pPr indent="-342900" lvl="0" marL="457200" rtl="0" algn="l">
              <a:spcBef>
                <a:spcPts val="0"/>
              </a:spcBef>
              <a:spcAft>
                <a:spcPts val="0"/>
              </a:spcAft>
              <a:buClr>
                <a:schemeClr val="dk1"/>
              </a:buClr>
              <a:buSzPts val="1800"/>
              <a:buFont typeface="Times New Roman"/>
              <a:buChar char="-"/>
            </a:pPr>
            <a:r>
              <a:rPr lang="pt-BR">
                <a:solidFill>
                  <a:schemeClr val="dk1"/>
                </a:solidFill>
                <a:latin typeface="Times New Roman"/>
                <a:ea typeface="Times New Roman"/>
                <a:cs typeface="Times New Roman"/>
                <a:sym typeface="Times New Roman"/>
              </a:rPr>
              <a:t>A forma mais usual é por meio de uma primitiva </a:t>
            </a:r>
            <a:r>
              <a:rPr lang="pt-BR">
                <a:solidFill>
                  <a:schemeClr val="dk1"/>
                </a:solidFill>
                <a:latin typeface="Times New Roman"/>
                <a:ea typeface="Times New Roman"/>
                <a:cs typeface="Times New Roman"/>
                <a:sym typeface="Times New Roman"/>
              </a:rPr>
              <a:t>T.DISCONNECT.request realizada por um dos usuários. Após isso, a camada de transporte gera uma primitiva T.DISCONNECT.indication na outra extremidade e a conexão é liberada.</a:t>
            </a:r>
            <a:endParaRPr>
              <a:solidFill>
                <a:schemeClr val="dk1"/>
              </a:solidFill>
              <a:latin typeface="Times New Roman"/>
              <a:ea typeface="Times New Roman"/>
              <a:cs typeface="Times New Roman"/>
              <a:sym typeface="Times New Roman"/>
            </a:endParaRPr>
          </a:p>
          <a:p>
            <a:pPr indent="-342900" lvl="0" marL="457200" rtl="0" algn="l">
              <a:spcBef>
                <a:spcPts val="0"/>
              </a:spcBef>
              <a:spcAft>
                <a:spcPts val="0"/>
              </a:spcAft>
              <a:buClr>
                <a:schemeClr val="dk1"/>
              </a:buClr>
              <a:buSzPts val="1800"/>
              <a:buFont typeface="Times New Roman"/>
              <a:buChar char="-"/>
            </a:pPr>
            <a:r>
              <a:rPr lang="pt-BR">
                <a:solidFill>
                  <a:schemeClr val="dk1"/>
                </a:solidFill>
                <a:latin typeface="Times New Roman"/>
                <a:ea typeface="Times New Roman"/>
                <a:cs typeface="Times New Roman"/>
                <a:sym typeface="Times New Roman"/>
              </a:rPr>
              <a:t>Outra forma seria quando ambos os usuários fazem uso da primitiva  T.DISCONNECT.request simultaneamente.</a:t>
            </a:r>
            <a:endParaRPr>
              <a:solidFill>
                <a:schemeClr val="dk1"/>
              </a:solidFill>
              <a:latin typeface="Times New Roman"/>
              <a:ea typeface="Times New Roman"/>
              <a:cs typeface="Times New Roman"/>
              <a:sym typeface="Times New Roman"/>
            </a:endParaRPr>
          </a:p>
          <a:p>
            <a:pPr indent="-342900" lvl="0" marL="457200" rtl="0" algn="l">
              <a:spcBef>
                <a:spcPts val="0"/>
              </a:spcBef>
              <a:spcAft>
                <a:spcPts val="0"/>
              </a:spcAft>
              <a:buClr>
                <a:schemeClr val="dk1"/>
              </a:buClr>
              <a:buSzPts val="1800"/>
              <a:buFont typeface="Times New Roman"/>
              <a:buChar char="-"/>
            </a:pPr>
            <a:r>
              <a:rPr lang="pt-BR">
                <a:solidFill>
                  <a:schemeClr val="dk1"/>
                </a:solidFill>
                <a:latin typeface="Times New Roman"/>
                <a:ea typeface="Times New Roman"/>
                <a:cs typeface="Times New Roman"/>
                <a:sym typeface="Times New Roman"/>
              </a:rPr>
              <a:t>A última maneira é quando a camada de transporte realiza uma primitiva T.DISCONNECT.indication nas duas extremidades da conexão.</a:t>
            </a:r>
            <a:endParaRPr>
              <a:solidFill>
                <a:schemeClr val="dk1"/>
              </a:solidFill>
              <a:latin typeface="Times New Roman"/>
              <a:ea typeface="Times New Roman"/>
              <a:cs typeface="Times New Roman"/>
              <a:sym typeface="Times New Roman"/>
            </a:endParaRPr>
          </a:p>
          <a:p>
            <a:pPr indent="-342900" lvl="0" marL="457200" rtl="0" algn="l">
              <a:spcBef>
                <a:spcPts val="0"/>
              </a:spcBef>
              <a:spcAft>
                <a:spcPts val="0"/>
              </a:spcAft>
              <a:buClr>
                <a:schemeClr val="dk1"/>
              </a:buClr>
              <a:buSzPts val="1800"/>
              <a:buFont typeface="Times New Roman"/>
              <a:buChar char="●"/>
            </a:pPr>
            <a:r>
              <a:rPr lang="pt-BR">
                <a:solidFill>
                  <a:schemeClr val="dk1"/>
                </a:solidFill>
                <a:latin typeface="Times New Roman"/>
                <a:ea typeface="Times New Roman"/>
                <a:cs typeface="Times New Roman"/>
                <a:sym typeface="Times New Roman"/>
              </a:rPr>
              <a:t>Todas essas maneiras de liberar conexões possuem algo em comum: Elas são abruptas e pode resultar em perda de dados.</a:t>
            </a:r>
            <a:endParaRPr>
              <a:solidFill>
                <a:schemeClr val="dk1"/>
              </a:solidFill>
              <a:latin typeface="Times New Roman"/>
              <a:ea typeface="Times New Roman"/>
              <a:cs typeface="Times New Roman"/>
              <a:sym typeface="Times New Roman"/>
            </a:endParaRPr>
          </a:p>
        </p:txBody>
      </p:sp>
      <p:sp>
        <p:nvSpPr>
          <p:cNvPr id="295" name="Google Shape;295;p47"/>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r>
              <a:rPr lang="pt-BR"/>
              <a:t>34</a:t>
            </a:r>
            <a:endParaRPr/>
          </a:p>
        </p:txBody>
      </p:sp>
    </p:spTree>
  </p:cSld>
  <p:clrMapOvr>
    <a:masterClrMapping/>
  </p:clrMapOvr>
</p:sld>
</file>

<file path=ppt/slides/slide3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99" name="Shape 299"/>
        <p:cNvGrpSpPr/>
        <p:nvPr/>
      </p:nvGrpSpPr>
      <p:grpSpPr>
        <a:xfrm>
          <a:off x="0" y="0"/>
          <a:ext cx="0" cy="0"/>
          <a:chOff x="0" y="0"/>
          <a:chExt cx="0" cy="0"/>
        </a:xfrm>
      </p:grpSpPr>
      <p:sp>
        <p:nvSpPr>
          <p:cNvPr id="300" name="Google Shape;300;p48"/>
          <p:cNvSpPr txBox="1"/>
          <p:nvPr>
            <p:ph type="title"/>
          </p:nvPr>
        </p:nvSpPr>
        <p:spPr>
          <a:xfrm>
            <a:off x="311700" y="445025"/>
            <a:ext cx="8520600" cy="572700"/>
          </a:xfrm>
          <a:prstGeom prst="rect">
            <a:avLst/>
          </a:prstGeom>
        </p:spPr>
        <p:txBody>
          <a:bodyPr anchorCtr="0" anchor="t" bIns="91425" lIns="91425" spcFirstLastPara="1" rIns="91425" wrap="square" tIns="91425">
            <a:noAutofit/>
          </a:bodyPr>
          <a:lstStyle/>
          <a:p>
            <a:pPr indent="-387350" lvl="1" marL="914400" rtl="0" algn="l">
              <a:lnSpc>
                <a:spcPct val="115000"/>
              </a:lnSpc>
              <a:spcBef>
                <a:spcPts val="0"/>
              </a:spcBef>
              <a:spcAft>
                <a:spcPts val="0"/>
              </a:spcAft>
              <a:buClr>
                <a:schemeClr val="dk1"/>
              </a:buClr>
              <a:buSzPts val="2500"/>
              <a:buFont typeface="Times New Roman"/>
              <a:buChar char="○"/>
            </a:pPr>
            <a:r>
              <a:rPr lang="pt-BR" sz="2500">
                <a:latin typeface="Times New Roman"/>
                <a:ea typeface="Times New Roman"/>
                <a:cs typeface="Times New Roman"/>
                <a:sym typeface="Times New Roman"/>
              </a:rPr>
              <a:t>6.2.3 -  Liberando a conexão</a:t>
            </a:r>
            <a:endParaRPr sz="2500">
              <a:latin typeface="Times New Roman"/>
              <a:ea typeface="Times New Roman"/>
              <a:cs typeface="Times New Roman"/>
              <a:sym typeface="Times New Roman"/>
            </a:endParaRPr>
          </a:p>
          <a:p>
            <a:pPr indent="0" lvl="0" marL="0" rtl="0" algn="l">
              <a:spcBef>
                <a:spcPts val="1200"/>
              </a:spcBef>
              <a:spcAft>
                <a:spcPts val="0"/>
              </a:spcAft>
              <a:buClr>
                <a:schemeClr val="dk1"/>
              </a:buClr>
              <a:buSzPts val="1100"/>
              <a:buFont typeface="Arial"/>
              <a:buNone/>
            </a:pPr>
            <a:r>
              <a:t/>
            </a:r>
            <a:endParaRPr sz="2500"/>
          </a:p>
          <a:p>
            <a:pPr indent="0" lvl="0" marL="0" rtl="0" algn="l">
              <a:spcBef>
                <a:spcPts val="0"/>
              </a:spcBef>
              <a:spcAft>
                <a:spcPts val="0"/>
              </a:spcAft>
              <a:buNone/>
            </a:pPr>
            <a:r>
              <a:t/>
            </a:r>
            <a:endParaRPr sz="2500"/>
          </a:p>
        </p:txBody>
      </p:sp>
      <p:sp>
        <p:nvSpPr>
          <p:cNvPr id="301" name="Google Shape;301;p48"/>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342900" lvl="0" marL="457200" rtl="0" algn="l">
              <a:spcBef>
                <a:spcPts val="0"/>
              </a:spcBef>
              <a:spcAft>
                <a:spcPts val="0"/>
              </a:spcAft>
              <a:buClr>
                <a:schemeClr val="dk1"/>
              </a:buClr>
              <a:buSzPts val="1800"/>
              <a:buFont typeface="Times New Roman"/>
              <a:buChar char="●"/>
            </a:pPr>
            <a:r>
              <a:rPr lang="pt-BR">
                <a:solidFill>
                  <a:schemeClr val="dk1"/>
                </a:solidFill>
                <a:latin typeface="Times New Roman"/>
                <a:ea typeface="Times New Roman"/>
                <a:cs typeface="Times New Roman"/>
                <a:sym typeface="Times New Roman"/>
              </a:rPr>
              <a:t>Um protocolo mais sofisticado é necessário para se evitar perda de dados. Um jeito óbvio de contornar este problema é não permitir que algum dos lado realize uma </a:t>
            </a:r>
            <a:r>
              <a:rPr lang="pt-BR">
                <a:solidFill>
                  <a:schemeClr val="dk1"/>
                </a:solidFill>
                <a:latin typeface="Times New Roman"/>
                <a:ea typeface="Times New Roman"/>
                <a:cs typeface="Times New Roman"/>
                <a:sym typeface="Times New Roman"/>
              </a:rPr>
              <a:t>T.DISCONNECT.request até que se tenha certeza que o outro lado recebeu todos os dados que foram enviados. Infelizmente esse tipo de abordagem nem sempre funciona e existe um problema notório chamado de “</a:t>
            </a:r>
            <a:r>
              <a:rPr i="1" lang="pt-BR">
                <a:solidFill>
                  <a:schemeClr val="dk1"/>
                </a:solidFill>
                <a:latin typeface="Times New Roman"/>
                <a:ea typeface="Times New Roman"/>
                <a:cs typeface="Times New Roman"/>
                <a:sym typeface="Times New Roman"/>
              </a:rPr>
              <a:t>Two-army Problem</a:t>
            </a:r>
            <a:r>
              <a:rPr lang="pt-BR">
                <a:solidFill>
                  <a:schemeClr val="dk1"/>
                </a:solidFill>
                <a:latin typeface="Times New Roman"/>
                <a:ea typeface="Times New Roman"/>
                <a:cs typeface="Times New Roman"/>
                <a:sym typeface="Times New Roman"/>
              </a:rPr>
              <a:t>” que basicamente diz o seguinte: “Se nenhum dos lados está preparado para desconectar até que esteja convencido de que o outro lado está preparado para desconectar também, a desconexão nunca irá acontecer”.</a:t>
            </a:r>
            <a:endParaRPr>
              <a:solidFill>
                <a:schemeClr val="dk1"/>
              </a:solidFill>
              <a:latin typeface="Times New Roman"/>
              <a:ea typeface="Times New Roman"/>
              <a:cs typeface="Times New Roman"/>
              <a:sym typeface="Times New Roman"/>
            </a:endParaRPr>
          </a:p>
          <a:p>
            <a:pPr indent="-342900" lvl="0" marL="457200" rtl="0" algn="l">
              <a:spcBef>
                <a:spcPts val="0"/>
              </a:spcBef>
              <a:spcAft>
                <a:spcPts val="0"/>
              </a:spcAft>
              <a:buClr>
                <a:schemeClr val="dk1"/>
              </a:buClr>
              <a:buSzPts val="1800"/>
              <a:buFont typeface="Times New Roman"/>
              <a:buChar char="●"/>
            </a:pPr>
            <a:r>
              <a:rPr lang="pt-BR">
                <a:solidFill>
                  <a:schemeClr val="dk1"/>
                </a:solidFill>
                <a:latin typeface="Times New Roman"/>
                <a:ea typeface="Times New Roman"/>
                <a:cs typeface="Times New Roman"/>
                <a:sym typeface="Times New Roman"/>
              </a:rPr>
              <a:t>Na prática, um dos lados está disposto a correr o risco ao liberar a conexão portanto a situação não é totalmente devastadora.</a:t>
            </a:r>
            <a:endParaRPr>
              <a:solidFill>
                <a:schemeClr val="dk1"/>
              </a:solidFill>
              <a:latin typeface="Times New Roman"/>
              <a:ea typeface="Times New Roman"/>
              <a:cs typeface="Times New Roman"/>
              <a:sym typeface="Times New Roman"/>
            </a:endParaRPr>
          </a:p>
        </p:txBody>
      </p:sp>
      <p:sp>
        <p:nvSpPr>
          <p:cNvPr id="302" name="Google Shape;302;p48"/>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r>
              <a:rPr lang="pt-BR"/>
              <a:t>35</a:t>
            </a:r>
            <a:endParaRPr/>
          </a:p>
        </p:txBody>
      </p:sp>
    </p:spTree>
  </p:cSld>
  <p:clrMapOvr>
    <a:masterClrMapping/>
  </p:clrMapOvr>
</p:sld>
</file>

<file path=ppt/slides/slide3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06" name="Shape 306"/>
        <p:cNvGrpSpPr/>
        <p:nvPr/>
      </p:nvGrpSpPr>
      <p:grpSpPr>
        <a:xfrm>
          <a:off x="0" y="0"/>
          <a:ext cx="0" cy="0"/>
          <a:chOff x="0" y="0"/>
          <a:chExt cx="0" cy="0"/>
        </a:xfrm>
      </p:grpSpPr>
      <p:sp>
        <p:nvSpPr>
          <p:cNvPr id="307" name="Google Shape;307;p49"/>
          <p:cNvSpPr txBox="1"/>
          <p:nvPr>
            <p:ph type="title"/>
          </p:nvPr>
        </p:nvSpPr>
        <p:spPr>
          <a:xfrm>
            <a:off x="311700" y="445025"/>
            <a:ext cx="8520600" cy="572700"/>
          </a:xfrm>
          <a:prstGeom prst="rect">
            <a:avLst/>
          </a:prstGeom>
        </p:spPr>
        <p:txBody>
          <a:bodyPr anchorCtr="0" anchor="t" bIns="91425" lIns="91425" spcFirstLastPara="1" rIns="91425" wrap="square" tIns="91425">
            <a:noAutofit/>
          </a:bodyPr>
          <a:lstStyle/>
          <a:p>
            <a:pPr indent="-387350" lvl="1" marL="914400" rtl="0" algn="l">
              <a:lnSpc>
                <a:spcPct val="115000"/>
              </a:lnSpc>
              <a:spcBef>
                <a:spcPts val="0"/>
              </a:spcBef>
              <a:spcAft>
                <a:spcPts val="0"/>
              </a:spcAft>
              <a:buClr>
                <a:schemeClr val="dk1"/>
              </a:buClr>
              <a:buSzPts val="2500"/>
              <a:buFont typeface="Times New Roman"/>
              <a:buChar char="○"/>
            </a:pPr>
            <a:r>
              <a:rPr lang="pt-BR" sz="2500">
                <a:latin typeface="Times New Roman"/>
                <a:ea typeface="Times New Roman"/>
                <a:cs typeface="Times New Roman"/>
                <a:sym typeface="Times New Roman"/>
              </a:rPr>
              <a:t>6.2.3 -  Liberando a conexão</a:t>
            </a:r>
            <a:endParaRPr sz="2500">
              <a:latin typeface="Times New Roman"/>
              <a:ea typeface="Times New Roman"/>
              <a:cs typeface="Times New Roman"/>
              <a:sym typeface="Times New Roman"/>
            </a:endParaRPr>
          </a:p>
          <a:p>
            <a:pPr indent="0" lvl="0" marL="0" rtl="0" algn="l">
              <a:spcBef>
                <a:spcPts val="1200"/>
              </a:spcBef>
              <a:spcAft>
                <a:spcPts val="0"/>
              </a:spcAft>
              <a:buClr>
                <a:schemeClr val="dk1"/>
              </a:buClr>
              <a:buSzPts val="1100"/>
              <a:buFont typeface="Arial"/>
              <a:buNone/>
            </a:pPr>
            <a:r>
              <a:t/>
            </a:r>
            <a:endParaRPr sz="2500"/>
          </a:p>
          <a:p>
            <a:pPr indent="0" lvl="0" marL="0" rtl="0" algn="l">
              <a:spcBef>
                <a:spcPts val="0"/>
              </a:spcBef>
              <a:spcAft>
                <a:spcPts val="0"/>
              </a:spcAft>
              <a:buClr>
                <a:schemeClr val="dk1"/>
              </a:buClr>
              <a:buSzPts val="1100"/>
              <a:buFont typeface="Arial"/>
              <a:buNone/>
            </a:pPr>
            <a:r>
              <a:t/>
            </a:r>
            <a:endParaRPr sz="2500"/>
          </a:p>
          <a:p>
            <a:pPr indent="0" lvl="0" marL="0" rtl="0" algn="l">
              <a:spcBef>
                <a:spcPts val="0"/>
              </a:spcBef>
              <a:spcAft>
                <a:spcPts val="0"/>
              </a:spcAft>
              <a:buNone/>
            </a:pPr>
            <a:r>
              <a:t/>
            </a:r>
            <a:endParaRPr sz="2500"/>
          </a:p>
        </p:txBody>
      </p:sp>
      <p:sp>
        <p:nvSpPr>
          <p:cNvPr id="308" name="Google Shape;308;p49"/>
          <p:cNvSpPr txBox="1"/>
          <p:nvPr>
            <p:ph idx="1" type="body"/>
          </p:nvPr>
        </p:nvSpPr>
        <p:spPr>
          <a:xfrm>
            <a:off x="311700" y="1152475"/>
            <a:ext cx="8520600" cy="3859200"/>
          </a:xfrm>
          <a:prstGeom prst="rect">
            <a:avLst/>
          </a:prstGeom>
        </p:spPr>
        <p:txBody>
          <a:bodyPr anchorCtr="0" anchor="t" bIns="91425" lIns="91425" spcFirstLastPara="1" rIns="91425" wrap="square" tIns="91425">
            <a:normAutofit lnSpcReduction="20000"/>
          </a:bodyPr>
          <a:lstStyle/>
          <a:p>
            <a:pPr indent="-342900" lvl="0" marL="457200" rtl="0" algn="l">
              <a:spcBef>
                <a:spcPts val="0"/>
              </a:spcBef>
              <a:spcAft>
                <a:spcPts val="0"/>
              </a:spcAft>
              <a:buClr>
                <a:schemeClr val="dk1"/>
              </a:buClr>
              <a:buSzPts val="1800"/>
              <a:buFont typeface="Times New Roman"/>
              <a:buChar char="●"/>
            </a:pPr>
            <a:r>
              <a:rPr lang="pt-BR">
                <a:solidFill>
                  <a:schemeClr val="dk1"/>
                </a:solidFill>
                <a:latin typeface="Times New Roman"/>
                <a:ea typeface="Times New Roman"/>
                <a:cs typeface="Times New Roman"/>
                <a:sym typeface="Times New Roman"/>
              </a:rPr>
              <a:t>Se a primitiva </a:t>
            </a:r>
            <a:r>
              <a:rPr lang="pt-BR">
                <a:solidFill>
                  <a:schemeClr val="dk1"/>
                </a:solidFill>
                <a:latin typeface="Times New Roman"/>
                <a:ea typeface="Times New Roman"/>
                <a:cs typeface="Times New Roman"/>
                <a:sym typeface="Times New Roman"/>
              </a:rPr>
              <a:t>T.DISCONNECT.request e suas retransmissões todas forem perdidas, o remetente irá desistir e deletar a conexão enquanto o outro lado nada sabe sobre a tentativa de liberar a conexão. Isso resulta em uma conexão meio-aberta.</a:t>
            </a:r>
            <a:endParaRPr>
              <a:solidFill>
                <a:schemeClr val="dk1"/>
              </a:solidFill>
              <a:latin typeface="Times New Roman"/>
              <a:ea typeface="Times New Roman"/>
              <a:cs typeface="Times New Roman"/>
              <a:sym typeface="Times New Roman"/>
            </a:endParaRPr>
          </a:p>
          <a:p>
            <a:pPr indent="-342900" lvl="0" marL="457200" rtl="0" algn="l">
              <a:spcBef>
                <a:spcPts val="0"/>
              </a:spcBef>
              <a:spcAft>
                <a:spcPts val="0"/>
              </a:spcAft>
              <a:buClr>
                <a:schemeClr val="dk1"/>
              </a:buClr>
              <a:buSzPts val="1800"/>
              <a:buFont typeface="Times New Roman"/>
              <a:buChar char="●"/>
            </a:pPr>
            <a:r>
              <a:rPr lang="pt-BR">
                <a:solidFill>
                  <a:schemeClr val="dk1"/>
                </a:solidFill>
                <a:latin typeface="Times New Roman"/>
                <a:ea typeface="Times New Roman"/>
                <a:cs typeface="Times New Roman"/>
                <a:sym typeface="Times New Roman"/>
              </a:rPr>
              <a:t>Uma forma de contornar conexões meios-abertas é por meio de uma regra dizendo que se nenhum TPDU chegou em um dado número de segundos, a conexão será automaticamente desconectada. Assim, quando um lado se desconecta, o outro irá deletar a falta de atividade e então se desconectar também. Com essa regra introduzida, é necessário que cada entidade de transporte tenha um contador que irá parar e recomeçar sempre que um TPDU é enviado. Se esse contador expirar, um TPDU fictício é enviado apenas para que o outro lado não se desconecte. Caso muitos TPDUs fictícios são perdidos em uma conexão ociosa, o outro lado irá desconectar automaticamente.</a:t>
            </a:r>
            <a:endParaRPr>
              <a:solidFill>
                <a:schemeClr val="dk1"/>
              </a:solidFill>
              <a:latin typeface="Times New Roman"/>
              <a:ea typeface="Times New Roman"/>
              <a:cs typeface="Times New Roman"/>
              <a:sym typeface="Times New Roman"/>
            </a:endParaRPr>
          </a:p>
          <a:p>
            <a:pPr indent="-342900" lvl="0" marL="457200" rtl="0" algn="l">
              <a:spcBef>
                <a:spcPts val="0"/>
              </a:spcBef>
              <a:spcAft>
                <a:spcPts val="0"/>
              </a:spcAft>
              <a:buClr>
                <a:schemeClr val="dk1"/>
              </a:buClr>
              <a:buSzPts val="1800"/>
              <a:buFont typeface="Times New Roman"/>
              <a:buChar char="●"/>
            </a:pPr>
            <a:r>
              <a:rPr lang="pt-BR">
                <a:solidFill>
                  <a:schemeClr val="dk1"/>
                </a:solidFill>
                <a:latin typeface="Times New Roman"/>
                <a:ea typeface="Times New Roman"/>
                <a:cs typeface="Times New Roman"/>
                <a:sym typeface="Times New Roman"/>
              </a:rPr>
              <a:t>Portanto, é possível perceber que liberar uma conexão não é uma tarefa tão simples.</a:t>
            </a:r>
            <a:endParaRPr>
              <a:solidFill>
                <a:schemeClr val="dk1"/>
              </a:solidFill>
              <a:latin typeface="Times New Roman"/>
              <a:ea typeface="Times New Roman"/>
              <a:cs typeface="Times New Roman"/>
              <a:sym typeface="Times New Roman"/>
            </a:endParaRPr>
          </a:p>
        </p:txBody>
      </p:sp>
      <p:sp>
        <p:nvSpPr>
          <p:cNvPr id="309" name="Google Shape;309;p49"/>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r>
              <a:rPr lang="pt-BR"/>
              <a:t>36</a:t>
            </a:r>
            <a:endParaRPr/>
          </a:p>
        </p:txBody>
      </p:sp>
    </p:spTree>
  </p:cSld>
  <p:clrMapOvr>
    <a:masterClrMapping/>
  </p:clrMapOvr>
</p:sld>
</file>

<file path=ppt/slides/slide3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13" name="Shape 313"/>
        <p:cNvGrpSpPr/>
        <p:nvPr/>
      </p:nvGrpSpPr>
      <p:grpSpPr>
        <a:xfrm>
          <a:off x="0" y="0"/>
          <a:ext cx="0" cy="0"/>
          <a:chOff x="0" y="0"/>
          <a:chExt cx="0" cy="0"/>
        </a:xfrm>
      </p:grpSpPr>
      <p:sp>
        <p:nvSpPr>
          <p:cNvPr id="314" name="Google Shape;314;p50"/>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p>
            <a:pPr indent="-387350" lvl="1" marL="914400" rtl="0" algn="l">
              <a:lnSpc>
                <a:spcPct val="115000"/>
              </a:lnSpc>
              <a:spcBef>
                <a:spcPts val="0"/>
              </a:spcBef>
              <a:spcAft>
                <a:spcPts val="0"/>
              </a:spcAft>
              <a:buClr>
                <a:schemeClr val="dk1"/>
              </a:buClr>
              <a:buSzPts val="2500"/>
              <a:buFont typeface="Times New Roman"/>
              <a:buChar char="○"/>
            </a:pPr>
            <a:r>
              <a:rPr lang="pt-BR" sz="2500">
                <a:latin typeface="Times New Roman"/>
                <a:ea typeface="Times New Roman"/>
                <a:cs typeface="Times New Roman"/>
                <a:sym typeface="Times New Roman"/>
              </a:rPr>
              <a:t>6.2.4 -  Gerenciamento da conexão baseado em contador</a:t>
            </a:r>
            <a:endParaRPr sz="2500"/>
          </a:p>
        </p:txBody>
      </p:sp>
      <p:sp>
        <p:nvSpPr>
          <p:cNvPr id="315" name="Google Shape;315;p50"/>
          <p:cNvSpPr txBox="1"/>
          <p:nvPr>
            <p:ph idx="1" type="body"/>
          </p:nvPr>
        </p:nvSpPr>
        <p:spPr>
          <a:xfrm>
            <a:off x="311700" y="1152475"/>
            <a:ext cx="8520600" cy="3826200"/>
          </a:xfrm>
          <a:prstGeom prst="rect">
            <a:avLst/>
          </a:prstGeom>
        </p:spPr>
        <p:txBody>
          <a:bodyPr anchorCtr="0" anchor="t" bIns="91425" lIns="91425" spcFirstLastPara="1" rIns="91425" wrap="square" tIns="91425">
            <a:normAutofit lnSpcReduction="10000"/>
          </a:bodyPr>
          <a:lstStyle/>
          <a:p>
            <a:pPr indent="-342900" lvl="0" marL="457200" rtl="0" algn="l">
              <a:spcBef>
                <a:spcPts val="0"/>
              </a:spcBef>
              <a:spcAft>
                <a:spcPts val="0"/>
              </a:spcAft>
              <a:buClr>
                <a:schemeClr val="dk1"/>
              </a:buClr>
              <a:buSzPts val="1800"/>
              <a:buFont typeface="Times New Roman"/>
              <a:buChar char="●"/>
            </a:pPr>
            <a:r>
              <a:rPr lang="pt-BR">
                <a:solidFill>
                  <a:schemeClr val="dk1"/>
                </a:solidFill>
                <a:latin typeface="Times New Roman"/>
                <a:ea typeface="Times New Roman"/>
                <a:cs typeface="Times New Roman"/>
                <a:sym typeface="Times New Roman"/>
              </a:rPr>
              <a:t>Recapitulando, a questão original que foi proposta era a de evitar</a:t>
            </a:r>
            <a:r>
              <a:rPr lang="pt-BR">
                <a:solidFill>
                  <a:schemeClr val="dk1"/>
                </a:solidFill>
                <a:latin typeface="Times New Roman"/>
                <a:ea typeface="Times New Roman"/>
                <a:cs typeface="Times New Roman"/>
                <a:sym typeface="Times New Roman"/>
              </a:rPr>
              <a:t> o problema de pacotes antigos, duplicados e </a:t>
            </a:r>
            <a:r>
              <a:rPr lang="pt-BR">
                <a:solidFill>
                  <a:schemeClr val="dk1"/>
                </a:solidFill>
                <a:latin typeface="Times New Roman"/>
                <a:ea typeface="Times New Roman"/>
                <a:cs typeface="Times New Roman"/>
                <a:sym typeface="Times New Roman"/>
              </a:rPr>
              <a:t>T.DISCONNECT.request aparecendo de repente sendo aceitos como legítimos. Uma forma de se lidar com isso é tendo cada entidade de transporte especificando um único identificador de conexão para cada uma, pois assim, é possível reconhecer TPDUs de conexões antigas. Outra forma é usando o já discutido método “</a:t>
            </a:r>
            <a:r>
              <a:rPr i="1" lang="pt-BR">
                <a:solidFill>
                  <a:schemeClr val="dk1"/>
                </a:solidFill>
                <a:latin typeface="Times New Roman"/>
                <a:ea typeface="Times New Roman"/>
                <a:cs typeface="Times New Roman"/>
                <a:sym typeface="Times New Roman"/>
              </a:rPr>
              <a:t>Three-way Handshake</a:t>
            </a:r>
            <a:r>
              <a:rPr lang="pt-BR">
                <a:solidFill>
                  <a:schemeClr val="dk1"/>
                </a:solidFill>
                <a:latin typeface="Times New Roman"/>
                <a:ea typeface="Times New Roman"/>
                <a:cs typeface="Times New Roman"/>
                <a:sym typeface="Times New Roman"/>
              </a:rPr>
              <a:t>” para estabelecer conexões.</a:t>
            </a:r>
            <a:endParaRPr>
              <a:solidFill>
                <a:schemeClr val="dk1"/>
              </a:solidFill>
              <a:latin typeface="Times New Roman"/>
              <a:ea typeface="Times New Roman"/>
              <a:cs typeface="Times New Roman"/>
              <a:sym typeface="Times New Roman"/>
            </a:endParaRPr>
          </a:p>
          <a:p>
            <a:pPr indent="-342900" lvl="0" marL="457200" rtl="0" algn="l">
              <a:spcBef>
                <a:spcPts val="0"/>
              </a:spcBef>
              <a:spcAft>
                <a:spcPts val="0"/>
              </a:spcAft>
              <a:buClr>
                <a:schemeClr val="dk1"/>
              </a:buClr>
              <a:buSzPts val="1800"/>
              <a:buFont typeface="Times New Roman"/>
              <a:buChar char="●"/>
            </a:pPr>
            <a:r>
              <a:rPr lang="pt-BR">
                <a:solidFill>
                  <a:schemeClr val="dk1"/>
                </a:solidFill>
                <a:latin typeface="Times New Roman"/>
                <a:ea typeface="Times New Roman"/>
                <a:cs typeface="Times New Roman"/>
                <a:sym typeface="Times New Roman"/>
              </a:rPr>
              <a:t>Tem-se outro método baseado em </a:t>
            </a:r>
            <a:r>
              <a:rPr i="1" lang="pt-BR">
                <a:solidFill>
                  <a:schemeClr val="dk1"/>
                </a:solidFill>
                <a:latin typeface="Times New Roman"/>
                <a:ea typeface="Times New Roman"/>
                <a:cs typeface="Times New Roman"/>
                <a:sym typeface="Times New Roman"/>
              </a:rPr>
              <a:t>timers</a:t>
            </a:r>
            <a:r>
              <a:rPr lang="pt-BR">
                <a:solidFill>
                  <a:schemeClr val="dk1"/>
                </a:solidFill>
                <a:latin typeface="Times New Roman"/>
                <a:ea typeface="Times New Roman"/>
                <a:cs typeface="Times New Roman"/>
                <a:sym typeface="Times New Roman"/>
              </a:rPr>
              <a:t> (cronômetros, contadores) proposto por Fletcher e Watson. A proposta é a seguinte: Providenciar para que a entidade de transporte se abstenha de deletar informações sobre uma conexão até que todos os TPDUs relacionados a ela estiverem “mortos”. Portanto, a entrada da tabela sobre uma conexão de uma entidade de transporte não é deletada quando a conexão é liberada, mas sim quando um intervalo de tempo cuidadosamente escolhido expirar.</a:t>
            </a:r>
            <a:endParaRPr>
              <a:solidFill>
                <a:schemeClr val="dk1"/>
              </a:solidFill>
              <a:latin typeface="Times New Roman"/>
              <a:ea typeface="Times New Roman"/>
              <a:cs typeface="Times New Roman"/>
              <a:sym typeface="Times New Roman"/>
            </a:endParaRPr>
          </a:p>
        </p:txBody>
      </p:sp>
      <p:sp>
        <p:nvSpPr>
          <p:cNvPr id="316" name="Google Shape;316;p50"/>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r>
              <a:rPr lang="pt-BR"/>
              <a:t>37</a:t>
            </a:r>
            <a:endParaRPr/>
          </a:p>
        </p:txBody>
      </p:sp>
    </p:spTree>
  </p:cSld>
  <p:clrMapOvr>
    <a:masterClrMapping/>
  </p:clrMapOvr>
</p:sld>
</file>

<file path=ppt/slides/slide3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20" name="Shape 320"/>
        <p:cNvGrpSpPr/>
        <p:nvPr/>
      </p:nvGrpSpPr>
      <p:grpSpPr>
        <a:xfrm>
          <a:off x="0" y="0"/>
          <a:ext cx="0" cy="0"/>
          <a:chOff x="0" y="0"/>
          <a:chExt cx="0" cy="0"/>
        </a:xfrm>
      </p:grpSpPr>
      <p:sp>
        <p:nvSpPr>
          <p:cNvPr id="321" name="Google Shape;321;p51"/>
          <p:cNvSpPr txBox="1"/>
          <p:nvPr>
            <p:ph type="title"/>
          </p:nvPr>
        </p:nvSpPr>
        <p:spPr>
          <a:xfrm>
            <a:off x="311700" y="445025"/>
            <a:ext cx="8520600" cy="572700"/>
          </a:xfrm>
          <a:prstGeom prst="rect">
            <a:avLst/>
          </a:prstGeom>
        </p:spPr>
        <p:txBody>
          <a:bodyPr anchorCtr="0" anchor="t" bIns="91425" lIns="91425" spcFirstLastPara="1" rIns="91425" wrap="square" tIns="91425">
            <a:noAutofit/>
          </a:bodyPr>
          <a:lstStyle/>
          <a:p>
            <a:pPr indent="-387350" lvl="1" marL="914400" rtl="0" algn="l">
              <a:lnSpc>
                <a:spcPct val="115000"/>
              </a:lnSpc>
              <a:spcBef>
                <a:spcPts val="0"/>
              </a:spcBef>
              <a:spcAft>
                <a:spcPts val="0"/>
              </a:spcAft>
              <a:buClr>
                <a:schemeClr val="dk1"/>
              </a:buClr>
              <a:buSzPts val="2500"/>
              <a:buFont typeface="Times New Roman"/>
              <a:buChar char="○"/>
            </a:pPr>
            <a:r>
              <a:rPr lang="pt-BR" sz="2500">
                <a:latin typeface="Times New Roman"/>
                <a:ea typeface="Times New Roman"/>
                <a:cs typeface="Times New Roman"/>
                <a:sym typeface="Times New Roman"/>
              </a:rPr>
              <a:t>6.2.4 -  Gerenciamento da conexão baseado em contador</a:t>
            </a:r>
            <a:endParaRPr sz="2500"/>
          </a:p>
          <a:p>
            <a:pPr indent="0" lvl="0" marL="0" rtl="0" algn="l">
              <a:spcBef>
                <a:spcPts val="1200"/>
              </a:spcBef>
              <a:spcAft>
                <a:spcPts val="0"/>
              </a:spcAft>
              <a:buNone/>
            </a:pPr>
            <a:r>
              <a:t/>
            </a:r>
            <a:endParaRPr sz="2500"/>
          </a:p>
        </p:txBody>
      </p:sp>
      <p:sp>
        <p:nvSpPr>
          <p:cNvPr id="322" name="Google Shape;322;p51"/>
          <p:cNvSpPr txBox="1"/>
          <p:nvPr>
            <p:ph idx="1" type="body"/>
          </p:nvPr>
        </p:nvSpPr>
        <p:spPr>
          <a:xfrm>
            <a:off x="311700" y="1152475"/>
            <a:ext cx="8520600" cy="3850800"/>
          </a:xfrm>
          <a:prstGeom prst="rect">
            <a:avLst/>
          </a:prstGeom>
        </p:spPr>
        <p:txBody>
          <a:bodyPr anchorCtr="0" anchor="t" bIns="91425" lIns="91425" spcFirstLastPara="1" rIns="91425" wrap="square" tIns="91425">
            <a:normAutofit/>
          </a:bodyPr>
          <a:lstStyle/>
          <a:p>
            <a:pPr indent="-342900" lvl="0" marL="457200" rtl="0" algn="l">
              <a:spcBef>
                <a:spcPts val="0"/>
              </a:spcBef>
              <a:spcAft>
                <a:spcPts val="0"/>
              </a:spcAft>
              <a:buClr>
                <a:schemeClr val="dk1"/>
              </a:buClr>
              <a:buSzPts val="1800"/>
              <a:buFont typeface="Times New Roman"/>
              <a:buChar char="●"/>
            </a:pPr>
            <a:r>
              <a:rPr lang="pt-BR">
                <a:solidFill>
                  <a:schemeClr val="dk1"/>
                </a:solidFill>
                <a:latin typeface="Times New Roman"/>
                <a:ea typeface="Times New Roman"/>
                <a:cs typeface="Times New Roman"/>
                <a:sym typeface="Times New Roman"/>
              </a:rPr>
              <a:t>O esquema funciona basicamente da seguinte maneira: Quando um remetente deseja enviar um fluxo de TPDUs </a:t>
            </a:r>
            <a:r>
              <a:rPr lang="pt-BR">
                <a:solidFill>
                  <a:schemeClr val="dk1"/>
                </a:solidFill>
                <a:latin typeface="Times New Roman"/>
                <a:ea typeface="Times New Roman"/>
                <a:cs typeface="Times New Roman"/>
                <a:sym typeface="Times New Roman"/>
              </a:rPr>
              <a:t>consecutivos</a:t>
            </a:r>
            <a:r>
              <a:rPr lang="pt-BR">
                <a:solidFill>
                  <a:schemeClr val="dk1"/>
                </a:solidFill>
                <a:latin typeface="Times New Roman"/>
                <a:ea typeface="Times New Roman"/>
                <a:cs typeface="Times New Roman"/>
                <a:sym typeface="Times New Roman"/>
              </a:rPr>
              <a:t>, ele cria um registro de conexão internamente que mantém o controle de quais TPDUs foram enviados, quais “acks” foram recebidos, entre outros.</a:t>
            </a:r>
            <a:endParaRPr>
              <a:solidFill>
                <a:schemeClr val="dk1"/>
              </a:solidFill>
              <a:latin typeface="Times New Roman"/>
              <a:ea typeface="Times New Roman"/>
              <a:cs typeface="Times New Roman"/>
              <a:sym typeface="Times New Roman"/>
            </a:endParaRPr>
          </a:p>
          <a:p>
            <a:pPr indent="-342900" lvl="0" marL="457200" rtl="0" algn="l">
              <a:spcBef>
                <a:spcPts val="0"/>
              </a:spcBef>
              <a:spcAft>
                <a:spcPts val="0"/>
              </a:spcAft>
              <a:buClr>
                <a:schemeClr val="dk1"/>
              </a:buClr>
              <a:buSzPts val="1800"/>
              <a:buFont typeface="Times New Roman"/>
              <a:buChar char="●"/>
            </a:pPr>
            <a:r>
              <a:rPr lang="pt-BR">
                <a:solidFill>
                  <a:schemeClr val="dk1"/>
                </a:solidFill>
                <a:latin typeface="Times New Roman"/>
                <a:ea typeface="Times New Roman"/>
                <a:cs typeface="Times New Roman"/>
                <a:sym typeface="Times New Roman"/>
              </a:rPr>
              <a:t>Sempre que um registro de conexão é criado, um contador é iniciado e sempre que um TPDU é enviado, é enviado usando um registro de conexão criado previamente e o contador é iniciado do começo novamente.</a:t>
            </a:r>
            <a:endParaRPr>
              <a:solidFill>
                <a:schemeClr val="dk1"/>
              </a:solidFill>
              <a:latin typeface="Times New Roman"/>
              <a:ea typeface="Times New Roman"/>
              <a:cs typeface="Times New Roman"/>
              <a:sym typeface="Times New Roman"/>
            </a:endParaRPr>
          </a:p>
          <a:p>
            <a:pPr indent="-342900" lvl="0" marL="457200" rtl="0" algn="l">
              <a:spcBef>
                <a:spcPts val="0"/>
              </a:spcBef>
              <a:spcAft>
                <a:spcPts val="0"/>
              </a:spcAft>
              <a:buClr>
                <a:schemeClr val="dk1"/>
              </a:buClr>
              <a:buSzPts val="1800"/>
              <a:buFont typeface="Times New Roman"/>
              <a:buChar char="●"/>
            </a:pPr>
            <a:r>
              <a:rPr lang="pt-BR">
                <a:solidFill>
                  <a:schemeClr val="dk1"/>
                </a:solidFill>
                <a:latin typeface="Times New Roman"/>
                <a:ea typeface="Times New Roman"/>
                <a:cs typeface="Times New Roman"/>
                <a:sym typeface="Times New Roman"/>
              </a:rPr>
              <a:t>Se nada for enviado em um certo intervalo de tempo, o contador irá expirar e o registro de conexão é deletado.</a:t>
            </a:r>
            <a:endParaRPr>
              <a:solidFill>
                <a:schemeClr val="dk1"/>
              </a:solidFill>
              <a:latin typeface="Times New Roman"/>
              <a:ea typeface="Times New Roman"/>
              <a:cs typeface="Times New Roman"/>
              <a:sym typeface="Times New Roman"/>
            </a:endParaRPr>
          </a:p>
          <a:p>
            <a:pPr indent="-342900" lvl="0" marL="457200" rtl="0" algn="l">
              <a:spcBef>
                <a:spcPts val="0"/>
              </a:spcBef>
              <a:spcAft>
                <a:spcPts val="0"/>
              </a:spcAft>
              <a:buClr>
                <a:schemeClr val="dk1"/>
              </a:buClr>
              <a:buSzPts val="1800"/>
              <a:buFont typeface="Times New Roman"/>
              <a:buChar char="●"/>
            </a:pPr>
            <a:r>
              <a:rPr lang="pt-BR">
                <a:solidFill>
                  <a:schemeClr val="dk1"/>
                </a:solidFill>
                <a:latin typeface="Times New Roman"/>
                <a:ea typeface="Times New Roman"/>
                <a:cs typeface="Times New Roman"/>
                <a:sym typeface="Times New Roman"/>
              </a:rPr>
              <a:t>O primeiro TPDU no fluxo contém uma bandeira de 1 bit chamada de “</a:t>
            </a:r>
            <a:r>
              <a:rPr i="1" lang="pt-BR">
                <a:solidFill>
                  <a:schemeClr val="dk1"/>
                </a:solidFill>
                <a:latin typeface="Times New Roman"/>
                <a:ea typeface="Times New Roman"/>
                <a:cs typeface="Times New Roman"/>
                <a:sym typeface="Times New Roman"/>
              </a:rPr>
              <a:t>Data Run Flag</a:t>
            </a:r>
            <a:r>
              <a:rPr lang="pt-BR">
                <a:solidFill>
                  <a:schemeClr val="dk1"/>
                </a:solidFill>
                <a:latin typeface="Times New Roman"/>
                <a:ea typeface="Times New Roman"/>
                <a:cs typeface="Times New Roman"/>
                <a:sym typeface="Times New Roman"/>
              </a:rPr>
              <a:t>” (DRF) que identifica este TPDU como o primeiro dos TPDUs.</a:t>
            </a:r>
            <a:endParaRPr>
              <a:solidFill>
                <a:schemeClr val="dk1"/>
              </a:solidFill>
              <a:latin typeface="Times New Roman"/>
              <a:ea typeface="Times New Roman"/>
              <a:cs typeface="Times New Roman"/>
              <a:sym typeface="Times New Roman"/>
            </a:endParaRPr>
          </a:p>
        </p:txBody>
      </p:sp>
      <p:sp>
        <p:nvSpPr>
          <p:cNvPr id="323" name="Google Shape;323;p51"/>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r>
              <a:rPr lang="pt-BR"/>
              <a:t>38</a:t>
            </a:r>
            <a:endParaRPr/>
          </a:p>
        </p:txBody>
      </p:sp>
    </p:spTree>
  </p:cSld>
  <p:clrMapOvr>
    <a:masterClrMapping/>
  </p:clrMapOvr>
</p:sld>
</file>

<file path=ppt/slides/slide4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27" name="Shape 327"/>
        <p:cNvGrpSpPr/>
        <p:nvPr/>
      </p:nvGrpSpPr>
      <p:grpSpPr>
        <a:xfrm>
          <a:off x="0" y="0"/>
          <a:ext cx="0" cy="0"/>
          <a:chOff x="0" y="0"/>
          <a:chExt cx="0" cy="0"/>
        </a:xfrm>
      </p:grpSpPr>
      <p:sp>
        <p:nvSpPr>
          <p:cNvPr id="328" name="Google Shape;328;p52"/>
          <p:cNvSpPr txBox="1"/>
          <p:nvPr>
            <p:ph type="title"/>
          </p:nvPr>
        </p:nvSpPr>
        <p:spPr>
          <a:xfrm>
            <a:off x="311700" y="445025"/>
            <a:ext cx="8520600" cy="572700"/>
          </a:xfrm>
          <a:prstGeom prst="rect">
            <a:avLst/>
          </a:prstGeom>
        </p:spPr>
        <p:txBody>
          <a:bodyPr anchorCtr="0" anchor="t" bIns="91425" lIns="91425" spcFirstLastPara="1" rIns="91425" wrap="square" tIns="91425">
            <a:noAutofit/>
          </a:bodyPr>
          <a:lstStyle/>
          <a:p>
            <a:pPr indent="-387350" lvl="1" marL="914400" rtl="0" algn="l">
              <a:lnSpc>
                <a:spcPct val="115000"/>
              </a:lnSpc>
              <a:spcBef>
                <a:spcPts val="0"/>
              </a:spcBef>
              <a:spcAft>
                <a:spcPts val="0"/>
              </a:spcAft>
              <a:buClr>
                <a:schemeClr val="dk1"/>
              </a:buClr>
              <a:buSzPts val="2500"/>
              <a:buFont typeface="Times New Roman"/>
              <a:buChar char="○"/>
            </a:pPr>
            <a:r>
              <a:rPr lang="pt-BR" sz="2500">
                <a:latin typeface="Times New Roman"/>
                <a:ea typeface="Times New Roman"/>
                <a:cs typeface="Times New Roman"/>
                <a:sym typeface="Times New Roman"/>
              </a:rPr>
              <a:t>6.2.4 -  Gerenciamento da conexão baseado em contador</a:t>
            </a:r>
            <a:endParaRPr sz="2500"/>
          </a:p>
          <a:p>
            <a:pPr indent="0" lvl="0" marL="0" rtl="0" algn="l">
              <a:spcBef>
                <a:spcPts val="1200"/>
              </a:spcBef>
              <a:spcAft>
                <a:spcPts val="0"/>
              </a:spcAft>
              <a:buClr>
                <a:schemeClr val="dk1"/>
              </a:buClr>
              <a:buSzPts val="1100"/>
              <a:buFont typeface="Arial"/>
              <a:buNone/>
            </a:pPr>
            <a:r>
              <a:t/>
            </a:r>
            <a:endParaRPr sz="2500"/>
          </a:p>
          <a:p>
            <a:pPr indent="0" lvl="0" marL="0" rtl="0" algn="l">
              <a:spcBef>
                <a:spcPts val="0"/>
              </a:spcBef>
              <a:spcAft>
                <a:spcPts val="0"/>
              </a:spcAft>
              <a:buNone/>
            </a:pPr>
            <a:r>
              <a:t/>
            </a:r>
            <a:endParaRPr sz="2500"/>
          </a:p>
        </p:txBody>
      </p:sp>
      <p:sp>
        <p:nvSpPr>
          <p:cNvPr id="329" name="Google Shape;329;p52"/>
          <p:cNvSpPr txBox="1"/>
          <p:nvPr>
            <p:ph idx="1" type="body"/>
          </p:nvPr>
        </p:nvSpPr>
        <p:spPr>
          <a:xfrm>
            <a:off x="311700" y="1152475"/>
            <a:ext cx="8520600" cy="3912600"/>
          </a:xfrm>
          <a:prstGeom prst="rect">
            <a:avLst/>
          </a:prstGeom>
        </p:spPr>
        <p:txBody>
          <a:bodyPr anchorCtr="0" anchor="t" bIns="91425" lIns="91425" spcFirstLastPara="1" rIns="91425" wrap="square" tIns="91425">
            <a:normAutofit lnSpcReduction="20000"/>
          </a:bodyPr>
          <a:lstStyle/>
          <a:p>
            <a:pPr indent="-342900" lvl="0" marL="457200" rtl="0" algn="l">
              <a:spcBef>
                <a:spcPts val="0"/>
              </a:spcBef>
              <a:spcAft>
                <a:spcPts val="0"/>
              </a:spcAft>
              <a:buClr>
                <a:schemeClr val="dk1"/>
              </a:buClr>
              <a:buSzPts val="1800"/>
              <a:buFont typeface="Times New Roman"/>
              <a:buChar char="●"/>
            </a:pPr>
            <a:r>
              <a:rPr lang="pt-BR">
                <a:solidFill>
                  <a:schemeClr val="dk1"/>
                </a:solidFill>
                <a:latin typeface="Times New Roman"/>
                <a:ea typeface="Times New Roman"/>
                <a:cs typeface="Times New Roman"/>
                <a:sym typeface="Times New Roman"/>
              </a:rPr>
              <a:t>Quando algum TPDU é enviado, o contador é iniciado e caso ele for um </a:t>
            </a:r>
            <a:r>
              <a:rPr i="1" lang="pt-BR">
                <a:solidFill>
                  <a:schemeClr val="dk1"/>
                </a:solidFill>
                <a:latin typeface="Times New Roman"/>
                <a:ea typeface="Times New Roman"/>
                <a:cs typeface="Times New Roman"/>
                <a:sym typeface="Times New Roman"/>
              </a:rPr>
              <a:t>ack</a:t>
            </a:r>
            <a:r>
              <a:rPr lang="pt-BR">
                <a:solidFill>
                  <a:schemeClr val="dk1"/>
                </a:solidFill>
                <a:latin typeface="Times New Roman"/>
                <a:ea typeface="Times New Roman"/>
                <a:cs typeface="Times New Roman"/>
                <a:sym typeface="Times New Roman"/>
              </a:rPr>
              <a:t>, o contador é interrompido. Se o contador desligar, o TPDU é re</a:t>
            </a:r>
            <a:r>
              <a:rPr lang="pt-BR">
                <a:solidFill>
                  <a:schemeClr val="dk1"/>
                </a:solidFill>
                <a:latin typeface="Times New Roman"/>
                <a:ea typeface="Times New Roman"/>
                <a:cs typeface="Times New Roman"/>
                <a:sym typeface="Times New Roman"/>
              </a:rPr>
              <a:t>transmitido, porém, se depois de várias tentativas de retransmissão não for adquirido um </a:t>
            </a:r>
            <a:r>
              <a:rPr i="1" lang="pt-BR">
                <a:solidFill>
                  <a:schemeClr val="dk1"/>
                </a:solidFill>
                <a:latin typeface="Times New Roman"/>
                <a:ea typeface="Times New Roman"/>
                <a:cs typeface="Times New Roman"/>
                <a:sym typeface="Times New Roman"/>
              </a:rPr>
              <a:t>ack</a:t>
            </a:r>
            <a:r>
              <a:rPr lang="pt-BR">
                <a:solidFill>
                  <a:schemeClr val="dk1"/>
                </a:solidFill>
                <a:latin typeface="Times New Roman"/>
                <a:ea typeface="Times New Roman"/>
                <a:cs typeface="Times New Roman"/>
                <a:sym typeface="Times New Roman"/>
              </a:rPr>
              <a:t>, o remetente irá desistir.</a:t>
            </a:r>
            <a:endParaRPr>
              <a:solidFill>
                <a:schemeClr val="dk1"/>
              </a:solidFill>
              <a:latin typeface="Times New Roman"/>
              <a:ea typeface="Times New Roman"/>
              <a:cs typeface="Times New Roman"/>
              <a:sym typeface="Times New Roman"/>
            </a:endParaRPr>
          </a:p>
          <a:p>
            <a:pPr indent="-342900" lvl="0" marL="457200" rtl="0" algn="l">
              <a:spcBef>
                <a:spcPts val="0"/>
              </a:spcBef>
              <a:spcAft>
                <a:spcPts val="0"/>
              </a:spcAft>
              <a:buClr>
                <a:schemeClr val="dk1"/>
              </a:buClr>
              <a:buSzPts val="1800"/>
              <a:buFont typeface="Times New Roman"/>
              <a:buChar char="●"/>
            </a:pPr>
            <a:r>
              <a:rPr lang="pt-BR">
                <a:solidFill>
                  <a:schemeClr val="dk1"/>
                </a:solidFill>
                <a:latin typeface="Times New Roman"/>
                <a:ea typeface="Times New Roman"/>
                <a:cs typeface="Times New Roman"/>
                <a:sym typeface="Times New Roman"/>
              </a:rPr>
              <a:t>Quando o remetente recebe o </a:t>
            </a:r>
            <a:r>
              <a:rPr i="1" lang="pt-BR">
                <a:solidFill>
                  <a:schemeClr val="dk1"/>
                </a:solidFill>
                <a:latin typeface="Times New Roman"/>
                <a:ea typeface="Times New Roman"/>
                <a:cs typeface="Times New Roman"/>
                <a:sym typeface="Times New Roman"/>
              </a:rPr>
              <a:t>ack</a:t>
            </a:r>
            <a:r>
              <a:rPr lang="pt-BR">
                <a:solidFill>
                  <a:schemeClr val="dk1"/>
                </a:solidFill>
                <a:latin typeface="Times New Roman"/>
                <a:ea typeface="Times New Roman"/>
                <a:cs typeface="Times New Roman"/>
                <a:sym typeface="Times New Roman"/>
              </a:rPr>
              <a:t> do último TPDU enviado e localiza a bandeira ARF (A</a:t>
            </a:r>
            <a:r>
              <a:rPr i="1" lang="pt-BR">
                <a:solidFill>
                  <a:schemeClr val="dk1"/>
                </a:solidFill>
                <a:latin typeface="Times New Roman"/>
                <a:ea typeface="Times New Roman"/>
                <a:cs typeface="Times New Roman"/>
                <a:sym typeface="Times New Roman"/>
              </a:rPr>
              <a:t>cknowledgment Run Flag</a:t>
            </a:r>
            <a:r>
              <a:rPr lang="pt-BR">
                <a:solidFill>
                  <a:schemeClr val="dk1"/>
                </a:solidFill>
                <a:latin typeface="Times New Roman"/>
                <a:ea typeface="Times New Roman"/>
                <a:cs typeface="Times New Roman"/>
                <a:sym typeface="Times New Roman"/>
              </a:rPr>
              <a:t>), todos os contadores de retransmissão são interrompidos.</a:t>
            </a:r>
            <a:endParaRPr>
              <a:solidFill>
                <a:schemeClr val="dk1"/>
              </a:solidFill>
              <a:latin typeface="Times New Roman"/>
              <a:ea typeface="Times New Roman"/>
              <a:cs typeface="Times New Roman"/>
              <a:sym typeface="Times New Roman"/>
            </a:endParaRPr>
          </a:p>
          <a:p>
            <a:pPr indent="-342900" lvl="0" marL="457200" rtl="0" algn="l">
              <a:spcBef>
                <a:spcPts val="0"/>
              </a:spcBef>
              <a:spcAft>
                <a:spcPts val="0"/>
              </a:spcAft>
              <a:buClr>
                <a:schemeClr val="dk1"/>
              </a:buClr>
              <a:buSzPts val="1800"/>
              <a:buFont typeface="Times New Roman"/>
              <a:buChar char="●"/>
            </a:pPr>
            <a:r>
              <a:rPr lang="pt-BR">
                <a:solidFill>
                  <a:schemeClr val="dk1"/>
                </a:solidFill>
                <a:latin typeface="Times New Roman"/>
                <a:ea typeface="Times New Roman"/>
                <a:cs typeface="Times New Roman"/>
                <a:sym typeface="Times New Roman"/>
              </a:rPr>
              <a:t>Caso o fluxo de TPDUs seja corretamente enviado e recebido, porém alguns </a:t>
            </a:r>
            <a:r>
              <a:rPr i="1" lang="pt-BR">
                <a:solidFill>
                  <a:schemeClr val="dk1"/>
                </a:solidFill>
                <a:latin typeface="Times New Roman"/>
                <a:ea typeface="Times New Roman"/>
                <a:cs typeface="Times New Roman"/>
                <a:sym typeface="Times New Roman"/>
              </a:rPr>
              <a:t>acks</a:t>
            </a:r>
            <a:r>
              <a:rPr lang="pt-BR">
                <a:solidFill>
                  <a:schemeClr val="dk1"/>
                </a:solidFill>
                <a:latin typeface="Times New Roman"/>
                <a:ea typeface="Times New Roman"/>
                <a:cs typeface="Times New Roman"/>
                <a:sym typeface="Times New Roman"/>
              </a:rPr>
              <a:t> são perdidos, as retransmissões subsequentes irão se perder e o registro de conexão irá ser desligado e deletado.</a:t>
            </a:r>
            <a:endParaRPr>
              <a:solidFill>
                <a:schemeClr val="dk1"/>
              </a:solidFill>
              <a:latin typeface="Times New Roman"/>
              <a:ea typeface="Times New Roman"/>
              <a:cs typeface="Times New Roman"/>
              <a:sym typeface="Times New Roman"/>
            </a:endParaRPr>
          </a:p>
          <a:p>
            <a:pPr indent="-342900" lvl="0" marL="457200" rtl="0" algn="l">
              <a:spcBef>
                <a:spcPts val="0"/>
              </a:spcBef>
              <a:spcAft>
                <a:spcPts val="0"/>
              </a:spcAft>
              <a:buClr>
                <a:schemeClr val="dk1"/>
              </a:buClr>
              <a:buSzPts val="1800"/>
              <a:buFont typeface="Times New Roman"/>
              <a:buChar char="●"/>
            </a:pPr>
            <a:r>
              <a:rPr lang="pt-BR">
                <a:solidFill>
                  <a:schemeClr val="dk1"/>
                </a:solidFill>
                <a:latin typeface="Times New Roman"/>
                <a:ea typeface="Times New Roman"/>
                <a:cs typeface="Times New Roman"/>
                <a:sym typeface="Times New Roman"/>
              </a:rPr>
              <a:t>Este protocolo mistura propriedades de conexão orientada e sem conexão pois a troca mínima de 2 TPDUs e quando uma sequência de TPDUs é enviada, é garantido que será em ordem. Finalmente, as conexões são liberadas automaticamente graças ao uso dos contadores.</a:t>
            </a:r>
            <a:endParaRPr>
              <a:solidFill>
                <a:schemeClr val="dk1"/>
              </a:solidFill>
              <a:latin typeface="Times New Roman"/>
              <a:ea typeface="Times New Roman"/>
              <a:cs typeface="Times New Roman"/>
              <a:sym typeface="Times New Roman"/>
            </a:endParaRPr>
          </a:p>
        </p:txBody>
      </p:sp>
      <p:sp>
        <p:nvSpPr>
          <p:cNvPr id="330" name="Google Shape;330;p5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r>
              <a:rPr lang="pt-BR"/>
              <a:t>39</a:t>
            </a:r>
            <a:endParaRPr/>
          </a:p>
        </p:txBody>
      </p:sp>
    </p:spTree>
  </p:cSld>
  <p:clrMapOvr>
    <a:masterClrMapping/>
  </p:clrMapOvr>
</p:sld>
</file>

<file path=ppt/theme/theme1.xml><?xml version="1.0" encoding="utf-8"?>
<a:theme xmlns:a="http://schemas.openxmlformats.org/drawingml/2006/main" xmlns:r="http://schemas.openxmlformats.org/officeDocument/2006/relationships"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